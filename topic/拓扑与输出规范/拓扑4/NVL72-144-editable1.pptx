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21945600" cy="12801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21396960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79">
                <a:solidFill>
                  <a:srgbClr val="202020"/>
                </a:solidFill>
                <a:latin typeface="DejaVu Sans"/>
              </a:rPr>
              <a:t>GB200 NVL72: 144 GPUs / 2 racks / 4 compute rails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2139696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28">
                <a:solidFill>
                  <a:srgbClr val="202020"/>
                </a:solidFill>
                <a:latin typeface="DejaVu Sans"/>
              </a:rPr>
              <a:t>Rack-local NVLink domains and inter-rack NDR400 compute fabric are separate networks.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251960"/>
            <a:ext cx="5166360" cy="1920240"/>
          </a:xfrm>
          <a:prstGeom prst="rect">
            <a:avLst/>
          </a:prstGeom>
          <a:solidFill>
            <a:srgbClr val="FFFFFF"/>
          </a:solidFill>
          <a:ln w="18288">
            <a:solidFill>
              <a:srgbClr val="E58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H="1" flipV="1">
            <a:off x="777240" y="2331720"/>
            <a:ext cx="219456" cy="2468880"/>
          </a:xfrm>
          <a:prstGeom prst="line">
            <a:avLst/>
          </a:prstGeom>
          <a:ln w="10972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1152144" y="2331720"/>
            <a:ext cx="1938528" cy="2468880"/>
          </a:xfrm>
          <a:prstGeom prst="line">
            <a:avLst/>
          </a:prstGeom>
          <a:ln w="10972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1307592" y="2331720"/>
            <a:ext cx="4096512" cy="2468880"/>
          </a:xfrm>
          <a:prstGeom prst="line">
            <a:avLst/>
          </a:prstGeom>
          <a:ln w="10972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463040" y="2331720"/>
            <a:ext cx="6254496" cy="2468880"/>
          </a:xfrm>
          <a:prstGeom prst="line">
            <a:avLst/>
          </a:prstGeom>
          <a:ln w="10972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618488" y="2331720"/>
            <a:ext cx="8412480" cy="2468880"/>
          </a:xfrm>
          <a:prstGeom prst="line">
            <a:avLst/>
          </a:prstGeom>
          <a:ln w="10972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773936" y="2331720"/>
            <a:ext cx="10570464" cy="2468880"/>
          </a:xfrm>
          <a:prstGeom prst="line">
            <a:avLst/>
          </a:prstGeom>
          <a:ln w="10972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929384" y="2331720"/>
            <a:ext cx="12728448" cy="2468880"/>
          </a:xfrm>
          <a:prstGeom prst="line">
            <a:avLst/>
          </a:prstGeom>
          <a:ln w="10972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2084831" y="2331720"/>
            <a:ext cx="14886433" cy="2468880"/>
          </a:xfrm>
          <a:prstGeom prst="line">
            <a:avLst/>
          </a:prstGeom>
          <a:ln w="10972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2240280" y="2331720"/>
            <a:ext cx="17044416" cy="2468880"/>
          </a:xfrm>
          <a:prstGeom prst="line">
            <a:avLst/>
          </a:prstGeom>
          <a:ln w="10972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 flipV="1">
            <a:off x="960120" y="2331720"/>
            <a:ext cx="2459736" cy="2468880"/>
          </a:xfrm>
          <a:prstGeom prst="line">
            <a:avLst/>
          </a:prstGeom>
          <a:ln w="10972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3273552" y="2331720"/>
            <a:ext cx="301752" cy="2468880"/>
          </a:xfrm>
          <a:prstGeom prst="line">
            <a:avLst/>
          </a:prstGeom>
          <a:ln w="10972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3730752" y="2331720"/>
            <a:ext cx="1856232" cy="2468880"/>
          </a:xfrm>
          <a:prstGeom prst="line">
            <a:avLst/>
          </a:prstGeom>
          <a:ln w="10972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3886200" y="2331720"/>
            <a:ext cx="4014216" cy="2468880"/>
          </a:xfrm>
          <a:prstGeom prst="line">
            <a:avLst/>
          </a:prstGeom>
          <a:ln w="10972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4041648" y="2331720"/>
            <a:ext cx="6172200" cy="2468880"/>
          </a:xfrm>
          <a:prstGeom prst="line">
            <a:avLst/>
          </a:prstGeom>
          <a:ln w="10972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4197096" y="2331720"/>
            <a:ext cx="8330184" cy="2468880"/>
          </a:xfrm>
          <a:prstGeom prst="line">
            <a:avLst/>
          </a:prstGeom>
          <a:ln w="10972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4352544" y="2331720"/>
            <a:ext cx="10488168" cy="2468880"/>
          </a:xfrm>
          <a:prstGeom prst="line">
            <a:avLst/>
          </a:prstGeom>
          <a:ln w="10972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4507992" y="2331720"/>
            <a:ext cx="12646152" cy="2468880"/>
          </a:xfrm>
          <a:prstGeom prst="line">
            <a:avLst/>
          </a:prstGeom>
          <a:ln w="10972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4663440" y="2331720"/>
            <a:ext cx="14804136" cy="2468880"/>
          </a:xfrm>
          <a:prstGeom prst="line">
            <a:avLst/>
          </a:prstGeom>
          <a:ln w="10972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806440" y="4251960"/>
            <a:ext cx="5166360" cy="1920240"/>
          </a:xfrm>
          <a:prstGeom prst="rect">
            <a:avLst/>
          </a:prstGeom>
          <a:solidFill>
            <a:srgbClr val="FFFFFF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 flipH="1" flipV="1">
            <a:off x="1143000" y="2331720"/>
            <a:ext cx="5202936" cy="2468880"/>
          </a:xfrm>
          <a:prstGeom prst="line">
            <a:avLst/>
          </a:prstGeom>
          <a:ln w="10972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3456432" y="2331720"/>
            <a:ext cx="3044952" cy="2468880"/>
          </a:xfrm>
          <a:prstGeom prst="line">
            <a:avLst/>
          </a:prstGeom>
          <a:ln w="10972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5769864" y="2331720"/>
            <a:ext cx="886968" cy="2468880"/>
          </a:xfrm>
          <a:prstGeom prst="line">
            <a:avLst/>
          </a:prstGeom>
          <a:ln w="10972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6812280" y="2331720"/>
            <a:ext cx="1271016" cy="2468880"/>
          </a:xfrm>
          <a:prstGeom prst="line">
            <a:avLst/>
          </a:prstGeom>
          <a:ln w="10972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6967728" y="2331720"/>
            <a:ext cx="3429000" cy="2468880"/>
          </a:xfrm>
          <a:prstGeom prst="line">
            <a:avLst/>
          </a:prstGeom>
          <a:ln w="10972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7123176" y="2331720"/>
            <a:ext cx="5586984" cy="2468880"/>
          </a:xfrm>
          <a:prstGeom prst="line">
            <a:avLst/>
          </a:prstGeom>
          <a:ln w="10972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7278624" y="2331720"/>
            <a:ext cx="7744968" cy="2468880"/>
          </a:xfrm>
          <a:prstGeom prst="line">
            <a:avLst/>
          </a:prstGeom>
          <a:ln w="10972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7434072" y="2331720"/>
            <a:ext cx="9902952" cy="2468880"/>
          </a:xfrm>
          <a:prstGeom prst="line">
            <a:avLst/>
          </a:prstGeom>
          <a:ln w="10972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7589520" y="2331720"/>
            <a:ext cx="12060936" cy="2468880"/>
          </a:xfrm>
          <a:prstGeom prst="line">
            <a:avLst/>
          </a:prstGeom>
          <a:ln w="10972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 flipV="1">
            <a:off x="1325880" y="2331720"/>
            <a:ext cx="7443216" cy="2468880"/>
          </a:xfrm>
          <a:prstGeom prst="line">
            <a:avLst/>
          </a:prstGeom>
          <a:ln w="10972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 flipV="1">
            <a:off x="3639312" y="2331720"/>
            <a:ext cx="5285232" cy="2468880"/>
          </a:xfrm>
          <a:prstGeom prst="line">
            <a:avLst/>
          </a:prstGeom>
          <a:ln w="10972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 flipV="1">
            <a:off x="5952744" y="2331720"/>
            <a:ext cx="3127248" cy="2468880"/>
          </a:xfrm>
          <a:prstGeom prst="line">
            <a:avLst/>
          </a:prstGeom>
          <a:ln w="10972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 flipV="1">
            <a:off x="8266175" y="2331720"/>
            <a:ext cx="969265" cy="2468880"/>
          </a:xfrm>
          <a:prstGeom prst="line">
            <a:avLst/>
          </a:prstGeom>
          <a:ln w="10972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9390888" y="2331720"/>
            <a:ext cx="1188720" cy="2468880"/>
          </a:xfrm>
          <a:prstGeom prst="line">
            <a:avLst/>
          </a:prstGeom>
          <a:ln w="10972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9546336" y="2331720"/>
            <a:ext cx="3346704" cy="2468880"/>
          </a:xfrm>
          <a:prstGeom prst="line">
            <a:avLst/>
          </a:prstGeom>
          <a:ln w="10972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9701784" y="2331720"/>
            <a:ext cx="5504688" cy="2468880"/>
          </a:xfrm>
          <a:prstGeom prst="line">
            <a:avLst/>
          </a:prstGeom>
          <a:ln w="10972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9857232" y="2331720"/>
            <a:ext cx="7662672" cy="2468880"/>
          </a:xfrm>
          <a:prstGeom prst="line">
            <a:avLst/>
          </a:prstGeom>
          <a:ln w="10972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0012680" y="2331720"/>
            <a:ext cx="9820656" cy="2468880"/>
          </a:xfrm>
          <a:prstGeom prst="line">
            <a:avLst/>
          </a:prstGeom>
          <a:ln w="10972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11155680" y="4251960"/>
            <a:ext cx="5166360" cy="1920240"/>
          </a:xfrm>
          <a:prstGeom prst="rect">
            <a:avLst/>
          </a:prstGeom>
          <a:solidFill>
            <a:srgbClr val="FFFFFF"/>
          </a:solidFill>
          <a:ln w="18288">
            <a:solidFill>
              <a:srgbClr val="268C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 flipH="1" flipV="1">
            <a:off x="1508760" y="2331720"/>
            <a:ext cx="10186416" cy="2468880"/>
          </a:xfrm>
          <a:prstGeom prst="line">
            <a:avLst/>
          </a:prstGeom>
          <a:ln w="10972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 flipV="1">
            <a:off x="3822191" y="2331720"/>
            <a:ext cx="8028433" cy="2468880"/>
          </a:xfrm>
          <a:prstGeom prst="line">
            <a:avLst/>
          </a:prstGeom>
          <a:ln w="10972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 flipV="1">
            <a:off x="6135624" y="2331720"/>
            <a:ext cx="5870448" cy="2468880"/>
          </a:xfrm>
          <a:prstGeom prst="line">
            <a:avLst/>
          </a:prstGeom>
          <a:ln w="10972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 flipV="1">
            <a:off x="8449056" y="2331720"/>
            <a:ext cx="3712464" cy="2468880"/>
          </a:xfrm>
          <a:prstGeom prst="line">
            <a:avLst/>
          </a:prstGeom>
          <a:ln w="10972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 flipV="1">
            <a:off x="10762488" y="2331720"/>
            <a:ext cx="1554480" cy="2468880"/>
          </a:xfrm>
          <a:prstGeom prst="line">
            <a:avLst/>
          </a:prstGeom>
          <a:ln w="10972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12472416" y="2331720"/>
            <a:ext cx="603504" cy="2468880"/>
          </a:xfrm>
          <a:prstGeom prst="line">
            <a:avLst/>
          </a:prstGeom>
          <a:ln w="10972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12627864" y="2331720"/>
            <a:ext cx="2761487" cy="2468880"/>
          </a:xfrm>
          <a:prstGeom prst="line">
            <a:avLst/>
          </a:prstGeom>
          <a:ln w="10972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12783312" y="2331720"/>
            <a:ext cx="4919472" cy="2468880"/>
          </a:xfrm>
          <a:prstGeom prst="line">
            <a:avLst/>
          </a:prstGeom>
          <a:ln w="10972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12938760" y="2331720"/>
            <a:ext cx="7077456" cy="2468880"/>
          </a:xfrm>
          <a:prstGeom prst="line">
            <a:avLst/>
          </a:prstGeom>
          <a:ln w="10972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 flipV="1">
            <a:off x="1691640" y="2331720"/>
            <a:ext cx="12426696" cy="2468880"/>
          </a:xfrm>
          <a:prstGeom prst="line">
            <a:avLst/>
          </a:prstGeom>
          <a:ln w="10972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 flipV="1">
            <a:off x="4005072" y="2331720"/>
            <a:ext cx="10268712" cy="2468880"/>
          </a:xfrm>
          <a:prstGeom prst="line">
            <a:avLst/>
          </a:prstGeom>
          <a:ln w="10972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 flipV="1">
            <a:off x="6318504" y="2331720"/>
            <a:ext cx="8110728" cy="2468880"/>
          </a:xfrm>
          <a:prstGeom prst="line">
            <a:avLst/>
          </a:prstGeom>
          <a:ln w="10972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 flipV="1">
            <a:off x="8631936" y="2331720"/>
            <a:ext cx="5952744" cy="2468880"/>
          </a:xfrm>
          <a:prstGeom prst="line">
            <a:avLst/>
          </a:prstGeom>
          <a:ln w="10972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H="1" flipV="1">
            <a:off x="10945368" y="2331720"/>
            <a:ext cx="3794760" cy="2468880"/>
          </a:xfrm>
          <a:prstGeom prst="line">
            <a:avLst/>
          </a:prstGeom>
          <a:ln w="10972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 flipV="1">
            <a:off x="13258800" y="2331720"/>
            <a:ext cx="1636776" cy="2468880"/>
          </a:xfrm>
          <a:prstGeom prst="line">
            <a:avLst/>
          </a:prstGeom>
          <a:ln w="10972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15051024" y="2331720"/>
            <a:ext cx="521208" cy="2468880"/>
          </a:xfrm>
          <a:prstGeom prst="line">
            <a:avLst/>
          </a:prstGeom>
          <a:ln w="10972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15206472" y="2331720"/>
            <a:ext cx="2679192" cy="2468880"/>
          </a:xfrm>
          <a:prstGeom prst="line">
            <a:avLst/>
          </a:prstGeom>
          <a:ln w="10972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15361920" y="2331720"/>
            <a:ext cx="4837176" cy="2468880"/>
          </a:xfrm>
          <a:prstGeom prst="line">
            <a:avLst/>
          </a:prstGeom>
          <a:ln w="10972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16504920" y="4251960"/>
            <a:ext cx="5166360" cy="1920240"/>
          </a:xfrm>
          <a:prstGeom prst="rect">
            <a:avLst/>
          </a:prstGeom>
          <a:solidFill>
            <a:srgbClr val="FFFFFF"/>
          </a:solidFill>
          <a:ln w="18288">
            <a:solidFill>
              <a:srgbClr val="8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" name="Connector 61"/>
          <p:cNvCxnSpPr/>
          <p:nvPr/>
        </p:nvCxnSpPr>
        <p:spPr>
          <a:xfrm flipH="1" flipV="1">
            <a:off x="1874519" y="2331720"/>
            <a:ext cx="15169897" cy="2468880"/>
          </a:xfrm>
          <a:prstGeom prst="line">
            <a:avLst/>
          </a:prstGeom>
          <a:ln w="10972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 flipV="1">
            <a:off x="4187952" y="2331720"/>
            <a:ext cx="13011912" cy="2468880"/>
          </a:xfrm>
          <a:prstGeom prst="line">
            <a:avLst/>
          </a:prstGeom>
          <a:ln w="10972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 flipV="1">
            <a:off x="6501384" y="2331720"/>
            <a:ext cx="10853928" cy="2468880"/>
          </a:xfrm>
          <a:prstGeom prst="line">
            <a:avLst/>
          </a:prstGeom>
          <a:ln w="10972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 flipV="1">
            <a:off x="8814816" y="2331720"/>
            <a:ext cx="8695944" cy="2468880"/>
          </a:xfrm>
          <a:prstGeom prst="line">
            <a:avLst/>
          </a:prstGeom>
          <a:ln w="10972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H="1" flipV="1">
            <a:off x="11128248" y="2331720"/>
            <a:ext cx="6537960" cy="2468880"/>
          </a:xfrm>
          <a:prstGeom prst="line">
            <a:avLst/>
          </a:prstGeom>
          <a:ln w="10972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 flipV="1">
            <a:off x="13441680" y="2331720"/>
            <a:ext cx="4379976" cy="2468880"/>
          </a:xfrm>
          <a:prstGeom prst="line">
            <a:avLst/>
          </a:prstGeom>
          <a:ln w="10972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 flipV="1">
            <a:off x="15755112" y="2331720"/>
            <a:ext cx="2221992" cy="2468880"/>
          </a:xfrm>
          <a:prstGeom prst="line">
            <a:avLst/>
          </a:prstGeom>
          <a:ln w="10972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 flipV="1">
            <a:off x="18068544" y="2331720"/>
            <a:ext cx="64008" cy="2468880"/>
          </a:xfrm>
          <a:prstGeom prst="line">
            <a:avLst/>
          </a:prstGeom>
          <a:ln w="10972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18288000" y="2331720"/>
            <a:ext cx="2093976" cy="2468880"/>
          </a:xfrm>
          <a:prstGeom prst="line">
            <a:avLst/>
          </a:prstGeom>
          <a:ln w="10972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 flipV="1">
            <a:off x="2057400" y="2331720"/>
            <a:ext cx="17410176" cy="2468880"/>
          </a:xfrm>
          <a:prstGeom prst="line">
            <a:avLst/>
          </a:prstGeom>
          <a:ln w="10972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H="1" flipV="1">
            <a:off x="4370832" y="2331720"/>
            <a:ext cx="15252192" cy="2468880"/>
          </a:xfrm>
          <a:prstGeom prst="line">
            <a:avLst/>
          </a:prstGeom>
          <a:ln w="10972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H="1" flipV="1">
            <a:off x="6684264" y="2331720"/>
            <a:ext cx="13094208" cy="2468880"/>
          </a:xfrm>
          <a:prstGeom prst="line">
            <a:avLst/>
          </a:prstGeom>
          <a:ln w="10972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H="1" flipV="1">
            <a:off x="8997696" y="2331720"/>
            <a:ext cx="10936224" cy="2468880"/>
          </a:xfrm>
          <a:prstGeom prst="line">
            <a:avLst/>
          </a:prstGeom>
          <a:ln w="10972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H="1" flipV="1">
            <a:off x="11311128" y="2331720"/>
            <a:ext cx="8778240" cy="2468880"/>
          </a:xfrm>
          <a:prstGeom prst="line">
            <a:avLst/>
          </a:prstGeom>
          <a:ln w="10972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H="1" flipV="1">
            <a:off x="13624560" y="2331720"/>
            <a:ext cx="6620256" cy="2468880"/>
          </a:xfrm>
          <a:prstGeom prst="line">
            <a:avLst/>
          </a:prstGeom>
          <a:ln w="10972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H="1" flipV="1">
            <a:off x="15937992" y="2331720"/>
            <a:ext cx="4462272" cy="2468880"/>
          </a:xfrm>
          <a:prstGeom prst="line">
            <a:avLst/>
          </a:prstGeom>
          <a:ln w="10972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H="1" flipV="1">
            <a:off x="18251424" y="2331720"/>
            <a:ext cx="2304288" cy="2468880"/>
          </a:xfrm>
          <a:prstGeom prst="line">
            <a:avLst/>
          </a:prstGeom>
          <a:ln w="10972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H="1" flipV="1">
            <a:off x="20564856" y="2331720"/>
            <a:ext cx="146304" cy="2468880"/>
          </a:xfrm>
          <a:prstGeom prst="line">
            <a:avLst/>
          </a:prstGeom>
          <a:ln w="10972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ectangle 79"/>
          <p:cNvSpPr/>
          <p:nvPr/>
        </p:nvSpPr>
        <p:spPr>
          <a:xfrm>
            <a:off x="548640" y="1636776"/>
            <a:ext cx="1929384" cy="694944"/>
          </a:xfrm>
          <a:prstGeom prst="rect">
            <a:avLst/>
          </a:prstGeom>
          <a:solidFill>
            <a:srgbClr val="B5DC86"/>
          </a:solidFill>
          <a:ln w="18288">
            <a:solidFill>
              <a:srgbClr val="AA4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-8545068" y="1709928"/>
            <a:ext cx="20116800" cy="2606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68">
                <a:solidFill>
                  <a:srgbClr val="202020"/>
                </a:solidFill>
                <a:latin typeface="DejaVu Sans"/>
              </a:rPr>
              <a:t>IB Spine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-8545068" y="1927098"/>
            <a:ext cx="20116800" cy="2606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68">
                <a:solidFill>
                  <a:srgbClr val="202020"/>
                </a:solidFill>
                <a:latin typeface="DejaVu Sans"/>
              </a:rPr>
              <a:t>L2-P0-S0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862072" y="1636776"/>
            <a:ext cx="1929384" cy="694944"/>
          </a:xfrm>
          <a:prstGeom prst="rect">
            <a:avLst/>
          </a:prstGeom>
          <a:solidFill>
            <a:srgbClr val="B5DC86"/>
          </a:solidFill>
          <a:ln w="18288">
            <a:solidFill>
              <a:srgbClr val="AA4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-6231636" y="1709928"/>
            <a:ext cx="20116800" cy="2606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68">
                <a:solidFill>
                  <a:srgbClr val="202020"/>
                </a:solidFill>
                <a:latin typeface="DejaVu Sans"/>
              </a:rPr>
              <a:t>IB Spine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-6231636" y="1927098"/>
            <a:ext cx="20116800" cy="2606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68">
                <a:solidFill>
                  <a:srgbClr val="202020"/>
                </a:solidFill>
                <a:latin typeface="DejaVu Sans"/>
              </a:rPr>
              <a:t>L2-P0-S1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175504" y="1636776"/>
            <a:ext cx="1929384" cy="694944"/>
          </a:xfrm>
          <a:prstGeom prst="rect">
            <a:avLst/>
          </a:prstGeom>
          <a:solidFill>
            <a:srgbClr val="B5DC86"/>
          </a:solidFill>
          <a:ln w="18288">
            <a:solidFill>
              <a:srgbClr val="AA4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-3918204" y="1709928"/>
            <a:ext cx="20116800" cy="2606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68">
                <a:solidFill>
                  <a:srgbClr val="202020"/>
                </a:solidFill>
                <a:latin typeface="DejaVu Sans"/>
              </a:rPr>
              <a:t>IB Spine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-3918204" y="1927098"/>
            <a:ext cx="20116800" cy="2606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68">
                <a:solidFill>
                  <a:srgbClr val="202020"/>
                </a:solidFill>
                <a:latin typeface="DejaVu Sans"/>
              </a:rPr>
              <a:t>L2-P0-S2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488936" y="1636776"/>
            <a:ext cx="1929384" cy="694944"/>
          </a:xfrm>
          <a:prstGeom prst="rect">
            <a:avLst/>
          </a:prstGeom>
          <a:solidFill>
            <a:srgbClr val="B5DC86"/>
          </a:solidFill>
          <a:ln w="18288">
            <a:solidFill>
              <a:srgbClr val="AA4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-1604772" y="1709928"/>
            <a:ext cx="20116800" cy="2606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68">
                <a:solidFill>
                  <a:srgbClr val="202020"/>
                </a:solidFill>
                <a:latin typeface="DejaVu Sans"/>
              </a:rPr>
              <a:t>IB Spine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-1604772" y="1927098"/>
            <a:ext cx="20116800" cy="2606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68">
                <a:solidFill>
                  <a:srgbClr val="202020"/>
                </a:solidFill>
                <a:latin typeface="DejaVu Sans"/>
              </a:rPr>
              <a:t>L2-P0-S3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802368" y="1636776"/>
            <a:ext cx="1929384" cy="694944"/>
          </a:xfrm>
          <a:prstGeom prst="rect">
            <a:avLst/>
          </a:prstGeom>
          <a:solidFill>
            <a:srgbClr val="B5DC86"/>
          </a:solidFill>
          <a:ln w="18288">
            <a:solidFill>
              <a:srgbClr val="AA4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08660" y="1709928"/>
            <a:ext cx="20116800" cy="2606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68">
                <a:solidFill>
                  <a:srgbClr val="202020"/>
                </a:solidFill>
                <a:latin typeface="DejaVu Sans"/>
              </a:rPr>
              <a:t>IB Spine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08660" y="1927098"/>
            <a:ext cx="20116800" cy="2606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68">
                <a:solidFill>
                  <a:srgbClr val="202020"/>
                </a:solidFill>
                <a:latin typeface="DejaVu Sans"/>
              </a:rPr>
              <a:t>L2-P0-S4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2115800" y="1636776"/>
            <a:ext cx="1929384" cy="694944"/>
          </a:xfrm>
          <a:prstGeom prst="rect">
            <a:avLst/>
          </a:prstGeom>
          <a:solidFill>
            <a:srgbClr val="B5DC86"/>
          </a:solidFill>
          <a:ln w="18288">
            <a:solidFill>
              <a:srgbClr val="AA4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022092" y="1709928"/>
            <a:ext cx="20116800" cy="2606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68">
                <a:solidFill>
                  <a:srgbClr val="202020"/>
                </a:solidFill>
                <a:latin typeface="DejaVu Sans"/>
              </a:rPr>
              <a:t>IB Spine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022092" y="1927098"/>
            <a:ext cx="20116800" cy="2606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68">
                <a:solidFill>
                  <a:srgbClr val="202020"/>
                </a:solidFill>
                <a:latin typeface="DejaVu Sans"/>
              </a:rPr>
              <a:t>L2-P0-S5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4429232" y="1636776"/>
            <a:ext cx="1929384" cy="694944"/>
          </a:xfrm>
          <a:prstGeom prst="rect">
            <a:avLst/>
          </a:prstGeom>
          <a:solidFill>
            <a:srgbClr val="B5DC86"/>
          </a:solidFill>
          <a:ln w="18288">
            <a:solidFill>
              <a:srgbClr val="AA4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335524" y="1709928"/>
            <a:ext cx="20116800" cy="2606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68">
                <a:solidFill>
                  <a:srgbClr val="202020"/>
                </a:solidFill>
                <a:latin typeface="DejaVu Sans"/>
              </a:rPr>
              <a:t>IB Spine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335524" y="1927098"/>
            <a:ext cx="20116800" cy="2606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68">
                <a:solidFill>
                  <a:srgbClr val="202020"/>
                </a:solidFill>
                <a:latin typeface="DejaVu Sans"/>
              </a:rPr>
              <a:t>L2-P0-S6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6742663" y="1636776"/>
            <a:ext cx="1929384" cy="694944"/>
          </a:xfrm>
          <a:prstGeom prst="rect">
            <a:avLst/>
          </a:prstGeom>
          <a:solidFill>
            <a:srgbClr val="B5DC86"/>
          </a:solidFill>
          <a:ln w="18288">
            <a:solidFill>
              <a:srgbClr val="AA4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648956" y="1709928"/>
            <a:ext cx="20116800" cy="2606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68">
                <a:solidFill>
                  <a:srgbClr val="202020"/>
                </a:solidFill>
                <a:latin typeface="DejaVu Sans"/>
              </a:rPr>
              <a:t>IB Spine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648956" y="1927098"/>
            <a:ext cx="20116800" cy="2606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68">
                <a:solidFill>
                  <a:srgbClr val="202020"/>
                </a:solidFill>
                <a:latin typeface="DejaVu Sans"/>
              </a:rPr>
              <a:t>L2-P0-S7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9056096" y="1636776"/>
            <a:ext cx="1929384" cy="694944"/>
          </a:xfrm>
          <a:prstGeom prst="rect">
            <a:avLst/>
          </a:prstGeom>
          <a:solidFill>
            <a:srgbClr val="B5DC86"/>
          </a:solidFill>
          <a:ln w="18288">
            <a:solidFill>
              <a:srgbClr val="AA4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962388" y="1709928"/>
            <a:ext cx="20116800" cy="2606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68">
                <a:solidFill>
                  <a:srgbClr val="202020"/>
                </a:solidFill>
                <a:latin typeface="DejaVu Sans"/>
              </a:rPr>
              <a:t>IB Spine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962388" y="1927098"/>
            <a:ext cx="20116800" cy="2606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68">
                <a:solidFill>
                  <a:srgbClr val="202020"/>
                </a:solidFill>
                <a:latin typeface="DejaVu Sans"/>
              </a:rPr>
              <a:t>L2-P0-S8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40080" y="4325112"/>
            <a:ext cx="4800600" cy="3291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-7040880" y="4361688"/>
            <a:ext cx="20116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39">
                <a:solidFill>
                  <a:srgbClr val="E58A24"/>
                </a:solidFill>
                <a:latin typeface="DejaVu Sans"/>
              </a:rPr>
              <a:t>Rail 0: slot 0 on every compute tray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77240" y="4800600"/>
            <a:ext cx="2103120" cy="731520"/>
          </a:xfrm>
          <a:prstGeom prst="rect">
            <a:avLst/>
          </a:prstGeom>
          <a:solidFill>
            <a:srgbClr val="B5DC86"/>
          </a:solidFill>
          <a:ln w="18288">
            <a:solidFill>
              <a:srgbClr val="E58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-8229600" y="4873752"/>
            <a:ext cx="20116800" cy="2606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68">
                <a:solidFill>
                  <a:srgbClr val="202020"/>
                </a:solidFill>
                <a:latin typeface="DejaVu Sans"/>
              </a:rPr>
              <a:t>IB Leaf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-8229600" y="5090922"/>
            <a:ext cx="20116800" cy="2606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68">
                <a:solidFill>
                  <a:srgbClr val="202020"/>
                </a:solidFill>
                <a:latin typeface="DejaVu Sans"/>
              </a:rPr>
              <a:t>Leaf-C0-R0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3200400" y="4800600"/>
            <a:ext cx="2103120" cy="731520"/>
          </a:xfrm>
          <a:prstGeom prst="rect">
            <a:avLst/>
          </a:prstGeom>
          <a:solidFill>
            <a:srgbClr val="B5DC86"/>
          </a:solidFill>
          <a:ln w="18288">
            <a:solidFill>
              <a:srgbClr val="E58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-5806440" y="4873752"/>
            <a:ext cx="20116800" cy="2606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68">
                <a:solidFill>
                  <a:srgbClr val="202020"/>
                </a:solidFill>
                <a:latin typeface="DejaVu Sans"/>
              </a:rPr>
              <a:t>IB Leaf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-5806440" y="5090922"/>
            <a:ext cx="20116800" cy="2606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68">
                <a:solidFill>
                  <a:srgbClr val="202020"/>
                </a:solidFill>
                <a:latin typeface="DejaVu Sans"/>
              </a:rPr>
              <a:t>Leaf-C1-R0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-7040880" y="5742432"/>
            <a:ext cx="20116800" cy="2331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24">
                <a:solidFill>
                  <a:srgbClr val="202020"/>
                </a:solidFill>
                <a:latin typeface="DejaVu Sans"/>
              </a:rPr>
              <a:t>18 GPUs per Leaf; 1 x 400 Gb/s per GPU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5989320" y="4325112"/>
            <a:ext cx="4800600" cy="3291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-1691640" y="4361688"/>
            <a:ext cx="20116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39">
                <a:solidFill>
                  <a:srgbClr val="447AC3"/>
                </a:solidFill>
                <a:latin typeface="DejaVu Sans"/>
              </a:rPr>
              <a:t>Rail 1: slot 1 on every compute tray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126480" y="4800600"/>
            <a:ext cx="2103120" cy="731520"/>
          </a:xfrm>
          <a:prstGeom prst="rect">
            <a:avLst/>
          </a:prstGeom>
          <a:solidFill>
            <a:srgbClr val="B5DC86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-2880360" y="4873752"/>
            <a:ext cx="20116800" cy="2606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68">
                <a:solidFill>
                  <a:srgbClr val="202020"/>
                </a:solidFill>
                <a:latin typeface="DejaVu Sans"/>
              </a:rPr>
              <a:t>IB Leaf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-2880360" y="5090922"/>
            <a:ext cx="20116800" cy="2606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68">
                <a:solidFill>
                  <a:srgbClr val="202020"/>
                </a:solidFill>
                <a:latin typeface="DejaVu Sans"/>
              </a:rPr>
              <a:t>Leaf-C0-R1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549640" y="4800600"/>
            <a:ext cx="2103120" cy="731520"/>
          </a:xfrm>
          <a:prstGeom prst="rect">
            <a:avLst/>
          </a:prstGeom>
          <a:solidFill>
            <a:srgbClr val="B5DC86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-457200" y="4873752"/>
            <a:ext cx="20116800" cy="2606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68">
                <a:solidFill>
                  <a:srgbClr val="202020"/>
                </a:solidFill>
                <a:latin typeface="DejaVu Sans"/>
              </a:rPr>
              <a:t>IB Leaf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-457200" y="5090922"/>
            <a:ext cx="20116800" cy="2606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68">
                <a:solidFill>
                  <a:srgbClr val="202020"/>
                </a:solidFill>
                <a:latin typeface="DejaVu Sans"/>
              </a:rPr>
              <a:t>Leaf-C1-R1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-1691640" y="5742432"/>
            <a:ext cx="20116800" cy="2331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24">
                <a:solidFill>
                  <a:srgbClr val="202020"/>
                </a:solidFill>
                <a:latin typeface="DejaVu Sans"/>
              </a:rPr>
              <a:t>18 GPUs per Leaf; 1 x 400 Gb/s per GPU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11338560" y="4325112"/>
            <a:ext cx="4800600" cy="3291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3657600" y="4361688"/>
            <a:ext cx="20116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39">
                <a:solidFill>
                  <a:srgbClr val="268C68"/>
                </a:solidFill>
                <a:latin typeface="DejaVu Sans"/>
              </a:rPr>
              <a:t>Rail 2: slot 2 on every compute tray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11475720" y="4800600"/>
            <a:ext cx="2103120" cy="731520"/>
          </a:xfrm>
          <a:prstGeom prst="rect">
            <a:avLst/>
          </a:prstGeom>
          <a:solidFill>
            <a:srgbClr val="B5DC86"/>
          </a:solidFill>
          <a:ln w="18288">
            <a:solidFill>
              <a:srgbClr val="268C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2468880" y="4873752"/>
            <a:ext cx="20116800" cy="2606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68">
                <a:solidFill>
                  <a:srgbClr val="202020"/>
                </a:solidFill>
                <a:latin typeface="DejaVu Sans"/>
              </a:rPr>
              <a:t>IB Leaf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2468880" y="5090922"/>
            <a:ext cx="20116800" cy="2606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68">
                <a:solidFill>
                  <a:srgbClr val="202020"/>
                </a:solidFill>
                <a:latin typeface="DejaVu Sans"/>
              </a:rPr>
              <a:t>Leaf-C0-R2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3898880" y="4800600"/>
            <a:ext cx="2103120" cy="731520"/>
          </a:xfrm>
          <a:prstGeom prst="rect">
            <a:avLst/>
          </a:prstGeom>
          <a:solidFill>
            <a:srgbClr val="B5DC86"/>
          </a:solidFill>
          <a:ln w="18288">
            <a:solidFill>
              <a:srgbClr val="268C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4892040" y="4873752"/>
            <a:ext cx="20116800" cy="2606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68">
                <a:solidFill>
                  <a:srgbClr val="202020"/>
                </a:solidFill>
                <a:latin typeface="DejaVu Sans"/>
              </a:rPr>
              <a:t>IB Leaf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4892040" y="5090922"/>
            <a:ext cx="20116800" cy="2606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68">
                <a:solidFill>
                  <a:srgbClr val="202020"/>
                </a:solidFill>
                <a:latin typeface="DejaVu Sans"/>
              </a:rPr>
              <a:t>Leaf-C1-R2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0" y="5742432"/>
            <a:ext cx="20116800" cy="2331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24">
                <a:solidFill>
                  <a:srgbClr val="202020"/>
                </a:solidFill>
                <a:latin typeface="DejaVu Sans"/>
              </a:rPr>
              <a:t>18 GPUs per Leaf; 1 x 400 Gb/s per GPU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16687800" y="4325112"/>
            <a:ext cx="4800600" cy="3291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9006840" y="4361688"/>
            <a:ext cx="20116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39">
                <a:solidFill>
                  <a:srgbClr val="8062AC"/>
                </a:solidFill>
                <a:latin typeface="DejaVu Sans"/>
              </a:rPr>
              <a:t>Rail 3: slot 3 on every compute tray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16824960" y="4800600"/>
            <a:ext cx="2103120" cy="731520"/>
          </a:xfrm>
          <a:prstGeom prst="rect">
            <a:avLst/>
          </a:prstGeom>
          <a:solidFill>
            <a:srgbClr val="B5DC86"/>
          </a:solidFill>
          <a:ln w="18288">
            <a:solidFill>
              <a:srgbClr val="8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7818120" y="4873752"/>
            <a:ext cx="20116800" cy="2606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68">
                <a:solidFill>
                  <a:srgbClr val="202020"/>
                </a:solidFill>
                <a:latin typeface="DejaVu Sans"/>
              </a:rPr>
              <a:t>IB Leaf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7818120" y="5090922"/>
            <a:ext cx="20116800" cy="2606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68">
                <a:solidFill>
                  <a:srgbClr val="202020"/>
                </a:solidFill>
                <a:latin typeface="DejaVu Sans"/>
              </a:rPr>
              <a:t>Leaf-C0-R3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19248120" y="4800600"/>
            <a:ext cx="2103120" cy="731520"/>
          </a:xfrm>
          <a:prstGeom prst="rect">
            <a:avLst/>
          </a:prstGeom>
          <a:solidFill>
            <a:srgbClr val="B5DC86"/>
          </a:solidFill>
          <a:ln w="18288">
            <a:solidFill>
              <a:srgbClr val="8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0241280" y="4873752"/>
            <a:ext cx="20116800" cy="2606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68">
                <a:solidFill>
                  <a:srgbClr val="202020"/>
                </a:solidFill>
                <a:latin typeface="DejaVu Sans"/>
              </a:rPr>
              <a:t>IB Leaf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0241280" y="5090922"/>
            <a:ext cx="20116800" cy="2606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68">
                <a:solidFill>
                  <a:srgbClr val="202020"/>
                </a:solidFill>
                <a:latin typeface="DejaVu Sans"/>
              </a:rPr>
              <a:t>Leaf-C1-R3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9006840" y="5742432"/>
            <a:ext cx="20116800" cy="2331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24">
                <a:solidFill>
                  <a:srgbClr val="202020"/>
                </a:solidFill>
                <a:latin typeface="DejaVu Sans"/>
              </a:rPr>
              <a:t>18 GPUs per Leaf; 1 x 400 Gb/s per GPU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502920" y="7040880"/>
            <a:ext cx="9966960" cy="4754880"/>
          </a:xfrm>
          <a:prstGeom prst="rect">
            <a:avLst/>
          </a:prstGeom>
          <a:solidFill>
            <a:srgbClr val="FFFFFF"/>
          </a:solidFill>
          <a:ln w="18288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1691640" y="7132320"/>
            <a:ext cx="768096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-4572000" y="7205472"/>
            <a:ext cx="2011680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016">
                <a:solidFill>
                  <a:srgbClr val="202020"/>
                </a:solidFill>
                <a:latin typeface="DejaVu Sans"/>
              </a:rPr>
              <a:t>Rack 0: 72 GPUs / 18 compute trays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-4572000" y="7635240"/>
            <a:ext cx="20116800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655">
                <a:solidFill>
                  <a:srgbClr val="202020"/>
                </a:solidFill>
                <a:latin typeface="DejaVu Sans"/>
              </a:rPr>
              <a:t>9 switch trays = 18 NVSwitch ASICs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-4572000" y="8037575"/>
            <a:ext cx="201168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84">
                <a:solidFill>
                  <a:srgbClr val="202020"/>
                </a:solidFill>
                <a:latin typeface="DejaVu Sans"/>
              </a:rPr>
              <a:t>Each GPU has 18 NVLinks + one 400 Gb/s NIC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-4572000" y="8449056"/>
            <a:ext cx="20116800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96">
                <a:solidFill>
                  <a:srgbClr val="202020"/>
                </a:solidFill>
                <a:latin typeface="DejaVu Sans"/>
              </a:rPr>
              <a:t>Trays 0, 1, 17 expanded below. Trays 2-16 omitted.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612648" y="8778240"/>
            <a:ext cx="493776" cy="548640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-9198864" y="8851392"/>
            <a:ext cx="2011680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19">
                <a:solidFill>
                  <a:srgbClr val="202020"/>
                </a:solidFill>
                <a:latin typeface="DejaVu Sans"/>
              </a:rPr>
              <a:t>NVSwitch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-9198864" y="8965692"/>
            <a:ext cx="2011680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19">
                <a:solidFill>
                  <a:srgbClr val="202020"/>
                </a:solidFill>
                <a:latin typeface="DejaVu Sans"/>
              </a:rPr>
              <a:t>NV-C0-S0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1152144" y="8778240"/>
            <a:ext cx="493776" cy="548640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-8659368" y="8851392"/>
            <a:ext cx="2011680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19">
                <a:solidFill>
                  <a:srgbClr val="202020"/>
                </a:solidFill>
                <a:latin typeface="DejaVu Sans"/>
              </a:rPr>
              <a:t>NVSwitch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-8659368" y="8965692"/>
            <a:ext cx="2011680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19">
                <a:solidFill>
                  <a:srgbClr val="202020"/>
                </a:solidFill>
                <a:latin typeface="DejaVu Sans"/>
              </a:rPr>
              <a:t>NV-C0-S1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1691640" y="8778240"/>
            <a:ext cx="493776" cy="548640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-8119872" y="8851392"/>
            <a:ext cx="2011680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19">
                <a:solidFill>
                  <a:srgbClr val="202020"/>
                </a:solidFill>
                <a:latin typeface="DejaVu Sans"/>
              </a:rPr>
              <a:t>NVSwitch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-8119872" y="8965692"/>
            <a:ext cx="2011680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19">
                <a:solidFill>
                  <a:srgbClr val="202020"/>
                </a:solidFill>
                <a:latin typeface="DejaVu Sans"/>
              </a:rPr>
              <a:t>NV-C0-S2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2231136" y="8778240"/>
            <a:ext cx="493776" cy="548640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-7580375" y="8851392"/>
            <a:ext cx="2011680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19">
                <a:solidFill>
                  <a:srgbClr val="202020"/>
                </a:solidFill>
                <a:latin typeface="DejaVu Sans"/>
              </a:rPr>
              <a:t>NVSwitch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-7580375" y="8965692"/>
            <a:ext cx="2011680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19">
                <a:solidFill>
                  <a:srgbClr val="202020"/>
                </a:solidFill>
                <a:latin typeface="DejaVu Sans"/>
              </a:rPr>
              <a:t>NV-C0-S3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2770632" y="8778240"/>
            <a:ext cx="493776" cy="548640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-7040880" y="8851392"/>
            <a:ext cx="2011680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19">
                <a:solidFill>
                  <a:srgbClr val="202020"/>
                </a:solidFill>
                <a:latin typeface="DejaVu Sans"/>
              </a:rPr>
              <a:t>NVSwitch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-7040880" y="8965692"/>
            <a:ext cx="2011680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19">
                <a:solidFill>
                  <a:srgbClr val="202020"/>
                </a:solidFill>
                <a:latin typeface="DejaVu Sans"/>
              </a:rPr>
              <a:t>NV-C0-S4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3310128" y="8778240"/>
            <a:ext cx="493776" cy="548640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-6501384" y="8851392"/>
            <a:ext cx="2011680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19">
                <a:solidFill>
                  <a:srgbClr val="202020"/>
                </a:solidFill>
                <a:latin typeface="DejaVu Sans"/>
              </a:rPr>
              <a:t>NVSwitch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-6501384" y="8965692"/>
            <a:ext cx="2011680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19">
                <a:solidFill>
                  <a:srgbClr val="202020"/>
                </a:solidFill>
                <a:latin typeface="DejaVu Sans"/>
              </a:rPr>
              <a:t>NV-C0-S5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3849624" y="8778240"/>
            <a:ext cx="493776" cy="548640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-5961888" y="8851392"/>
            <a:ext cx="2011680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19">
                <a:solidFill>
                  <a:srgbClr val="202020"/>
                </a:solidFill>
                <a:latin typeface="DejaVu Sans"/>
              </a:rPr>
              <a:t>NVSwitch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-5961888" y="8965692"/>
            <a:ext cx="2011680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19">
                <a:solidFill>
                  <a:srgbClr val="202020"/>
                </a:solidFill>
                <a:latin typeface="DejaVu Sans"/>
              </a:rPr>
              <a:t>NV-C0-S6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4389120" y="8778240"/>
            <a:ext cx="493776" cy="548640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-5422392" y="8851392"/>
            <a:ext cx="2011680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19">
                <a:solidFill>
                  <a:srgbClr val="202020"/>
                </a:solidFill>
                <a:latin typeface="DejaVu Sans"/>
              </a:rPr>
              <a:t>NVSwitch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-5422392" y="8965692"/>
            <a:ext cx="2011680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19">
                <a:solidFill>
                  <a:srgbClr val="202020"/>
                </a:solidFill>
                <a:latin typeface="DejaVu Sans"/>
              </a:rPr>
              <a:t>NV-C0-S7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4928616" y="8778240"/>
            <a:ext cx="493776" cy="548640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-4882896" y="8851392"/>
            <a:ext cx="2011680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19">
                <a:solidFill>
                  <a:srgbClr val="202020"/>
                </a:solidFill>
                <a:latin typeface="DejaVu Sans"/>
              </a:rPr>
              <a:t>NVSwitch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-4882896" y="8965692"/>
            <a:ext cx="2011680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19">
                <a:solidFill>
                  <a:srgbClr val="202020"/>
                </a:solidFill>
                <a:latin typeface="DejaVu Sans"/>
              </a:rPr>
              <a:t>NV-C0-S8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5468112" y="8778240"/>
            <a:ext cx="493776" cy="548640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-4343400" y="8851392"/>
            <a:ext cx="2011680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19">
                <a:solidFill>
                  <a:srgbClr val="202020"/>
                </a:solidFill>
                <a:latin typeface="DejaVu Sans"/>
              </a:rPr>
              <a:t>NVSwitch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-4343400" y="8965692"/>
            <a:ext cx="2011680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19">
                <a:solidFill>
                  <a:srgbClr val="202020"/>
                </a:solidFill>
                <a:latin typeface="DejaVu Sans"/>
              </a:rPr>
              <a:t>NV-C0-S9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6007608" y="8778240"/>
            <a:ext cx="493776" cy="548640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-3803904" y="8851392"/>
            <a:ext cx="2011680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19">
                <a:solidFill>
                  <a:srgbClr val="202020"/>
                </a:solidFill>
                <a:latin typeface="DejaVu Sans"/>
              </a:rPr>
              <a:t>NVSwitch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-3803904" y="8965692"/>
            <a:ext cx="2011680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19">
                <a:solidFill>
                  <a:srgbClr val="202020"/>
                </a:solidFill>
                <a:latin typeface="DejaVu Sans"/>
              </a:rPr>
              <a:t>NV-C0-S10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6547104" y="8778240"/>
            <a:ext cx="493776" cy="548640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-3264408" y="8851392"/>
            <a:ext cx="2011680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19">
                <a:solidFill>
                  <a:srgbClr val="202020"/>
                </a:solidFill>
                <a:latin typeface="DejaVu Sans"/>
              </a:rPr>
              <a:t>NVSwitch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-3264408" y="8965692"/>
            <a:ext cx="2011680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19">
                <a:solidFill>
                  <a:srgbClr val="202020"/>
                </a:solidFill>
                <a:latin typeface="DejaVu Sans"/>
              </a:rPr>
              <a:t>NV-C0-S11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7086600" y="8778240"/>
            <a:ext cx="493776" cy="548640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-2724912" y="8851392"/>
            <a:ext cx="2011680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19">
                <a:solidFill>
                  <a:srgbClr val="202020"/>
                </a:solidFill>
                <a:latin typeface="DejaVu Sans"/>
              </a:rPr>
              <a:t>NVSwitch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-2724912" y="8965692"/>
            <a:ext cx="2011680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19">
                <a:solidFill>
                  <a:srgbClr val="202020"/>
                </a:solidFill>
                <a:latin typeface="DejaVu Sans"/>
              </a:rPr>
              <a:t>NV-C0-S12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7626096" y="8778240"/>
            <a:ext cx="493776" cy="548640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-2185416" y="8851392"/>
            <a:ext cx="2011680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19">
                <a:solidFill>
                  <a:srgbClr val="202020"/>
                </a:solidFill>
                <a:latin typeface="DejaVu Sans"/>
              </a:rPr>
              <a:t>NVSwitch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-2185416" y="8965692"/>
            <a:ext cx="2011680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19">
                <a:solidFill>
                  <a:srgbClr val="202020"/>
                </a:solidFill>
                <a:latin typeface="DejaVu Sans"/>
              </a:rPr>
              <a:t>NV-C0-S13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8165592" y="8778240"/>
            <a:ext cx="493776" cy="548640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-1645920" y="8851392"/>
            <a:ext cx="2011680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19">
                <a:solidFill>
                  <a:srgbClr val="202020"/>
                </a:solidFill>
                <a:latin typeface="DejaVu Sans"/>
              </a:rPr>
              <a:t>NVSwitch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-1645920" y="8965692"/>
            <a:ext cx="2011680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19">
                <a:solidFill>
                  <a:srgbClr val="202020"/>
                </a:solidFill>
                <a:latin typeface="DejaVu Sans"/>
              </a:rPr>
              <a:t>NV-C0-S14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8705088" y="8778240"/>
            <a:ext cx="493776" cy="548640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-1106424" y="8851392"/>
            <a:ext cx="2011680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19">
                <a:solidFill>
                  <a:srgbClr val="202020"/>
                </a:solidFill>
                <a:latin typeface="DejaVu Sans"/>
              </a:rPr>
              <a:t>NVSwitch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-1106424" y="8965692"/>
            <a:ext cx="2011680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19">
                <a:solidFill>
                  <a:srgbClr val="202020"/>
                </a:solidFill>
                <a:latin typeface="DejaVu Sans"/>
              </a:rPr>
              <a:t>NV-C0-S15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9244584" y="8778240"/>
            <a:ext cx="493776" cy="548640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-566928" y="8851392"/>
            <a:ext cx="2011680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19">
                <a:solidFill>
                  <a:srgbClr val="202020"/>
                </a:solidFill>
                <a:latin typeface="DejaVu Sans"/>
              </a:rPr>
              <a:t>NVSwitch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-566928" y="8965692"/>
            <a:ext cx="2011680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19">
                <a:solidFill>
                  <a:srgbClr val="202020"/>
                </a:solidFill>
                <a:latin typeface="DejaVu Sans"/>
              </a:rPr>
              <a:t>NV-C0-S16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9784080" y="8778240"/>
            <a:ext cx="493776" cy="548640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-27432" y="8851392"/>
            <a:ext cx="2011680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19">
                <a:solidFill>
                  <a:srgbClr val="202020"/>
                </a:solidFill>
                <a:latin typeface="DejaVu Sans"/>
              </a:rPr>
              <a:t>NVSwitch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-27432" y="8965692"/>
            <a:ext cx="2011680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19">
                <a:solidFill>
                  <a:srgbClr val="202020"/>
                </a:solidFill>
                <a:latin typeface="DejaVu Sans"/>
              </a:rPr>
              <a:t>NV-C0-S17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978408" y="10424160"/>
            <a:ext cx="2971800" cy="1143000"/>
          </a:xfrm>
          <a:prstGeom prst="rect">
            <a:avLst/>
          </a:prstGeom>
          <a:solidFill>
            <a:srgbClr val="FFFFFF"/>
          </a:solidFill>
          <a:ln w="9144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-7589520" y="10488168"/>
            <a:ext cx="20116800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96">
                <a:solidFill>
                  <a:srgbClr val="202020"/>
                </a:solidFill>
                <a:latin typeface="DejaVu Sans"/>
              </a:rPr>
              <a:t>Compute Tray 0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1060704" y="10835640"/>
            <a:ext cx="621792" cy="45720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-8686800" y="10908792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-8686800" y="11068812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r0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1746504" y="10835640"/>
            <a:ext cx="621792" cy="45720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-8001000" y="10908792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-8001000" y="11068812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r1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2432304" y="10835640"/>
            <a:ext cx="621792" cy="45720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-7315200" y="10908792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-7315200" y="11068812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r2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3118104" y="10835640"/>
            <a:ext cx="621792" cy="45720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-6629400" y="10908792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-6629400" y="11068812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r3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4178808" y="10424160"/>
            <a:ext cx="2971800" cy="1143000"/>
          </a:xfrm>
          <a:prstGeom prst="rect">
            <a:avLst/>
          </a:prstGeom>
          <a:solidFill>
            <a:srgbClr val="FFFFFF"/>
          </a:solidFill>
          <a:ln w="9144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-4389120" y="10488168"/>
            <a:ext cx="20116800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96">
                <a:solidFill>
                  <a:srgbClr val="202020"/>
                </a:solidFill>
                <a:latin typeface="DejaVu Sans"/>
              </a:rPr>
              <a:t>Compute Tray 1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4261104" y="10835640"/>
            <a:ext cx="621792" cy="45720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-5486400" y="10908792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-5486400" y="11068812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r4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4946904" y="10835640"/>
            <a:ext cx="621792" cy="45720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TextBox 222"/>
          <p:cNvSpPr txBox="1"/>
          <p:nvPr/>
        </p:nvSpPr>
        <p:spPr>
          <a:xfrm>
            <a:off x="-4800600" y="10908792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-4800600" y="11068812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r5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5632704" y="10835640"/>
            <a:ext cx="621792" cy="45720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-4114800" y="10908792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-4114800" y="11068812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r6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6318504" y="10835640"/>
            <a:ext cx="621792" cy="45720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TextBox 228"/>
          <p:cNvSpPr txBox="1"/>
          <p:nvPr/>
        </p:nvSpPr>
        <p:spPr>
          <a:xfrm>
            <a:off x="-3429000" y="10908792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-3429000" y="11068812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r7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7379208" y="10424160"/>
            <a:ext cx="2971800" cy="1143000"/>
          </a:xfrm>
          <a:prstGeom prst="rect">
            <a:avLst/>
          </a:prstGeom>
          <a:solidFill>
            <a:srgbClr val="FFFFFF"/>
          </a:solidFill>
          <a:ln w="9144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-1188720" y="10488168"/>
            <a:ext cx="20116800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96">
                <a:solidFill>
                  <a:srgbClr val="202020"/>
                </a:solidFill>
                <a:latin typeface="DejaVu Sans"/>
              </a:rPr>
              <a:t>Compute Tray 17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7461504" y="10835640"/>
            <a:ext cx="621792" cy="45720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-2286000" y="10908792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-2286000" y="11068812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r68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8147304" y="10835640"/>
            <a:ext cx="621792" cy="45720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-1600200" y="10908792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-1600200" y="11068812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r69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8833104" y="10835640"/>
            <a:ext cx="621792" cy="45720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-914400" y="10908792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-914400" y="11068812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r70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9518904" y="10835640"/>
            <a:ext cx="621792" cy="45720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-228600" y="10908792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-228600" y="11068812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r71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11475720" y="7040880"/>
            <a:ext cx="9966960" cy="4754880"/>
          </a:xfrm>
          <a:prstGeom prst="rect">
            <a:avLst/>
          </a:prstGeom>
          <a:solidFill>
            <a:srgbClr val="FFFFFF"/>
          </a:solidFill>
          <a:ln w="18288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12664440" y="7132320"/>
            <a:ext cx="768096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TextBox 246"/>
          <p:cNvSpPr txBox="1"/>
          <p:nvPr/>
        </p:nvSpPr>
        <p:spPr>
          <a:xfrm>
            <a:off x="6400800" y="7205472"/>
            <a:ext cx="2011680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016">
                <a:solidFill>
                  <a:srgbClr val="202020"/>
                </a:solidFill>
                <a:latin typeface="DejaVu Sans"/>
              </a:rPr>
              <a:t>Rack 1: 72 GPUs / 18 compute trays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6400800" y="7635240"/>
            <a:ext cx="20116800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655">
                <a:solidFill>
                  <a:srgbClr val="202020"/>
                </a:solidFill>
                <a:latin typeface="DejaVu Sans"/>
              </a:rPr>
              <a:t>9 switch trays = 18 NVSwitch ASICs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6400800" y="8037575"/>
            <a:ext cx="201168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84">
                <a:solidFill>
                  <a:srgbClr val="202020"/>
                </a:solidFill>
                <a:latin typeface="DejaVu Sans"/>
              </a:rPr>
              <a:t>Each GPU has 18 NVLinks + one 400 Gb/s NIC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6400800" y="8449056"/>
            <a:ext cx="20116800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96">
                <a:solidFill>
                  <a:srgbClr val="202020"/>
                </a:solidFill>
                <a:latin typeface="DejaVu Sans"/>
              </a:rPr>
              <a:t>Trays 0, 1, 17 expanded below. Trays 2-16 omitted.</a:t>
            </a:r>
          </a:p>
        </p:txBody>
      </p:sp>
      <p:sp>
        <p:nvSpPr>
          <p:cNvPr id="251" name="Rectangle 250"/>
          <p:cNvSpPr/>
          <p:nvPr/>
        </p:nvSpPr>
        <p:spPr>
          <a:xfrm>
            <a:off x="11585448" y="8778240"/>
            <a:ext cx="493776" cy="548640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TextBox 251"/>
          <p:cNvSpPr txBox="1"/>
          <p:nvPr/>
        </p:nvSpPr>
        <p:spPr>
          <a:xfrm>
            <a:off x="1773936" y="8851392"/>
            <a:ext cx="2011680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19">
                <a:solidFill>
                  <a:srgbClr val="202020"/>
                </a:solidFill>
                <a:latin typeface="DejaVu Sans"/>
              </a:rPr>
              <a:t>NVSwitch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1773936" y="8965692"/>
            <a:ext cx="2011680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19">
                <a:solidFill>
                  <a:srgbClr val="202020"/>
                </a:solidFill>
                <a:latin typeface="DejaVu Sans"/>
              </a:rPr>
              <a:t>NV-C1-S0</a:t>
            </a:r>
          </a:p>
        </p:txBody>
      </p:sp>
      <p:sp>
        <p:nvSpPr>
          <p:cNvPr id="254" name="Rectangle 253"/>
          <p:cNvSpPr/>
          <p:nvPr/>
        </p:nvSpPr>
        <p:spPr>
          <a:xfrm>
            <a:off x="12124944" y="8778240"/>
            <a:ext cx="493776" cy="548640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TextBox 254"/>
          <p:cNvSpPr txBox="1"/>
          <p:nvPr/>
        </p:nvSpPr>
        <p:spPr>
          <a:xfrm>
            <a:off x="2313432" y="8851392"/>
            <a:ext cx="2011680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19">
                <a:solidFill>
                  <a:srgbClr val="202020"/>
                </a:solidFill>
                <a:latin typeface="DejaVu Sans"/>
              </a:rPr>
              <a:t>NVSwitch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2313432" y="8965692"/>
            <a:ext cx="2011680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19">
                <a:solidFill>
                  <a:srgbClr val="202020"/>
                </a:solidFill>
                <a:latin typeface="DejaVu Sans"/>
              </a:rPr>
              <a:t>NV-C1-S1</a:t>
            </a:r>
          </a:p>
        </p:txBody>
      </p:sp>
      <p:sp>
        <p:nvSpPr>
          <p:cNvPr id="257" name="Rectangle 256"/>
          <p:cNvSpPr/>
          <p:nvPr/>
        </p:nvSpPr>
        <p:spPr>
          <a:xfrm>
            <a:off x="12664440" y="8778240"/>
            <a:ext cx="493776" cy="548640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2852928" y="8851392"/>
            <a:ext cx="2011680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19">
                <a:solidFill>
                  <a:srgbClr val="202020"/>
                </a:solidFill>
                <a:latin typeface="DejaVu Sans"/>
              </a:rPr>
              <a:t>NVSwitch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2852928" y="8965692"/>
            <a:ext cx="2011680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19">
                <a:solidFill>
                  <a:srgbClr val="202020"/>
                </a:solidFill>
                <a:latin typeface="DejaVu Sans"/>
              </a:rPr>
              <a:t>NV-C1-S2</a:t>
            </a:r>
          </a:p>
        </p:txBody>
      </p:sp>
      <p:sp>
        <p:nvSpPr>
          <p:cNvPr id="260" name="Rectangle 259"/>
          <p:cNvSpPr/>
          <p:nvPr/>
        </p:nvSpPr>
        <p:spPr>
          <a:xfrm>
            <a:off x="13203936" y="8778240"/>
            <a:ext cx="493776" cy="548640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TextBox 260"/>
          <p:cNvSpPr txBox="1"/>
          <p:nvPr/>
        </p:nvSpPr>
        <p:spPr>
          <a:xfrm>
            <a:off x="3392424" y="8851392"/>
            <a:ext cx="2011680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19">
                <a:solidFill>
                  <a:srgbClr val="202020"/>
                </a:solidFill>
                <a:latin typeface="DejaVu Sans"/>
              </a:rPr>
              <a:t>NVSwitch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3392424" y="8965692"/>
            <a:ext cx="2011680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19">
                <a:solidFill>
                  <a:srgbClr val="202020"/>
                </a:solidFill>
                <a:latin typeface="DejaVu Sans"/>
              </a:rPr>
              <a:t>NV-C1-S3</a:t>
            </a:r>
          </a:p>
        </p:txBody>
      </p:sp>
      <p:sp>
        <p:nvSpPr>
          <p:cNvPr id="263" name="Rectangle 262"/>
          <p:cNvSpPr/>
          <p:nvPr/>
        </p:nvSpPr>
        <p:spPr>
          <a:xfrm>
            <a:off x="13743432" y="8778240"/>
            <a:ext cx="493776" cy="548640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TextBox 263"/>
          <p:cNvSpPr txBox="1"/>
          <p:nvPr/>
        </p:nvSpPr>
        <p:spPr>
          <a:xfrm>
            <a:off x="3931920" y="8851392"/>
            <a:ext cx="2011680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19">
                <a:solidFill>
                  <a:srgbClr val="202020"/>
                </a:solidFill>
                <a:latin typeface="DejaVu Sans"/>
              </a:rPr>
              <a:t>NVSwitch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3931920" y="8965692"/>
            <a:ext cx="2011680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19">
                <a:solidFill>
                  <a:srgbClr val="202020"/>
                </a:solidFill>
                <a:latin typeface="DejaVu Sans"/>
              </a:rPr>
              <a:t>NV-C1-S4</a:t>
            </a:r>
          </a:p>
        </p:txBody>
      </p:sp>
      <p:sp>
        <p:nvSpPr>
          <p:cNvPr id="266" name="Rectangle 265"/>
          <p:cNvSpPr/>
          <p:nvPr/>
        </p:nvSpPr>
        <p:spPr>
          <a:xfrm>
            <a:off x="14282928" y="8778240"/>
            <a:ext cx="493776" cy="548640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TextBox 266"/>
          <p:cNvSpPr txBox="1"/>
          <p:nvPr/>
        </p:nvSpPr>
        <p:spPr>
          <a:xfrm>
            <a:off x="4471416" y="8851392"/>
            <a:ext cx="2011680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19">
                <a:solidFill>
                  <a:srgbClr val="202020"/>
                </a:solidFill>
                <a:latin typeface="DejaVu Sans"/>
              </a:rPr>
              <a:t>NVSwitch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4471416" y="8965692"/>
            <a:ext cx="2011680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19">
                <a:solidFill>
                  <a:srgbClr val="202020"/>
                </a:solidFill>
                <a:latin typeface="DejaVu Sans"/>
              </a:rPr>
              <a:t>NV-C1-S5</a:t>
            </a:r>
          </a:p>
        </p:txBody>
      </p:sp>
      <p:sp>
        <p:nvSpPr>
          <p:cNvPr id="269" name="Rectangle 268"/>
          <p:cNvSpPr/>
          <p:nvPr/>
        </p:nvSpPr>
        <p:spPr>
          <a:xfrm>
            <a:off x="14822424" y="8778240"/>
            <a:ext cx="493776" cy="548640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5010912" y="8851392"/>
            <a:ext cx="2011680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19">
                <a:solidFill>
                  <a:srgbClr val="202020"/>
                </a:solidFill>
                <a:latin typeface="DejaVu Sans"/>
              </a:rPr>
              <a:t>NVSwitch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5010912" y="8965692"/>
            <a:ext cx="2011680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19">
                <a:solidFill>
                  <a:srgbClr val="202020"/>
                </a:solidFill>
                <a:latin typeface="DejaVu Sans"/>
              </a:rPr>
              <a:t>NV-C1-S6</a:t>
            </a:r>
          </a:p>
        </p:txBody>
      </p:sp>
      <p:sp>
        <p:nvSpPr>
          <p:cNvPr id="272" name="Rectangle 271"/>
          <p:cNvSpPr/>
          <p:nvPr/>
        </p:nvSpPr>
        <p:spPr>
          <a:xfrm>
            <a:off x="15361920" y="8778240"/>
            <a:ext cx="493776" cy="548640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TextBox 272"/>
          <p:cNvSpPr txBox="1"/>
          <p:nvPr/>
        </p:nvSpPr>
        <p:spPr>
          <a:xfrm>
            <a:off x="5550408" y="8851392"/>
            <a:ext cx="2011680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19">
                <a:solidFill>
                  <a:srgbClr val="202020"/>
                </a:solidFill>
                <a:latin typeface="DejaVu Sans"/>
              </a:rPr>
              <a:t>NVSwitch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5550408" y="8965692"/>
            <a:ext cx="2011680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19">
                <a:solidFill>
                  <a:srgbClr val="202020"/>
                </a:solidFill>
                <a:latin typeface="DejaVu Sans"/>
              </a:rPr>
              <a:t>NV-C1-S7</a:t>
            </a:r>
          </a:p>
        </p:txBody>
      </p:sp>
      <p:sp>
        <p:nvSpPr>
          <p:cNvPr id="275" name="Rectangle 274"/>
          <p:cNvSpPr/>
          <p:nvPr/>
        </p:nvSpPr>
        <p:spPr>
          <a:xfrm>
            <a:off x="15901416" y="8778240"/>
            <a:ext cx="493776" cy="548640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TextBox 275"/>
          <p:cNvSpPr txBox="1"/>
          <p:nvPr/>
        </p:nvSpPr>
        <p:spPr>
          <a:xfrm>
            <a:off x="6089904" y="8851392"/>
            <a:ext cx="2011680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19">
                <a:solidFill>
                  <a:srgbClr val="202020"/>
                </a:solidFill>
                <a:latin typeface="DejaVu Sans"/>
              </a:rPr>
              <a:t>NVSwitch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6089904" y="8965692"/>
            <a:ext cx="2011680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19">
                <a:solidFill>
                  <a:srgbClr val="202020"/>
                </a:solidFill>
                <a:latin typeface="DejaVu Sans"/>
              </a:rPr>
              <a:t>NV-C1-S8</a:t>
            </a:r>
          </a:p>
        </p:txBody>
      </p:sp>
      <p:sp>
        <p:nvSpPr>
          <p:cNvPr id="278" name="Rectangle 277"/>
          <p:cNvSpPr/>
          <p:nvPr/>
        </p:nvSpPr>
        <p:spPr>
          <a:xfrm>
            <a:off x="16440912" y="8778240"/>
            <a:ext cx="493776" cy="548640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TextBox 278"/>
          <p:cNvSpPr txBox="1"/>
          <p:nvPr/>
        </p:nvSpPr>
        <p:spPr>
          <a:xfrm>
            <a:off x="6629400" y="8851392"/>
            <a:ext cx="2011680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19">
                <a:solidFill>
                  <a:srgbClr val="202020"/>
                </a:solidFill>
                <a:latin typeface="DejaVu Sans"/>
              </a:rPr>
              <a:t>NVSwitch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6629400" y="8965692"/>
            <a:ext cx="2011680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19">
                <a:solidFill>
                  <a:srgbClr val="202020"/>
                </a:solidFill>
                <a:latin typeface="DejaVu Sans"/>
              </a:rPr>
              <a:t>NV-C1-S9</a:t>
            </a:r>
          </a:p>
        </p:txBody>
      </p:sp>
      <p:sp>
        <p:nvSpPr>
          <p:cNvPr id="281" name="Rectangle 280"/>
          <p:cNvSpPr/>
          <p:nvPr/>
        </p:nvSpPr>
        <p:spPr>
          <a:xfrm>
            <a:off x="16980408" y="8778240"/>
            <a:ext cx="493776" cy="548640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TextBox 281"/>
          <p:cNvSpPr txBox="1"/>
          <p:nvPr/>
        </p:nvSpPr>
        <p:spPr>
          <a:xfrm>
            <a:off x="7168896" y="8851392"/>
            <a:ext cx="2011680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19">
                <a:solidFill>
                  <a:srgbClr val="202020"/>
                </a:solidFill>
                <a:latin typeface="DejaVu Sans"/>
              </a:rPr>
              <a:t>NVSwitch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7168896" y="8965692"/>
            <a:ext cx="2011680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19">
                <a:solidFill>
                  <a:srgbClr val="202020"/>
                </a:solidFill>
                <a:latin typeface="DejaVu Sans"/>
              </a:rPr>
              <a:t>NV-C1-S10</a:t>
            </a:r>
          </a:p>
        </p:txBody>
      </p:sp>
      <p:sp>
        <p:nvSpPr>
          <p:cNvPr id="284" name="Rectangle 283"/>
          <p:cNvSpPr/>
          <p:nvPr/>
        </p:nvSpPr>
        <p:spPr>
          <a:xfrm>
            <a:off x="17519904" y="8778240"/>
            <a:ext cx="493776" cy="548640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TextBox 284"/>
          <p:cNvSpPr txBox="1"/>
          <p:nvPr/>
        </p:nvSpPr>
        <p:spPr>
          <a:xfrm>
            <a:off x="7708392" y="8851392"/>
            <a:ext cx="2011680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19">
                <a:solidFill>
                  <a:srgbClr val="202020"/>
                </a:solidFill>
                <a:latin typeface="DejaVu Sans"/>
              </a:rPr>
              <a:t>NVSwitch</a:t>
            </a:r>
          </a:p>
        </p:txBody>
      </p:sp>
      <p:sp>
        <p:nvSpPr>
          <p:cNvPr id="286" name="TextBox 285"/>
          <p:cNvSpPr txBox="1"/>
          <p:nvPr/>
        </p:nvSpPr>
        <p:spPr>
          <a:xfrm>
            <a:off x="7708392" y="8965692"/>
            <a:ext cx="2011680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19">
                <a:solidFill>
                  <a:srgbClr val="202020"/>
                </a:solidFill>
                <a:latin typeface="DejaVu Sans"/>
              </a:rPr>
              <a:t>NV-C1-S11</a:t>
            </a:r>
          </a:p>
        </p:txBody>
      </p:sp>
      <p:sp>
        <p:nvSpPr>
          <p:cNvPr id="287" name="Rectangle 286"/>
          <p:cNvSpPr/>
          <p:nvPr/>
        </p:nvSpPr>
        <p:spPr>
          <a:xfrm>
            <a:off x="18059400" y="8778240"/>
            <a:ext cx="493776" cy="548640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TextBox 287"/>
          <p:cNvSpPr txBox="1"/>
          <p:nvPr/>
        </p:nvSpPr>
        <p:spPr>
          <a:xfrm>
            <a:off x="8247888" y="8851392"/>
            <a:ext cx="2011680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19">
                <a:solidFill>
                  <a:srgbClr val="202020"/>
                </a:solidFill>
                <a:latin typeface="DejaVu Sans"/>
              </a:rPr>
              <a:t>NVSwitch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8247888" y="8965692"/>
            <a:ext cx="2011680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19">
                <a:solidFill>
                  <a:srgbClr val="202020"/>
                </a:solidFill>
                <a:latin typeface="DejaVu Sans"/>
              </a:rPr>
              <a:t>NV-C1-S12</a:t>
            </a:r>
          </a:p>
        </p:txBody>
      </p:sp>
      <p:sp>
        <p:nvSpPr>
          <p:cNvPr id="290" name="Rectangle 289"/>
          <p:cNvSpPr/>
          <p:nvPr/>
        </p:nvSpPr>
        <p:spPr>
          <a:xfrm>
            <a:off x="18598896" y="8778240"/>
            <a:ext cx="493776" cy="548640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TextBox 290"/>
          <p:cNvSpPr txBox="1"/>
          <p:nvPr/>
        </p:nvSpPr>
        <p:spPr>
          <a:xfrm>
            <a:off x="8787384" y="8851392"/>
            <a:ext cx="2011680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19">
                <a:solidFill>
                  <a:srgbClr val="202020"/>
                </a:solidFill>
                <a:latin typeface="DejaVu Sans"/>
              </a:rPr>
              <a:t>NVSwitch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8787384" y="8965692"/>
            <a:ext cx="2011680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19">
                <a:solidFill>
                  <a:srgbClr val="202020"/>
                </a:solidFill>
                <a:latin typeface="DejaVu Sans"/>
              </a:rPr>
              <a:t>NV-C1-S13</a:t>
            </a:r>
          </a:p>
        </p:txBody>
      </p:sp>
      <p:sp>
        <p:nvSpPr>
          <p:cNvPr id="293" name="Rectangle 292"/>
          <p:cNvSpPr/>
          <p:nvPr/>
        </p:nvSpPr>
        <p:spPr>
          <a:xfrm>
            <a:off x="19138392" y="8778240"/>
            <a:ext cx="493776" cy="548640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TextBox 293"/>
          <p:cNvSpPr txBox="1"/>
          <p:nvPr/>
        </p:nvSpPr>
        <p:spPr>
          <a:xfrm>
            <a:off x="9326880" y="8851392"/>
            <a:ext cx="2011680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19">
                <a:solidFill>
                  <a:srgbClr val="202020"/>
                </a:solidFill>
                <a:latin typeface="DejaVu Sans"/>
              </a:rPr>
              <a:t>NVSwitch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9326880" y="8965692"/>
            <a:ext cx="2011680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19">
                <a:solidFill>
                  <a:srgbClr val="202020"/>
                </a:solidFill>
                <a:latin typeface="DejaVu Sans"/>
              </a:rPr>
              <a:t>NV-C1-S14</a:t>
            </a:r>
          </a:p>
        </p:txBody>
      </p:sp>
      <p:sp>
        <p:nvSpPr>
          <p:cNvPr id="296" name="Rectangle 295"/>
          <p:cNvSpPr/>
          <p:nvPr/>
        </p:nvSpPr>
        <p:spPr>
          <a:xfrm>
            <a:off x="19677888" y="8778240"/>
            <a:ext cx="493776" cy="548640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TextBox 296"/>
          <p:cNvSpPr txBox="1"/>
          <p:nvPr/>
        </p:nvSpPr>
        <p:spPr>
          <a:xfrm>
            <a:off x="9866376" y="8851392"/>
            <a:ext cx="2011680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19">
                <a:solidFill>
                  <a:srgbClr val="202020"/>
                </a:solidFill>
                <a:latin typeface="DejaVu Sans"/>
              </a:rPr>
              <a:t>NVSwitch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9866376" y="8965692"/>
            <a:ext cx="2011680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19">
                <a:solidFill>
                  <a:srgbClr val="202020"/>
                </a:solidFill>
                <a:latin typeface="DejaVu Sans"/>
              </a:rPr>
              <a:t>NV-C1-S15</a:t>
            </a:r>
          </a:p>
        </p:txBody>
      </p:sp>
      <p:sp>
        <p:nvSpPr>
          <p:cNvPr id="299" name="Rectangle 298"/>
          <p:cNvSpPr/>
          <p:nvPr/>
        </p:nvSpPr>
        <p:spPr>
          <a:xfrm>
            <a:off x="20217384" y="8778240"/>
            <a:ext cx="493776" cy="548640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TextBox 299"/>
          <p:cNvSpPr txBox="1"/>
          <p:nvPr/>
        </p:nvSpPr>
        <p:spPr>
          <a:xfrm>
            <a:off x="10405872" y="8851392"/>
            <a:ext cx="2011680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19">
                <a:solidFill>
                  <a:srgbClr val="202020"/>
                </a:solidFill>
                <a:latin typeface="DejaVu Sans"/>
              </a:rPr>
              <a:t>NVSwitch</a:t>
            </a:r>
          </a:p>
        </p:txBody>
      </p:sp>
      <p:sp>
        <p:nvSpPr>
          <p:cNvPr id="301" name="TextBox 300"/>
          <p:cNvSpPr txBox="1"/>
          <p:nvPr/>
        </p:nvSpPr>
        <p:spPr>
          <a:xfrm>
            <a:off x="10405872" y="8965692"/>
            <a:ext cx="2011680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19">
                <a:solidFill>
                  <a:srgbClr val="202020"/>
                </a:solidFill>
                <a:latin typeface="DejaVu Sans"/>
              </a:rPr>
              <a:t>NV-C1-S16</a:t>
            </a:r>
          </a:p>
        </p:txBody>
      </p:sp>
      <p:sp>
        <p:nvSpPr>
          <p:cNvPr id="302" name="Rectangle 301"/>
          <p:cNvSpPr/>
          <p:nvPr/>
        </p:nvSpPr>
        <p:spPr>
          <a:xfrm>
            <a:off x="20756880" y="8778240"/>
            <a:ext cx="493776" cy="548640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TextBox 302"/>
          <p:cNvSpPr txBox="1"/>
          <p:nvPr/>
        </p:nvSpPr>
        <p:spPr>
          <a:xfrm>
            <a:off x="10945368" y="8851392"/>
            <a:ext cx="2011680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19">
                <a:solidFill>
                  <a:srgbClr val="202020"/>
                </a:solidFill>
                <a:latin typeface="DejaVu Sans"/>
              </a:rPr>
              <a:t>NVSwitch</a:t>
            </a:r>
          </a:p>
        </p:txBody>
      </p:sp>
      <p:sp>
        <p:nvSpPr>
          <p:cNvPr id="304" name="TextBox 303"/>
          <p:cNvSpPr txBox="1"/>
          <p:nvPr/>
        </p:nvSpPr>
        <p:spPr>
          <a:xfrm>
            <a:off x="10945368" y="8965692"/>
            <a:ext cx="2011680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19">
                <a:solidFill>
                  <a:srgbClr val="202020"/>
                </a:solidFill>
                <a:latin typeface="DejaVu Sans"/>
              </a:rPr>
              <a:t>NV-C1-S17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11951208" y="10424160"/>
            <a:ext cx="2971800" cy="1143000"/>
          </a:xfrm>
          <a:prstGeom prst="rect">
            <a:avLst/>
          </a:prstGeom>
          <a:solidFill>
            <a:srgbClr val="FFFFFF"/>
          </a:solidFill>
          <a:ln w="9144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TextBox 305"/>
          <p:cNvSpPr txBox="1"/>
          <p:nvPr/>
        </p:nvSpPr>
        <p:spPr>
          <a:xfrm>
            <a:off x="3383280" y="10488168"/>
            <a:ext cx="20116800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96">
                <a:solidFill>
                  <a:srgbClr val="202020"/>
                </a:solidFill>
                <a:latin typeface="DejaVu Sans"/>
              </a:rPr>
              <a:t>Compute Tray 0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12033504" y="10835640"/>
            <a:ext cx="621792" cy="45720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TextBox 307"/>
          <p:cNvSpPr txBox="1"/>
          <p:nvPr/>
        </p:nvSpPr>
        <p:spPr>
          <a:xfrm>
            <a:off x="2286000" y="10908792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309" name="TextBox 308"/>
          <p:cNvSpPr txBox="1"/>
          <p:nvPr/>
        </p:nvSpPr>
        <p:spPr>
          <a:xfrm>
            <a:off x="2286000" y="11068812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r72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12719304" y="10835640"/>
            <a:ext cx="621792" cy="45720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TextBox 310"/>
          <p:cNvSpPr txBox="1"/>
          <p:nvPr/>
        </p:nvSpPr>
        <p:spPr>
          <a:xfrm>
            <a:off x="2971800" y="10908792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312" name="TextBox 311"/>
          <p:cNvSpPr txBox="1"/>
          <p:nvPr/>
        </p:nvSpPr>
        <p:spPr>
          <a:xfrm>
            <a:off x="2971800" y="11068812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r73</a:t>
            </a:r>
          </a:p>
        </p:txBody>
      </p:sp>
      <p:sp>
        <p:nvSpPr>
          <p:cNvPr id="313" name="Rectangle 312"/>
          <p:cNvSpPr/>
          <p:nvPr/>
        </p:nvSpPr>
        <p:spPr>
          <a:xfrm>
            <a:off x="13405104" y="10835640"/>
            <a:ext cx="621792" cy="45720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TextBox 313"/>
          <p:cNvSpPr txBox="1"/>
          <p:nvPr/>
        </p:nvSpPr>
        <p:spPr>
          <a:xfrm>
            <a:off x="3657600" y="10908792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315" name="TextBox 314"/>
          <p:cNvSpPr txBox="1"/>
          <p:nvPr/>
        </p:nvSpPr>
        <p:spPr>
          <a:xfrm>
            <a:off x="3657600" y="11068812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r74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14090904" y="10835640"/>
            <a:ext cx="621792" cy="45720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TextBox 316"/>
          <p:cNvSpPr txBox="1"/>
          <p:nvPr/>
        </p:nvSpPr>
        <p:spPr>
          <a:xfrm>
            <a:off x="4343400" y="10908792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318" name="TextBox 317"/>
          <p:cNvSpPr txBox="1"/>
          <p:nvPr/>
        </p:nvSpPr>
        <p:spPr>
          <a:xfrm>
            <a:off x="4343400" y="11068812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r75</a:t>
            </a:r>
          </a:p>
        </p:txBody>
      </p:sp>
      <p:sp>
        <p:nvSpPr>
          <p:cNvPr id="319" name="Rectangle 318"/>
          <p:cNvSpPr/>
          <p:nvPr/>
        </p:nvSpPr>
        <p:spPr>
          <a:xfrm>
            <a:off x="15151608" y="10424160"/>
            <a:ext cx="2971800" cy="1143000"/>
          </a:xfrm>
          <a:prstGeom prst="rect">
            <a:avLst/>
          </a:prstGeom>
          <a:solidFill>
            <a:srgbClr val="FFFFFF"/>
          </a:solidFill>
          <a:ln w="9144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TextBox 319"/>
          <p:cNvSpPr txBox="1"/>
          <p:nvPr/>
        </p:nvSpPr>
        <p:spPr>
          <a:xfrm>
            <a:off x="6583680" y="10488168"/>
            <a:ext cx="20116800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96">
                <a:solidFill>
                  <a:srgbClr val="202020"/>
                </a:solidFill>
                <a:latin typeface="DejaVu Sans"/>
              </a:rPr>
              <a:t>Compute Tray 1</a:t>
            </a:r>
          </a:p>
        </p:txBody>
      </p:sp>
      <p:sp>
        <p:nvSpPr>
          <p:cNvPr id="321" name="Rectangle 320"/>
          <p:cNvSpPr/>
          <p:nvPr/>
        </p:nvSpPr>
        <p:spPr>
          <a:xfrm>
            <a:off x="15233904" y="10835640"/>
            <a:ext cx="621792" cy="45720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TextBox 321"/>
          <p:cNvSpPr txBox="1"/>
          <p:nvPr/>
        </p:nvSpPr>
        <p:spPr>
          <a:xfrm>
            <a:off x="5486400" y="10908792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486400" y="11068812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r76</a:t>
            </a:r>
          </a:p>
        </p:txBody>
      </p:sp>
      <p:sp>
        <p:nvSpPr>
          <p:cNvPr id="324" name="Rectangle 323"/>
          <p:cNvSpPr/>
          <p:nvPr/>
        </p:nvSpPr>
        <p:spPr>
          <a:xfrm>
            <a:off x="15919704" y="10835640"/>
            <a:ext cx="621792" cy="45720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TextBox 324"/>
          <p:cNvSpPr txBox="1"/>
          <p:nvPr/>
        </p:nvSpPr>
        <p:spPr>
          <a:xfrm>
            <a:off x="6172200" y="10908792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326" name="TextBox 325"/>
          <p:cNvSpPr txBox="1"/>
          <p:nvPr/>
        </p:nvSpPr>
        <p:spPr>
          <a:xfrm>
            <a:off x="6172200" y="11068812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r77</a:t>
            </a:r>
          </a:p>
        </p:txBody>
      </p:sp>
      <p:sp>
        <p:nvSpPr>
          <p:cNvPr id="327" name="Rectangle 326"/>
          <p:cNvSpPr/>
          <p:nvPr/>
        </p:nvSpPr>
        <p:spPr>
          <a:xfrm>
            <a:off x="16605504" y="10835640"/>
            <a:ext cx="621792" cy="45720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TextBox 327"/>
          <p:cNvSpPr txBox="1"/>
          <p:nvPr/>
        </p:nvSpPr>
        <p:spPr>
          <a:xfrm>
            <a:off x="6858000" y="10908792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329" name="TextBox 328"/>
          <p:cNvSpPr txBox="1"/>
          <p:nvPr/>
        </p:nvSpPr>
        <p:spPr>
          <a:xfrm>
            <a:off x="6858000" y="11068812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r78</a:t>
            </a:r>
          </a:p>
        </p:txBody>
      </p:sp>
      <p:sp>
        <p:nvSpPr>
          <p:cNvPr id="330" name="Rectangle 329"/>
          <p:cNvSpPr/>
          <p:nvPr/>
        </p:nvSpPr>
        <p:spPr>
          <a:xfrm>
            <a:off x="17291304" y="10835640"/>
            <a:ext cx="621792" cy="45720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TextBox 330"/>
          <p:cNvSpPr txBox="1"/>
          <p:nvPr/>
        </p:nvSpPr>
        <p:spPr>
          <a:xfrm>
            <a:off x="7543800" y="10908792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332" name="TextBox 331"/>
          <p:cNvSpPr txBox="1"/>
          <p:nvPr/>
        </p:nvSpPr>
        <p:spPr>
          <a:xfrm>
            <a:off x="7543800" y="11068812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r79</a:t>
            </a:r>
          </a:p>
        </p:txBody>
      </p:sp>
      <p:sp>
        <p:nvSpPr>
          <p:cNvPr id="333" name="Rectangle 332"/>
          <p:cNvSpPr/>
          <p:nvPr/>
        </p:nvSpPr>
        <p:spPr>
          <a:xfrm>
            <a:off x="18352008" y="10424160"/>
            <a:ext cx="2971800" cy="1143000"/>
          </a:xfrm>
          <a:prstGeom prst="rect">
            <a:avLst/>
          </a:prstGeom>
          <a:solidFill>
            <a:srgbClr val="FFFFFF"/>
          </a:solidFill>
          <a:ln w="9144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TextBox 333"/>
          <p:cNvSpPr txBox="1"/>
          <p:nvPr/>
        </p:nvSpPr>
        <p:spPr>
          <a:xfrm>
            <a:off x="9784080" y="10488168"/>
            <a:ext cx="20116800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96">
                <a:solidFill>
                  <a:srgbClr val="202020"/>
                </a:solidFill>
                <a:latin typeface="DejaVu Sans"/>
              </a:rPr>
              <a:t>Compute Tray 17</a:t>
            </a:r>
          </a:p>
        </p:txBody>
      </p:sp>
      <p:sp>
        <p:nvSpPr>
          <p:cNvPr id="335" name="Rectangle 334"/>
          <p:cNvSpPr/>
          <p:nvPr/>
        </p:nvSpPr>
        <p:spPr>
          <a:xfrm>
            <a:off x="18434304" y="10835640"/>
            <a:ext cx="621792" cy="45720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TextBox 335"/>
          <p:cNvSpPr txBox="1"/>
          <p:nvPr/>
        </p:nvSpPr>
        <p:spPr>
          <a:xfrm>
            <a:off x="8686800" y="10908792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8686800" y="11068812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r140</a:t>
            </a:r>
          </a:p>
        </p:txBody>
      </p:sp>
      <p:sp>
        <p:nvSpPr>
          <p:cNvPr id="338" name="Rectangle 337"/>
          <p:cNvSpPr/>
          <p:nvPr/>
        </p:nvSpPr>
        <p:spPr>
          <a:xfrm>
            <a:off x="19120104" y="10835640"/>
            <a:ext cx="621792" cy="45720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TextBox 338"/>
          <p:cNvSpPr txBox="1"/>
          <p:nvPr/>
        </p:nvSpPr>
        <p:spPr>
          <a:xfrm>
            <a:off x="9372600" y="10908792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9372600" y="11068812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r141</a:t>
            </a:r>
          </a:p>
        </p:txBody>
      </p:sp>
      <p:sp>
        <p:nvSpPr>
          <p:cNvPr id="341" name="Rectangle 340"/>
          <p:cNvSpPr/>
          <p:nvPr/>
        </p:nvSpPr>
        <p:spPr>
          <a:xfrm>
            <a:off x="19805904" y="10835640"/>
            <a:ext cx="621792" cy="45720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TextBox 341"/>
          <p:cNvSpPr txBox="1"/>
          <p:nvPr/>
        </p:nvSpPr>
        <p:spPr>
          <a:xfrm>
            <a:off x="10058400" y="10908792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10058400" y="11068812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r142</a:t>
            </a:r>
          </a:p>
        </p:txBody>
      </p:sp>
      <p:sp>
        <p:nvSpPr>
          <p:cNvPr id="344" name="Rectangle 343"/>
          <p:cNvSpPr/>
          <p:nvPr/>
        </p:nvSpPr>
        <p:spPr>
          <a:xfrm>
            <a:off x="20491704" y="10835640"/>
            <a:ext cx="621792" cy="45720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TextBox 344"/>
          <p:cNvSpPr txBox="1"/>
          <p:nvPr/>
        </p:nvSpPr>
        <p:spPr>
          <a:xfrm>
            <a:off x="10744200" y="10908792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10744200" y="11068812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r143</a:t>
            </a:r>
          </a:p>
        </p:txBody>
      </p:sp>
      <p:cxnSp>
        <p:nvCxnSpPr>
          <p:cNvPr id="347" name="Connector 346"/>
          <p:cNvCxnSpPr/>
          <p:nvPr/>
        </p:nvCxnSpPr>
        <p:spPr>
          <a:xfrm flipH="1" flipV="1">
            <a:off x="859536" y="9326880"/>
            <a:ext cx="512064" cy="1481328"/>
          </a:xfrm>
          <a:prstGeom prst="line">
            <a:avLst/>
          </a:prstGeom>
          <a:ln w="27432">
            <a:solidFill>
              <a:srgbClr val="D64B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8" name="Connector 347"/>
          <p:cNvCxnSpPr/>
          <p:nvPr/>
        </p:nvCxnSpPr>
        <p:spPr>
          <a:xfrm flipV="1">
            <a:off x="1371600" y="9326880"/>
            <a:ext cx="27432" cy="1481328"/>
          </a:xfrm>
          <a:prstGeom prst="line">
            <a:avLst/>
          </a:prstGeom>
          <a:ln w="27432">
            <a:solidFill>
              <a:srgbClr val="D64B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" name="Connector 348"/>
          <p:cNvCxnSpPr/>
          <p:nvPr/>
        </p:nvCxnSpPr>
        <p:spPr>
          <a:xfrm flipV="1">
            <a:off x="1371600" y="9326880"/>
            <a:ext cx="566928" cy="1481328"/>
          </a:xfrm>
          <a:prstGeom prst="line">
            <a:avLst/>
          </a:prstGeom>
          <a:ln w="27432">
            <a:solidFill>
              <a:srgbClr val="D64B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" name="Connector 349"/>
          <p:cNvCxnSpPr/>
          <p:nvPr/>
        </p:nvCxnSpPr>
        <p:spPr>
          <a:xfrm flipV="1">
            <a:off x="1371600" y="9326880"/>
            <a:ext cx="1106424" cy="1481328"/>
          </a:xfrm>
          <a:prstGeom prst="line">
            <a:avLst/>
          </a:prstGeom>
          <a:ln w="27432">
            <a:solidFill>
              <a:srgbClr val="D64B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" name="Connector 350"/>
          <p:cNvCxnSpPr/>
          <p:nvPr/>
        </p:nvCxnSpPr>
        <p:spPr>
          <a:xfrm flipV="1">
            <a:off x="1371600" y="9326880"/>
            <a:ext cx="1645920" cy="1481328"/>
          </a:xfrm>
          <a:prstGeom prst="line">
            <a:avLst/>
          </a:prstGeom>
          <a:ln w="27432">
            <a:solidFill>
              <a:srgbClr val="D64B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" name="Connector 351"/>
          <p:cNvCxnSpPr/>
          <p:nvPr/>
        </p:nvCxnSpPr>
        <p:spPr>
          <a:xfrm flipV="1">
            <a:off x="1371600" y="9326880"/>
            <a:ext cx="2185416" cy="1481328"/>
          </a:xfrm>
          <a:prstGeom prst="line">
            <a:avLst/>
          </a:prstGeom>
          <a:ln w="27432">
            <a:solidFill>
              <a:srgbClr val="D64B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" name="Connector 352"/>
          <p:cNvCxnSpPr/>
          <p:nvPr/>
        </p:nvCxnSpPr>
        <p:spPr>
          <a:xfrm flipV="1">
            <a:off x="1371600" y="9326880"/>
            <a:ext cx="2724912" cy="1481328"/>
          </a:xfrm>
          <a:prstGeom prst="line">
            <a:avLst/>
          </a:prstGeom>
          <a:ln w="27432">
            <a:solidFill>
              <a:srgbClr val="D64B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" name="Connector 353"/>
          <p:cNvCxnSpPr/>
          <p:nvPr/>
        </p:nvCxnSpPr>
        <p:spPr>
          <a:xfrm flipV="1">
            <a:off x="1371600" y="9326880"/>
            <a:ext cx="3264408" cy="1481328"/>
          </a:xfrm>
          <a:prstGeom prst="line">
            <a:avLst/>
          </a:prstGeom>
          <a:ln w="27432">
            <a:solidFill>
              <a:srgbClr val="D64B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" name="Connector 354"/>
          <p:cNvCxnSpPr/>
          <p:nvPr/>
        </p:nvCxnSpPr>
        <p:spPr>
          <a:xfrm flipV="1">
            <a:off x="1371600" y="9326880"/>
            <a:ext cx="3803904" cy="1481328"/>
          </a:xfrm>
          <a:prstGeom prst="line">
            <a:avLst/>
          </a:prstGeom>
          <a:ln w="27432">
            <a:solidFill>
              <a:srgbClr val="D64B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" name="Connector 355"/>
          <p:cNvCxnSpPr/>
          <p:nvPr/>
        </p:nvCxnSpPr>
        <p:spPr>
          <a:xfrm flipV="1">
            <a:off x="1371600" y="9326880"/>
            <a:ext cx="4343400" cy="1481328"/>
          </a:xfrm>
          <a:prstGeom prst="line">
            <a:avLst/>
          </a:prstGeom>
          <a:ln w="27432">
            <a:solidFill>
              <a:srgbClr val="D64B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7" name="Connector 356"/>
          <p:cNvCxnSpPr/>
          <p:nvPr/>
        </p:nvCxnSpPr>
        <p:spPr>
          <a:xfrm flipV="1">
            <a:off x="1371600" y="9326880"/>
            <a:ext cx="4882896" cy="1481328"/>
          </a:xfrm>
          <a:prstGeom prst="line">
            <a:avLst/>
          </a:prstGeom>
          <a:ln w="27432">
            <a:solidFill>
              <a:srgbClr val="D64B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8" name="Connector 357"/>
          <p:cNvCxnSpPr/>
          <p:nvPr/>
        </p:nvCxnSpPr>
        <p:spPr>
          <a:xfrm flipV="1">
            <a:off x="1371600" y="9326880"/>
            <a:ext cx="5422392" cy="1481328"/>
          </a:xfrm>
          <a:prstGeom prst="line">
            <a:avLst/>
          </a:prstGeom>
          <a:ln w="27432">
            <a:solidFill>
              <a:srgbClr val="D64B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9" name="Connector 358"/>
          <p:cNvCxnSpPr/>
          <p:nvPr/>
        </p:nvCxnSpPr>
        <p:spPr>
          <a:xfrm flipV="1">
            <a:off x="1371600" y="9326880"/>
            <a:ext cx="5961888" cy="1481328"/>
          </a:xfrm>
          <a:prstGeom prst="line">
            <a:avLst/>
          </a:prstGeom>
          <a:ln w="27432">
            <a:solidFill>
              <a:srgbClr val="D64B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0" name="Connector 359"/>
          <p:cNvCxnSpPr/>
          <p:nvPr/>
        </p:nvCxnSpPr>
        <p:spPr>
          <a:xfrm flipV="1">
            <a:off x="1371600" y="9326880"/>
            <a:ext cx="6501383" cy="1481328"/>
          </a:xfrm>
          <a:prstGeom prst="line">
            <a:avLst/>
          </a:prstGeom>
          <a:ln w="27432">
            <a:solidFill>
              <a:srgbClr val="D64B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1" name="Connector 360"/>
          <p:cNvCxnSpPr/>
          <p:nvPr/>
        </p:nvCxnSpPr>
        <p:spPr>
          <a:xfrm flipV="1">
            <a:off x="1371600" y="9326880"/>
            <a:ext cx="7040880" cy="1481328"/>
          </a:xfrm>
          <a:prstGeom prst="line">
            <a:avLst/>
          </a:prstGeom>
          <a:ln w="27432">
            <a:solidFill>
              <a:srgbClr val="D64B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2" name="Connector 361"/>
          <p:cNvCxnSpPr/>
          <p:nvPr/>
        </p:nvCxnSpPr>
        <p:spPr>
          <a:xfrm flipV="1">
            <a:off x="1371600" y="9326880"/>
            <a:ext cx="7580376" cy="1481328"/>
          </a:xfrm>
          <a:prstGeom prst="line">
            <a:avLst/>
          </a:prstGeom>
          <a:ln w="27432">
            <a:solidFill>
              <a:srgbClr val="D64B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3" name="Connector 362"/>
          <p:cNvCxnSpPr/>
          <p:nvPr/>
        </p:nvCxnSpPr>
        <p:spPr>
          <a:xfrm flipV="1">
            <a:off x="1371600" y="9326880"/>
            <a:ext cx="8119872" cy="1481328"/>
          </a:xfrm>
          <a:prstGeom prst="line">
            <a:avLst/>
          </a:prstGeom>
          <a:ln w="27432">
            <a:solidFill>
              <a:srgbClr val="D64B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4" name="Connector 363"/>
          <p:cNvCxnSpPr/>
          <p:nvPr/>
        </p:nvCxnSpPr>
        <p:spPr>
          <a:xfrm flipV="1">
            <a:off x="1371600" y="9326880"/>
            <a:ext cx="8659368" cy="1481328"/>
          </a:xfrm>
          <a:prstGeom prst="line">
            <a:avLst/>
          </a:prstGeom>
          <a:ln w="27432">
            <a:solidFill>
              <a:srgbClr val="D64B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5" name="Connector 364"/>
          <p:cNvCxnSpPr/>
          <p:nvPr/>
        </p:nvCxnSpPr>
        <p:spPr>
          <a:xfrm flipH="1" flipV="1">
            <a:off x="182880" y="10149840"/>
            <a:ext cx="1188720" cy="658368"/>
          </a:xfrm>
          <a:prstGeom prst="line">
            <a:avLst/>
          </a:prstGeom>
          <a:ln w="36576">
            <a:solidFill>
              <a:srgbClr val="267A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6" name="Connector 365"/>
          <p:cNvCxnSpPr/>
          <p:nvPr/>
        </p:nvCxnSpPr>
        <p:spPr>
          <a:xfrm flipV="1">
            <a:off x="182880" y="5943600"/>
            <a:ext cx="0" cy="4206240"/>
          </a:xfrm>
          <a:prstGeom prst="line">
            <a:avLst/>
          </a:prstGeom>
          <a:ln w="36576">
            <a:solidFill>
              <a:srgbClr val="267A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7" name="Connector 366"/>
          <p:cNvCxnSpPr/>
          <p:nvPr/>
        </p:nvCxnSpPr>
        <p:spPr>
          <a:xfrm flipV="1">
            <a:off x="182880" y="5532120"/>
            <a:ext cx="1600200" cy="411480"/>
          </a:xfrm>
          <a:prstGeom prst="line">
            <a:avLst/>
          </a:prstGeom>
          <a:ln w="36576">
            <a:solidFill>
              <a:srgbClr val="267A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8" name="Rectangle 367"/>
          <p:cNvSpPr/>
          <p:nvPr/>
        </p:nvSpPr>
        <p:spPr>
          <a:xfrm>
            <a:off x="36576" y="7680960"/>
            <a:ext cx="1005840" cy="658368"/>
          </a:xfrm>
          <a:prstGeom prst="rect">
            <a:avLst/>
          </a:prstGeom>
          <a:solidFill>
            <a:srgbClr val="E7EFFB"/>
          </a:solidFill>
          <a:ln w="18288">
            <a:solidFill>
              <a:srgbClr val="267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TextBox 368"/>
          <p:cNvSpPr txBox="1"/>
          <p:nvPr/>
        </p:nvSpPr>
        <p:spPr>
          <a:xfrm>
            <a:off x="-9518904" y="7754112"/>
            <a:ext cx="20116800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96">
                <a:solidFill>
                  <a:srgbClr val="202020"/>
                </a:solidFill>
                <a:latin typeface="DejaVu Sans"/>
              </a:rPr>
              <a:t>CX-7</a:t>
            </a:r>
          </a:p>
        </p:txBody>
      </p:sp>
      <p:sp>
        <p:nvSpPr>
          <p:cNvPr id="370" name="TextBox 369"/>
          <p:cNvSpPr txBox="1"/>
          <p:nvPr/>
        </p:nvSpPr>
        <p:spPr>
          <a:xfrm>
            <a:off x="-9518904" y="7959852"/>
            <a:ext cx="20116800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96">
                <a:solidFill>
                  <a:srgbClr val="202020"/>
                </a:solidFill>
                <a:latin typeface="DejaVu Sans"/>
              </a:rPr>
              <a:t>400G</a:t>
            </a:r>
          </a:p>
        </p:txBody>
      </p:sp>
      <p:sp>
        <p:nvSpPr>
          <p:cNvPr id="371" name="Rectangle 370"/>
          <p:cNvSpPr/>
          <p:nvPr/>
        </p:nvSpPr>
        <p:spPr>
          <a:xfrm>
            <a:off x="1060704" y="10835640"/>
            <a:ext cx="621792" cy="457200"/>
          </a:xfrm>
          <a:prstGeom prst="rect">
            <a:avLst/>
          </a:prstGeom>
          <a:solidFill>
            <a:srgbClr val="FFE5D8"/>
          </a:solidFill>
          <a:ln w="18288">
            <a:solidFill>
              <a:srgbClr val="D64B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TextBox 371"/>
          <p:cNvSpPr txBox="1"/>
          <p:nvPr/>
        </p:nvSpPr>
        <p:spPr>
          <a:xfrm>
            <a:off x="-8686800" y="10908792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373" name="TextBox 372"/>
          <p:cNvSpPr txBox="1"/>
          <p:nvPr/>
        </p:nvSpPr>
        <p:spPr>
          <a:xfrm>
            <a:off x="-8686800" y="11068812"/>
            <a:ext cx="2011680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8">
                <a:solidFill>
                  <a:srgbClr val="202020"/>
                </a:solidFill>
                <a:latin typeface="DejaVu Sans"/>
              </a:rPr>
              <a:t>r0</a:t>
            </a:r>
          </a:p>
        </p:txBody>
      </p:sp>
      <p:sp>
        <p:nvSpPr>
          <p:cNvPr id="374" name="TextBox 373"/>
          <p:cNvSpPr txBox="1"/>
          <p:nvPr/>
        </p:nvSpPr>
        <p:spPr>
          <a:xfrm>
            <a:off x="-4251960" y="11841480"/>
            <a:ext cx="201168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84">
                <a:solidFill>
                  <a:srgbClr val="D64B28"/>
                </a:solidFill>
                <a:latin typeface="DejaVu Sans"/>
              </a:rPr>
              <a:t>r0: 18 NVLink connections, each 50 GB/s</a:t>
            </a:r>
          </a:p>
        </p:txBody>
      </p:sp>
      <p:sp>
        <p:nvSpPr>
          <p:cNvPr id="375" name="TextBox 374"/>
          <p:cNvSpPr txBox="1"/>
          <p:nvPr/>
        </p:nvSpPr>
        <p:spPr>
          <a:xfrm>
            <a:off x="6263640" y="11841480"/>
            <a:ext cx="20116800" cy="2880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12">
                <a:solidFill>
                  <a:srgbClr val="202020"/>
                </a:solidFill>
                <a:latin typeface="DejaVu Sans"/>
              </a:rPr>
              <a:t>All other GPUs have the same connection pattern</a:t>
            </a:r>
          </a:p>
        </p:txBody>
      </p:sp>
      <p:sp>
        <p:nvSpPr>
          <p:cNvPr id="376" name="Rectangle 375"/>
          <p:cNvSpPr/>
          <p:nvPr/>
        </p:nvSpPr>
        <p:spPr>
          <a:xfrm>
            <a:off x="731520" y="6391656"/>
            <a:ext cx="20482560" cy="3291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TextBox 376"/>
          <p:cNvSpPr txBox="1"/>
          <p:nvPr/>
        </p:nvSpPr>
        <p:spPr>
          <a:xfrm>
            <a:off x="914400" y="6446520"/>
            <a:ext cx="20116800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655">
                <a:solidFill>
                  <a:srgbClr val="202020"/>
                </a:solidFill>
                <a:latin typeface="DejaVu Sans"/>
              </a:rPr>
              <a:t>All Leaves connect to all 9 shared Spines. Each Leaf-Spine pair: 2 x 400 Gb/s = 100 GB/s per direction.</a:t>
            </a:r>
          </a:p>
        </p:txBody>
      </p:sp>
      <p:sp>
        <p:nvSpPr>
          <p:cNvPr id="378" name="TextBox 377"/>
          <p:cNvSpPr txBox="1"/>
          <p:nvPr/>
        </p:nvSpPr>
        <p:spPr>
          <a:xfrm>
            <a:off x="548640" y="12161520"/>
            <a:ext cx="2139696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84">
                <a:solidFill>
                  <a:srgbClr val="202020"/>
                </a:solidFill>
                <a:latin typeface="DejaVu Sans"/>
              </a:rPr>
              <a:t>Highlighted r0: orange = 18 NVLinks; blue = 1 NIC/Leaf uplink. Other GPU connections omitted on this overview.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21396960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79">
                <a:solidFill>
                  <a:srgbClr val="202020"/>
                </a:solidFill>
                <a:latin typeface="DejaVu Sans"/>
              </a:rPr>
              <a:t>Inside Rack 0: all 72 GPUs connect to all 18 NVSwitch 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2139696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28">
                <a:solidFill>
                  <a:srgbClr val="202020"/>
                </a:solidFill>
                <a:latin typeface="DejaVu Sans"/>
              </a:rPr>
              <a:t>18 compute trays x 4 GPUs. 9 NVLink switch trays x 2 ASICs. Every GPU-ASIC link is drawn.</a:t>
            </a:r>
          </a:p>
        </p:txBody>
      </p:sp>
      <p:cxnSp>
        <p:nvCxnSpPr>
          <p:cNvPr id="4" name="Connector 3"/>
          <p:cNvCxnSpPr/>
          <p:nvPr/>
        </p:nvCxnSpPr>
        <p:spPr>
          <a:xfrm flipH="1">
            <a:off x="868680" y="3154680"/>
            <a:ext cx="100584" cy="4480560"/>
          </a:xfrm>
          <a:prstGeom prst="line">
            <a:avLst/>
          </a:prstGeom>
          <a:ln w="27432">
            <a:solidFill>
              <a:srgbClr val="D64B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69264" y="3154680"/>
            <a:ext cx="704088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69264" y="3154680"/>
            <a:ext cx="1508760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69264" y="3154680"/>
            <a:ext cx="2313432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69264" y="3154680"/>
            <a:ext cx="3465576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69264" y="3154680"/>
            <a:ext cx="4270248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69264" y="3154680"/>
            <a:ext cx="5074920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69264" y="3154680"/>
            <a:ext cx="5879592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69264" y="3154680"/>
            <a:ext cx="7031736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69264" y="3154680"/>
            <a:ext cx="7836408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69264" y="3154680"/>
            <a:ext cx="8641080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69264" y="3154680"/>
            <a:ext cx="9445752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69264" y="3154680"/>
            <a:ext cx="10597896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69264" y="3154680"/>
            <a:ext cx="11402568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69264" y="3154680"/>
            <a:ext cx="12207240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69264" y="3154680"/>
            <a:ext cx="13011912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69264" y="3154680"/>
            <a:ext cx="14164056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69264" y="3154680"/>
            <a:ext cx="14968728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69264" y="3154680"/>
            <a:ext cx="15773399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69264" y="3154680"/>
            <a:ext cx="16578072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69264" y="3154680"/>
            <a:ext cx="17730216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69264" y="3154680"/>
            <a:ext cx="18534888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69264" y="3154680"/>
            <a:ext cx="19339560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69264" y="3154680"/>
            <a:ext cx="20144232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868680" y="3154680"/>
            <a:ext cx="100584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69264" y="3154680"/>
            <a:ext cx="704088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69264" y="3154680"/>
            <a:ext cx="1508760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69264" y="3154680"/>
            <a:ext cx="2313432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69264" y="3154680"/>
            <a:ext cx="3465576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69264" y="3154680"/>
            <a:ext cx="4270248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69264" y="3154680"/>
            <a:ext cx="5074920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69264" y="3154680"/>
            <a:ext cx="5879592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69264" y="3154680"/>
            <a:ext cx="7031736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969264" y="3154680"/>
            <a:ext cx="7836408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969264" y="3154680"/>
            <a:ext cx="8641080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69264" y="3154680"/>
            <a:ext cx="9445752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69264" y="3154680"/>
            <a:ext cx="10597896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69264" y="3154680"/>
            <a:ext cx="11402568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69264" y="3154680"/>
            <a:ext cx="12207240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969264" y="3154680"/>
            <a:ext cx="13011912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69264" y="3154680"/>
            <a:ext cx="14164056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69264" y="3154680"/>
            <a:ext cx="14968728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69264" y="3154680"/>
            <a:ext cx="15773399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69264" y="3154680"/>
            <a:ext cx="16578072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69264" y="3154680"/>
            <a:ext cx="17730216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969264" y="3154680"/>
            <a:ext cx="18534888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69264" y="3154680"/>
            <a:ext cx="19339560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69264" y="3154680"/>
            <a:ext cx="20144232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868680" y="3154680"/>
            <a:ext cx="100584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69264" y="3154680"/>
            <a:ext cx="704088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969264" y="3154680"/>
            <a:ext cx="1508760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69264" y="3154680"/>
            <a:ext cx="2313432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69264" y="3154680"/>
            <a:ext cx="3465576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69264" y="3154680"/>
            <a:ext cx="4270248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969264" y="3154680"/>
            <a:ext cx="5074920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969264" y="3154680"/>
            <a:ext cx="5879592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969264" y="3154680"/>
            <a:ext cx="7031736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969264" y="3154680"/>
            <a:ext cx="7836408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969264" y="3154680"/>
            <a:ext cx="8641080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969264" y="3154680"/>
            <a:ext cx="9445752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969264" y="3154680"/>
            <a:ext cx="10597896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969264" y="3154680"/>
            <a:ext cx="11402568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969264" y="3154680"/>
            <a:ext cx="12207240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969264" y="3154680"/>
            <a:ext cx="13011912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969264" y="3154680"/>
            <a:ext cx="14164056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969264" y="3154680"/>
            <a:ext cx="14968728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969264" y="3154680"/>
            <a:ext cx="15773399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969264" y="3154680"/>
            <a:ext cx="16578072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969264" y="3154680"/>
            <a:ext cx="17730216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969264" y="3154680"/>
            <a:ext cx="18534888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969264" y="3154680"/>
            <a:ext cx="19339560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969264" y="3154680"/>
            <a:ext cx="20144232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H="1">
            <a:off x="868680" y="3154680"/>
            <a:ext cx="1271016" cy="4480560"/>
          </a:xfrm>
          <a:prstGeom prst="line">
            <a:avLst/>
          </a:prstGeom>
          <a:ln w="27432">
            <a:solidFill>
              <a:srgbClr val="D64B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H="1">
            <a:off x="1673352" y="3154680"/>
            <a:ext cx="466344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2139696" y="3154680"/>
            <a:ext cx="338328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2139696" y="3154680"/>
            <a:ext cx="1143000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2139696" y="3154680"/>
            <a:ext cx="2295144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2139696" y="3154680"/>
            <a:ext cx="3099816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2139696" y="3154680"/>
            <a:ext cx="3904488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2139696" y="3154680"/>
            <a:ext cx="4709160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2139696" y="3154680"/>
            <a:ext cx="5861304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2139696" y="3154680"/>
            <a:ext cx="6665976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2139696" y="3154680"/>
            <a:ext cx="7470648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2139696" y="3154680"/>
            <a:ext cx="8275320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2139696" y="3154680"/>
            <a:ext cx="9427464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2139696" y="3154680"/>
            <a:ext cx="10232136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2139696" y="3154680"/>
            <a:ext cx="11036808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2139696" y="3154680"/>
            <a:ext cx="11841480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2139696" y="3154680"/>
            <a:ext cx="12993624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2139696" y="3154680"/>
            <a:ext cx="13798296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2139696" y="3154680"/>
            <a:ext cx="14602967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2139696" y="3154680"/>
            <a:ext cx="15407640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2139696" y="3154680"/>
            <a:ext cx="16559784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2139696" y="3154680"/>
            <a:ext cx="17364456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2139696" y="3154680"/>
            <a:ext cx="18169128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2139696" y="3154680"/>
            <a:ext cx="18973800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H="1">
            <a:off x="868680" y="3154680"/>
            <a:ext cx="1271016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>
            <a:off x="1673352" y="3154680"/>
            <a:ext cx="466344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2139696" y="3154680"/>
            <a:ext cx="338328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2139696" y="3154680"/>
            <a:ext cx="1143000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2139696" y="3154680"/>
            <a:ext cx="2295144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2139696" y="3154680"/>
            <a:ext cx="3099816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2139696" y="3154680"/>
            <a:ext cx="3904488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2139696" y="3154680"/>
            <a:ext cx="4709160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2139696" y="3154680"/>
            <a:ext cx="5861304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2139696" y="3154680"/>
            <a:ext cx="6665976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2139696" y="3154680"/>
            <a:ext cx="7470648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2139696" y="3154680"/>
            <a:ext cx="8275320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2139696" y="3154680"/>
            <a:ext cx="9427464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2139696" y="3154680"/>
            <a:ext cx="10232136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2139696" y="3154680"/>
            <a:ext cx="11036808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2139696" y="3154680"/>
            <a:ext cx="11841480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2139696" y="3154680"/>
            <a:ext cx="12993624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2139696" y="3154680"/>
            <a:ext cx="13798296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2139696" y="3154680"/>
            <a:ext cx="14602967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2139696" y="3154680"/>
            <a:ext cx="15407640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2139696" y="3154680"/>
            <a:ext cx="16559784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2139696" y="3154680"/>
            <a:ext cx="17364456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2139696" y="3154680"/>
            <a:ext cx="18169128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2139696" y="3154680"/>
            <a:ext cx="18973800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H="1">
            <a:off x="868680" y="3154680"/>
            <a:ext cx="1271016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H="1">
            <a:off x="1673352" y="3154680"/>
            <a:ext cx="466344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2139696" y="3154680"/>
            <a:ext cx="338328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2139696" y="3154680"/>
            <a:ext cx="1143000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2139696" y="3154680"/>
            <a:ext cx="2295144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2139696" y="3154680"/>
            <a:ext cx="3099816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2139696" y="3154680"/>
            <a:ext cx="3904488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2139696" y="3154680"/>
            <a:ext cx="4709160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2139696" y="3154680"/>
            <a:ext cx="5861304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2139696" y="3154680"/>
            <a:ext cx="6665976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2139696" y="3154680"/>
            <a:ext cx="7470648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2139696" y="3154680"/>
            <a:ext cx="8275320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2139696" y="3154680"/>
            <a:ext cx="9427464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2139696" y="3154680"/>
            <a:ext cx="10232136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2139696" y="3154680"/>
            <a:ext cx="11036808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2139696" y="3154680"/>
            <a:ext cx="11841480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2139696" y="3154680"/>
            <a:ext cx="12993624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2139696" y="3154680"/>
            <a:ext cx="13798296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2139696" y="3154680"/>
            <a:ext cx="14602967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2139696" y="3154680"/>
            <a:ext cx="15407640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2139696" y="3154680"/>
            <a:ext cx="16559784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2139696" y="3154680"/>
            <a:ext cx="17364456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2139696" y="3154680"/>
            <a:ext cx="18169128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2139696" y="3154680"/>
            <a:ext cx="18973800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H="1">
            <a:off x="868680" y="3154680"/>
            <a:ext cx="2441448" cy="4480560"/>
          </a:xfrm>
          <a:prstGeom prst="line">
            <a:avLst/>
          </a:prstGeom>
          <a:ln w="27432">
            <a:solidFill>
              <a:srgbClr val="D64B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H="1">
            <a:off x="1673352" y="3154680"/>
            <a:ext cx="1636776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H="1">
            <a:off x="2478024" y="3154680"/>
            <a:ext cx="832104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H="1">
            <a:off x="3282696" y="3154680"/>
            <a:ext cx="27432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3310128" y="3154680"/>
            <a:ext cx="1124712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3310128" y="3154680"/>
            <a:ext cx="1929384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3310128" y="3154680"/>
            <a:ext cx="2734056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3310128" y="3154680"/>
            <a:ext cx="3538728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3310128" y="3154680"/>
            <a:ext cx="4690872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3310128" y="3154680"/>
            <a:ext cx="5495544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3310128" y="3154680"/>
            <a:ext cx="6300216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3310128" y="3154680"/>
            <a:ext cx="7104888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3310128" y="3154680"/>
            <a:ext cx="8257032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3310128" y="3154680"/>
            <a:ext cx="9061704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3310128" y="3154680"/>
            <a:ext cx="9866376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3310128" y="3154680"/>
            <a:ext cx="10671048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3310128" y="3154680"/>
            <a:ext cx="11823192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3310128" y="3154680"/>
            <a:ext cx="12627864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3310128" y="3154680"/>
            <a:ext cx="13432535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3310128" y="3154680"/>
            <a:ext cx="14237208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3310128" y="3154680"/>
            <a:ext cx="15389352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3310128" y="3154680"/>
            <a:ext cx="16194024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3310128" y="3154680"/>
            <a:ext cx="16998696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3310128" y="3154680"/>
            <a:ext cx="17803368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H="1">
            <a:off x="868680" y="3154680"/>
            <a:ext cx="2441448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H="1">
            <a:off x="1673352" y="3154680"/>
            <a:ext cx="1636776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H="1">
            <a:off x="2478024" y="3154680"/>
            <a:ext cx="832104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H="1">
            <a:off x="3282696" y="3154680"/>
            <a:ext cx="27432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3310128" y="3154680"/>
            <a:ext cx="1124712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3310128" y="3154680"/>
            <a:ext cx="1929384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3310128" y="3154680"/>
            <a:ext cx="2734056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3310128" y="3154680"/>
            <a:ext cx="3538728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3310128" y="3154680"/>
            <a:ext cx="4690872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3310128" y="3154680"/>
            <a:ext cx="5495544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3310128" y="3154680"/>
            <a:ext cx="6300216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>
            <a:off x="3310128" y="3154680"/>
            <a:ext cx="7104888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3310128" y="3154680"/>
            <a:ext cx="8257032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3310128" y="3154680"/>
            <a:ext cx="9061704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>
            <a:off x="3310128" y="3154680"/>
            <a:ext cx="9866376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>
            <a:off x="3310128" y="3154680"/>
            <a:ext cx="10671048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3310128" y="3154680"/>
            <a:ext cx="11823192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>
            <a:off x="3310128" y="3154680"/>
            <a:ext cx="12627864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>
            <a:off x="3310128" y="3154680"/>
            <a:ext cx="13432535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>
            <a:off x="3310128" y="3154680"/>
            <a:ext cx="14237208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3310128" y="3154680"/>
            <a:ext cx="15389352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3310128" y="3154680"/>
            <a:ext cx="16194024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3310128" y="3154680"/>
            <a:ext cx="16998696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3310128" y="3154680"/>
            <a:ext cx="17803368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H="1">
            <a:off x="868680" y="3154680"/>
            <a:ext cx="2441448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H="1">
            <a:off x="1673352" y="3154680"/>
            <a:ext cx="1636776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H="1">
            <a:off x="2478024" y="3154680"/>
            <a:ext cx="832104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H="1">
            <a:off x="3282696" y="3154680"/>
            <a:ext cx="27432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>
            <a:off x="3310128" y="3154680"/>
            <a:ext cx="1124712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>
            <a:off x="3310128" y="3154680"/>
            <a:ext cx="1929384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>
            <a:off x="3310128" y="3154680"/>
            <a:ext cx="2734056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3310128" y="3154680"/>
            <a:ext cx="3538728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3310128" y="3154680"/>
            <a:ext cx="4690872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3310128" y="3154680"/>
            <a:ext cx="5495544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3310128" y="3154680"/>
            <a:ext cx="6300216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3310128" y="3154680"/>
            <a:ext cx="7104888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3310128" y="3154680"/>
            <a:ext cx="8257032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3310128" y="3154680"/>
            <a:ext cx="9061704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3310128" y="3154680"/>
            <a:ext cx="9866376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3310128" y="3154680"/>
            <a:ext cx="10671048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3310128" y="3154680"/>
            <a:ext cx="11823192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3310128" y="3154680"/>
            <a:ext cx="12627864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3310128" y="3154680"/>
            <a:ext cx="13432535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3310128" y="3154680"/>
            <a:ext cx="14237208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3310128" y="3154680"/>
            <a:ext cx="15389352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>
            <a:off x="3310128" y="3154680"/>
            <a:ext cx="16194024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>
            <a:off x="3310128" y="3154680"/>
            <a:ext cx="16998696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>
            <a:off x="3310128" y="3154680"/>
            <a:ext cx="17803368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H="1">
            <a:off x="868680" y="3154680"/>
            <a:ext cx="3611880" cy="4480560"/>
          </a:xfrm>
          <a:prstGeom prst="line">
            <a:avLst/>
          </a:prstGeom>
          <a:ln w="27432">
            <a:solidFill>
              <a:srgbClr val="D64B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H="1">
            <a:off x="1673352" y="3154680"/>
            <a:ext cx="2807208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 flipH="1">
            <a:off x="2478024" y="3154680"/>
            <a:ext cx="2002536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 flipH="1">
            <a:off x="3282696" y="3154680"/>
            <a:ext cx="1197864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 flipH="1">
            <a:off x="4434840" y="3154680"/>
            <a:ext cx="45720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>
            <a:off x="4480560" y="3154680"/>
            <a:ext cx="758952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>
            <a:off x="4480560" y="3154680"/>
            <a:ext cx="1563624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>
            <a:off x="4480560" y="3154680"/>
            <a:ext cx="2368296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>
            <a:off x="4480560" y="3154680"/>
            <a:ext cx="3520440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>
            <a:off x="4480560" y="3154680"/>
            <a:ext cx="4325112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>
            <a:off x="4480560" y="3154680"/>
            <a:ext cx="5129784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>
            <a:off x="4480560" y="3154680"/>
            <a:ext cx="5934456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>
            <a:off x="4480560" y="3154680"/>
            <a:ext cx="7086600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>
            <a:off x="4480560" y="3154680"/>
            <a:ext cx="7891272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>
            <a:off x="4480560" y="3154680"/>
            <a:ext cx="8695944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>
            <a:off x="4480560" y="3154680"/>
            <a:ext cx="9500616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>
            <a:off x="4480560" y="3154680"/>
            <a:ext cx="10652760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>
            <a:off x="4480560" y="3154680"/>
            <a:ext cx="11457432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>
            <a:off x="4480560" y="3154680"/>
            <a:ext cx="12262103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>
            <a:off x="4480560" y="3154680"/>
            <a:ext cx="13066776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>
            <a:off x="4480560" y="3154680"/>
            <a:ext cx="14218920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>
            <a:off x="4480560" y="3154680"/>
            <a:ext cx="15023592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>
            <a:off x="4480560" y="3154680"/>
            <a:ext cx="15828264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>
            <a:off x="4480560" y="3154680"/>
            <a:ext cx="16632936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 flipH="1">
            <a:off x="868680" y="3154680"/>
            <a:ext cx="3611880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 flipH="1">
            <a:off x="1673352" y="3154680"/>
            <a:ext cx="2807208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 flipH="1">
            <a:off x="2478024" y="3154680"/>
            <a:ext cx="2002536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 flipH="1">
            <a:off x="3282696" y="3154680"/>
            <a:ext cx="1197864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 flipH="1">
            <a:off x="4434840" y="3154680"/>
            <a:ext cx="45720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 248"/>
          <p:cNvCxnSpPr/>
          <p:nvPr/>
        </p:nvCxnSpPr>
        <p:spPr>
          <a:xfrm>
            <a:off x="4480560" y="3154680"/>
            <a:ext cx="758952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>
            <a:off x="4480560" y="3154680"/>
            <a:ext cx="1563624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>
            <a:off x="4480560" y="3154680"/>
            <a:ext cx="2368296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>
            <a:off x="4480560" y="3154680"/>
            <a:ext cx="3520440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>
            <a:off x="4480560" y="3154680"/>
            <a:ext cx="4325112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>
            <a:off x="4480560" y="3154680"/>
            <a:ext cx="5129784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>
            <a:off x="4480560" y="3154680"/>
            <a:ext cx="5934456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>
            <a:off x="4480560" y="3154680"/>
            <a:ext cx="7086600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>
            <a:off x="4480560" y="3154680"/>
            <a:ext cx="7891272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>
            <a:off x="4480560" y="3154680"/>
            <a:ext cx="8695944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>
            <a:off x="4480560" y="3154680"/>
            <a:ext cx="9500616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>
            <a:off x="4480560" y="3154680"/>
            <a:ext cx="10652760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>
            <a:off x="4480560" y="3154680"/>
            <a:ext cx="11457432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>
            <a:off x="4480560" y="3154680"/>
            <a:ext cx="12262103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>
            <a:off x="4480560" y="3154680"/>
            <a:ext cx="13066776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>
            <a:off x="4480560" y="3154680"/>
            <a:ext cx="14218920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>
            <a:off x="4480560" y="3154680"/>
            <a:ext cx="15023592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>
            <a:off x="4480560" y="3154680"/>
            <a:ext cx="15828264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>
            <a:off x="4480560" y="3154680"/>
            <a:ext cx="16632936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 flipH="1">
            <a:off x="868680" y="3154680"/>
            <a:ext cx="3611880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 flipH="1">
            <a:off x="1673352" y="3154680"/>
            <a:ext cx="2807208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Connector 269"/>
          <p:cNvCxnSpPr/>
          <p:nvPr/>
        </p:nvCxnSpPr>
        <p:spPr>
          <a:xfrm flipH="1">
            <a:off x="2478024" y="3154680"/>
            <a:ext cx="2002536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Connector 270"/>
          <p:cNvCxnSpPr/>
          <p:nvPr/>
        </p:nvCxnSpPr>
        <p:spPr>
          <a:xfrm flipH="1">
            <a:off x="3282696" y="3154680"/>
            <a:ext cx="1197864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 271"/>
          <p:cNvCxnSpPr/>
          <p:nvPr/>
        </p:nvCxnSpPr>
        <p:spPr>
          <a:xfrm flipH="1">
            <a:off x="4434840" y="3154680"/>
            <a:ext cx="45720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>
            <a:off x="4480560" y="3154680"/>
            <a:ext cx="758952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Connector 273"/>
          <p:cNvCxnSpPr/>
          <p:nvPr/>
        </p:nvCxnSpPr>
        <p:spPr>
          <a:xfrm>
            <a:off x="4480560" y="3154680"/>
            <a:ext cx="1563624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Connector 274"/>
          <p:cNvCxnSpPr/>
          <p:nvPr/>
        </p:nvCxnSpPr>
        <p:spPr>
          <a:xfrm>
            <a:off x="4480560" y="3154680"/>
            <a:ext cx="2368296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>
            <a:off x="4480560" y="3154680"/>
            <a:ext cx="3520440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>
            <a:off x="4480560" y="3154680"/>
            <a:ext cx="4325112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Connector 277"/>
          <p:cNvCxnSpPr/>
          <p:nvPr/>
        </p:nvCxnSpPr>
        <p:spPr>
          <a:xfrm>
            <a:off x="4480560" y="3154680"/>
            <a:ext cx="5129784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Connector 278"/>
          <p:cNvCxnSpPr/>
          <p:nvPr/>
        </p:nvCxnSpPr>
        <p:spPr>
          <a:xfrm>
            <a:off x="4480560" y="3154680"/>
            <a:ext cx="5934456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>
            <a:off x="4480560" y="3154680"/>
            <a:ext cx="7086600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280"/>
          <p:cNvCxnSpPr/>
          <p:nvPr/>
        </p:nvCxnSpPr>
        <p:spPr>
          <a:xfrm>
            <a:off x="4480560" y="3154680"/>
            <a:ext cx="7891272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Connector 281"/>
          <p:cNvCxnSpPr/>
          <p:nvPr/>
        </p:nvCxnSpPr>
        <p:spPr>
          <a:xfrm>
            <a:off x="4480560" y="3154680"/>
            <a:ext cx="8695944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Connector 282"/>
          <p:cNvCxnSpPr/>
          <p:nvPr/>
        </p:nvCxnSpPr>
        <p:spPr>
          <a:xfrm>
            <a:off x="4480560" y="3154680"/>
            <a:ext cx="9500616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Connector 283"/>
          <p:cNvCxnSpPr/>
          <p:nvPr/>
        </p:nvCxnSpPr>
        <p:spPr>
          <a:xfrm>
            <a:off x="4480560" y="3154680"/>
            <a:ext cx="10652760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Connector 284"/>
          <p:cNvCxnSpPr/>
          <p:nvPr/>
        </p:nvCxnSpPr>
        <p:spPr>
          <a:xfrm>
            <a:off x="4480560" y="3154680"/>
            <a:ext cx="11457432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>
            <a:off x="4480560" y="3154680"/>
            <a:ext cx="12262103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286"/>
          <p:cNvCxnSpPr/>
          <p:nvPr/>
        </p:nvCxnSpPr>
        <p:spPr>
          <a:xfrm>
            <a:off x="4480560" y="3154680"/>
            <a:ext cx="13066776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Connector 287"/>
          <p:cNvCxnSpPr/>
          <p:nvPr/>
        </p:nvCxnSpPr>
        <p:spPr>
          <a:xfrm>
            <a:off x="4480560" y="3154680"/>
            <a:ext cx="14218920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Connector 288"/>
          <p:cNvCxnSpPr/>
          <p:nvPr/>
        </p:nvCxnSpPr>
        <p:spPr>
          <a:xfrm>
            <a:off x="4480560" y="3154680"/>
            <a:ext cx="15023592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 289"/>
          <p:cNvCxnSpPr/>
          <p:nvPr/>
        </p:nvCxnSpPr>
        <p:spPr>
          <a:xfrm>
            <a:off x="4480560" y="3154680"/>
            <a:ext cx="15828264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Connector 290"/>
          <p:cNvCxnSpPr/>
          <p:nvPr/>
        </p:nvCxnSpPr>
        <p:spPr>
          <a:xfrm>
            <a:off x="4480560" y="3154680"/>
            <a:ext cx="16632936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Connector 291"/>
          <p:cNvCxnSpPr/>
          <p:nvPr/>
        </p:nvCxnSpPr>
        <p:spPr>
          <a:xfrm flipH="1">
            <a:off x="868680" y="3154680"/>
            <a:ext cx="4782312" cy="4480560"/>
          </a:xfrm>
          <a:prstGeom prst="line">
            <a:avLst/>
          </a:prstGeom>
          <a:ln w="27432">
            <a:solidFill>
              <a:srgbClr val="D64B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Connector 292"/>
          <p:cNvCxnSpPr/>
          <p:nvPr/>
        </p:nvCxnSpPr>
        <p:spPr>
          <a:xfrm flipH="1">
            <a:off x="1673352" y="3154680"/>
            <a:ext cx="3977640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nector 293"/>
          <p:cNvCxnSpPr/>
          <p:nvPr/>
        </p:nvCxnSpPr>
        <p:spPr>
          <a:xfrm flipH="1">
            <a:off x="2478024" y="3154680"/>
            <a:ext cx="3172968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nector 294"/>
          <p:cNvCxnSpPr/>
          <p:nvPr/>
        </p:nvCxnSpPr>
        <p:spPr>
          <a:xfrm flipH="1">
            <a:off x="3282696" y="3154680"/>
            <a:ext cx="2368296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Connector 295"/>
          <p:cNvCxnSpPr/>
          <p:nvPr/>
        </p:nvCxnSpPr>
        <p:spPr>
          <a:xfrm flipH="1">
            <a:off x="4434840" y="3154680"/>
            <a:ext cx="1216152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Connector 296"/>
          <p:cNvCxnSpPr/>
          <p:nvPr/>
        </p:nvCxnSpPr>
        <p:spPr>
          <a:xfrm flipH="1">
            <a:off x="5239512" y="3154680"/>
            <a:ext cx="411480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 297"/>
          <p:cNvCxnSpPr/>
          <p:nvPr/>
        </p:nvCxnSpPr>
        <p:spPr>
          <a:xfrm>
            <a:off x="5650992" y="3154680"/>
            <a:ext cx="393192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Connector 298"/>
          <p:cNvCxnSpPr/>
          <p:nvPr/>
        </p:nvCxnSpPr>
        <p:spPr>
          <a:xfrm>
            <a:off x="5650992" y="3154680"/>
            <a:ext cx="1197864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Connector 299"/>
          <p:cNvCxnSpPr/>
          <p:nvPr/>
        </p:nvCxnSpPr>
        <p:spPr>
          <a:xfrm>
            <a:off x="5650992" y="3154680"/>
            <a:ext cx="2350008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300"/>
          <p:cNvCxnSpPr/>
          <p:nvPr/>
        </p:nvCxnSpPr>
        <p:spPr>
          <a:xfrm>
            <a:off x="5650992" y="3154680"/>
            <a:ext cx="3154680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301"/>
          <p:cNvCxnSpPr/>
          <p:nvPr/>
        </p:nvCxnSpPr>
        <p:spPr>
          <a:xfrm>
            <a:off x="5650992" y="3154680"/>
            <a:ext cx="3959352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2"/>
          <p:cNvCxnSpPr/>
          <p:nvPr/>
        </p:nvCxnSpPr>
        <p:spPr>
          <a:xfrm>
            <a:off x="5650992" y="3154680"/>
            <a:ext cx="4764024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Connector 303"/>
          <p:cNvCxnSpPr/>
          <p:nvPr/>
        </p:nvCxnSpPr>
        <p:spPr>
          <a:xfrm>
            <a:off x="5650992" y="3154680"/>
            <a:ext cx="5916168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nector 304"/>
          <p:cNvCxnSpPr/>
          <p:nvPr/>
        </p:nvCxnSpPr>
        <p:spPr>
          <a:xfrm>
            <a:off x="5650992" y="3154680"/>
            <a:ext cx="6720840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Connector 305"/>
          <p:cNvCxnSpPr/>
          <p:nvPr/>
        </p:nvCxnSpPr>
        <p:spPr>
          <a:xfrm>
            <a:off x="5650992" y="3154680"/>
            <a:ext cx="7525512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6"/>
          <p:cNvCxnSpPr/>
          <p:nvPr/>
        </p:nvCxnSpPr>
        <p:spPr>
          <a:xfrm>
            <a:off x="5650992" y="3154680"/>
            <a:ext cx="8330184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307"/>
          <p:cNvCxnSpPr/>
          <p:nvPr/>
        </p:nvCxnSpPr>
        <p:spPr>
          <a:xfrm>
            <a:off x="5650992" y="3154680"/>
            <a:ext cx="9482328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308"/>
          <p:cNvCxnSpPr/>
          <p:nvPr/>
        </p:nvCxnSpPr>
        <p:spPr>
          <a:xfrm>
            <a:off x="5650992" y="3154680"/>
            <a:ext cx="10287000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Connector 309"/>
          <p:cNvCxnSpPr/>
          <p:nvPr/>
        </p:nvCxnSpPr>
        <p:spPr>
          <a:xfrm>
            <a:off x="5650992" y="3154680"/>
            <a:ext cx="11091671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Connector 310"/>
          <p:cNvCxnSpPr/>
          <p:nvPr/>
        </p:nvCxnSpPr>
        <p:spPr>
          <a:xfrm>
            <a:off x="5650992" y="3154680"/>
            <a:ext cx="11896344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Connector 311"/>
          <p:cNvCxnSpPr/>
          <p:nvPr/>
        </p:nvCxnSpPr>
        <p:spPr>
          <a:xfrm>
            <a:off x="5650992" y="3154680"/>
            <a:ext cx="13048488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Connector 312"/>
          <p:cNvCxnSpPr/>
          <p:nvPr/>
        </p:nvCxnSpPr>
        <p:spPr>
          <a:xfrm>
            <a:off x="5650992" y="3154680"/>
            <a:ext cx="13853160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Connector 313"/>
          <p:cNvCxnSpPr/>
          <p:nvPr/>
        </p:nvCxnSpPr>
        <p:spPr>
          <a:xfrm>
            <a:off x="5650992" y="3154680"/>
            <a:ext cx="14657832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Connector 314"/>
          <p:cNvCxnSpPr/>
          <p:nvPr/>
        </p:nvCxnSpPr>
        <p:spPr>
          <a:xfrm>
            <a:off x="5650992" y="3154680"/>
            <a:ext cx="15462504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Connector 315"/>
          <p:cNvCxnSpPr/>
          <p:nvPr/>
        </p:nvCxnSpPr>
        <p:spPr>
          <a:xfrm flipH="1">
            <a:off x="868680" y="3154680"/>
            <a:ext cx="4782312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" name="Connector 316"/>
          <p:cNvCxnSpPr/>
          <p:nvPr/>
        </p:nvCxnSpPr>
        <p:spPr>
          <a:xfrm flipH="1">
            <a:off x="1673352" y="3154680"/>
            <a:ext cx="3977640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" name="Connector 317"/>
          <p:cNvCxnSpPr/>
          <p:nvPr/>
        </p:nvCxnSpPr>
        <p:spPr>
          <a:xfrm flipH="1">
            <a:off x="2478024" y="3154680"/>
            <a:ext cx="3172968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" name="Connector 318"/>
          <p:cNvCxnSpPr/>
          <p:nvPr/>
        </p:nvCxnSpPr>
        <p:spPr>
          <a:xfrm flipH="1">
            <a:off x="3282696" y="3154680"/>
            <a:ext cx="2368296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" name="Connector 319"/>
          <p:cNvCxnSpPr/>
          <p:nvPr/>
        </p:nvCxnSpPr>
        <p:spPr>
          <a:xfrm flipH="1">
            <a:off x="4434840" y="3154680"/>
            <a:ext cx="1216152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Connector 320"/>
          <p:cNvCxnSpPr/>
          <p:nvPr/>
        </p:nvCxnSpPr>
        <p:spPr>
          <a:xfrm flipH="1">
            <a:off x="5239512" y="3154680"/>
            <a:ext cx="411480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Connector 321"/>
          <p:cNvCxnSpPr/>
          <p:nvPr/>
        </p:nvCxnSpPr>
        <p:spPr>
          <a:xfrm>
            <a:off x="5650992" y="3154680"/>
            <a:ext cx="393192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Connector 322"/>
          <p:cNvCxnSpPr/>
          <p:nvPr/>
        </p:nvCxnSpPr>
        <p:spPr>
          <a:xfrm>
            <a:off x="5650992" y="3154680"/>
            <a:ext cx="1197864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Connector 323"/>
          <p:cNvCxnSpPr/>
          <p:nvPr/>
        </p:nvCxnSpPr>
        <p:spPr>
          <a:xfrm>
            <a:off x="5650992" y="3154680"/>
            <a:ext cx="2350008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Connector 324"/>
          <p:cNvCxnSpPr/>
          <p:nvPr/>
        </p:nvCxnSpPr>
        <p:spPr>
          <a:xfrm>
            <a:off x="5650992" y="3154680"/>
            <a:ext cx="3154680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Connector 325"/>
          <p:cNvCxnSpPr/>
          <p:nvPr/>
        </p:nvCxnSpPr>
        <p:spPr>
          <a:xfrm>
            <a:off x="5650992" y="3154680"/>
            <a:ext cx="3959352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Connector 326"/>
          <p:cNvCxnSpPr/>
          <p:nvPr/>
        </p:nvCxnSpPr>
        <p:spPr>
          <a:xfrm>
            <a:off x="5650992" y="3154680"/>
            <a:ext cx="4764024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" name="Connector 327"/>
          <p:cNvCxnSpPr/>
          <p:nvPr/>
        </p:nvCxnSpPr>
        <p:spPr>
          <a:xfrm>
            <a:off x="5650992" y="3154680"/>
            <a:ext cx="5916168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" name="Connector 328"/>
          <p:cNvCxnSpPr/>
          <p:nvPr/>
        </p:nvCxnSpPr>
        <p:spPr>
          <a:xfrm>
            <a:off x="5650992" y="3154680"/>
            <a:ext cx="6720840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" name="Connector 329"/>
          <p:cNvCxnSpPr/>
          <p:nvPr/>
        </p:nvCxnSpPr>
        <p:spPr>
          <a:xfrm>
            <a:off x="5650992" y="3154680"/>
            <a:ext cx="7525512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Connector 330"/>
          <p:cNvCxnSpPr/>
          <p:nvPr/>
        </p:nvCxnSpPr>
        <p:spPr>
          <a:xfrm>
            <a:off x="5650992" y="3154680"/>
            <a:ext cx="8330184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" name="Connector 331"/>
          <p:cNvCxnSpPr/>
          <p:nvPr/>
        </p:nvCxnSpPr>
        <p:spPr>
          <a:xfrm>
            <a:off x="5650992" y="3154680"/>
            <a:ext cx="9482328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Connector 332"/>
          <p:cNvCxnSpPr/>
          <p:nvPr/>
        </p:nvCxnSpPr>
        <p:spPr>
          <a:xfrm>
            <a:off x="5650992" y="3154680"/>
            <a:ext cx="10287000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Connector 333"/>
          <p:cNvCxnSpPr/>
          <p:nvPr/>
        </p:nvCxnSpPr>
        <p:spPr>
          <a:xfrm>
            <a:off x="5650992" y="3154680"/>
            <a:ext cx="11091671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Connector 334"/>
          <p:cNvCxnSpPr/>
          <p:nvPr/>
        </p:nvCxnSpPr>
        <p:spPr>
          <a:xfrm>
            <a:off x="5650992" y="3154680"/>
            <a:ext cx="11896344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" name="Connector 335"/>
          <p:cNvCxnSpPr/>
          <p:nvPr/>
        </p:nvCxnSpPr>
        <p:spPr>
          <a:xfrm>
            <a:off x="5650992" y="3154680"/>
            <a:ext cx="13048488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Connector 336"/>
          <p:cNvCxnSpPr/>
          <p:nvPr/>
        </p:nvCxnSpPr>
        <p:spPr>
          <a:xfrm>
            <a:off x="5650992" y="3154680"/>
            <a:ext cx="13853160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Connector 337"/>
          <p:cNvCxnSpPr/>
          <p:nvPr/>
        </p:nvCxnSpPr>
        <p:spPr>
          <a:xfrm>
            <a:off x="5650992" y="3154680"/>
            <a:ext cx="14657832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" name="Connector 338"/>
          <p:cNvCxnSpPr/>
          <p:nvPr/>
        </p:nvCxnSpPr>
        <p:spPr>
          <a:xfrm>
            <a:off x="5650992" y="3154680"/>
            <a:ext cx="15462504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" name="Connector 339"/>
          <p:cNvCxnSpPr/>
          <p:nvPr/>
        </p:nvCxnSpPr>
        <p:spPr>
          <a:xfrm flipH="1">
            <a:off x="868680" y="3154680"/>
            <a:ext cx="4782312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Connector 340"/>
          <p:cNvCxnSpPr/>
          <p:nvPr/>
        </p:nvCxnSpPr>
        <p:spPr>
          <a:xfrm flipH="1">
            <a:off x="1673352" y="3154680"/>
            <a:ext cx="3977640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" name="Connector 341"/>
          <p:cNvCxnSpPr/>
          <p:nvPr/>
        </p:nvCxnSpPr>
        <p:spPr>
          <a:xfrm flipH="1">
            <a:off x="2478024" y="3154680"/>
            <a:ext cx="3172968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3" name="Connector 342"/>
          <p:cNvCxnSpPr/>
          <p:nvPr/>
        </p:nvCxnSpPr>
        <p:spPr>
          <a:xfrm flipH="1">
            <a:off x="3282696" y="3154680"/>
            <a:ext cx="2368296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4" name="Connector 343"/>
          <p:cNvCxnSpPr/>
          <p:nvPr/>
        </p:nvCxnSpPr>
        <p:spPr>
          <a:xfrm flipH="1">
            <a:off x="4434840" y="3154680"/>
            <a:ext cx="1216152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" name="Connector 344"/>
          <p:cNvCxnSpPr/>
          <p:nvPr/>
        </p:nvCxnSpPr>
        <p:spPr>
          <a:xfrm flipH="1">
            <a:off x="5239512" y="3154680"/>
            <a:ext cx="411480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" name="Connector 345"/>
          <p:cNvCxnSpPr/>
          <p:nvPr/>
        </p:nvCxnSpPr>
        <p:spPr>
          <a:xfrm>
            <a:off x="5650992" y="3154680"/>
            <a:ext cx="393192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" name="Connector 346"/>
          <p:cNvCxnSpPr/>
          <p:nvPr/>
        </p:nvCxnSpPr>
        <p:spPr>
          <a:xfrm>
            <a:off x="5650992" y="3154680"/>
            <a:ext cx="1197864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8" name="Connector 347"/>
          <p:cNvCxnSpPr/>
          <p:nvPr/>
        </p:nvCxnSpPr>
        <p:spPr>
          <a:xfrm>
            <a:off x="5650992" y="3154680"/>
            <a:ext cx="2350008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" name="Connector 348"/>
          <p:cNvCxnSpPr/>
          <p:nvPr/>
        </p:nvCxnSpPr>
        <p:spPr>
          <a:xfrm>
            <a:off x="5650992" y="3154680"/>
            <a:ext cx="3154680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" name="Connector 349"/>
          <p:cNvCxnSpPr/>
          <p:nvPr/>
        </p:nvCxnSpPr>
        <p:spPr>
          <a:xfrm>
            <a:off x="5650992" y="3154680"/>
            <a:ext cx="3959352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" name="Connector 350"/>
          <p:cNvCxnSpPr/>
          <p:nvPr/>
        </p:nvCxnSpPr>
        <p:spPr>
          <a:xfrm>
            <a:off x="5650992" y="3154680"/>
            <a:ext cx="4764024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" name="Connector 351"/>
          <p:cNvCxnSpPr/>
          <p:nvPr/>
        </p:nvCxnSpPr>
        <p:spPr>
          <a:xfrm>
            <a:off x="5650992" y="3154680"/>
            <a:ext cx="5916168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" name="Connector 352"/>
          <p:cNvCxnSpPr/>
          <p:nvPr/>
        </p:nvCxnSpPr>
        <p:spPr>
          <a:xfrm>
            <a:off x="5650992" y="3154680"/>
            <a:ext cx="6720840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" name="Connector 353"/>
          <p:cNvCxnSpPr/>
          <p:nvPr/>
        </p:nvCxnSpPr>
        <p:spPr>
          <a:xfrm>
            <a:off x="5650992" y="3154680"/>
            <a:ext cx="7525512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" name="Connector 354"/>
          <p:cNvCxnSpPr/>
          <p:nvPr/>
        </p:nvCxnSpPr>
        <p:spPr>
          <a:xfrm>
            <a:off x="5650992" y="3154680"/>
            <a:ext cx="8330184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" name="Connector 355"/>
          <p:cNvCxnSpPr/>
          <p:nvPr/>
        </p:nvCxnSpPr>
        <p:spPr>
          <a:xfrm>
            <a:off x="5650992" y="3154680"/>
            <a:ext cx="9482328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7" name="Connector 356"/>
          <p:cNvCxnSpPr/>
          <p:nvPr/>
        </p:nvCxnSpPr>
        <p:spPr>
          <a:xfrm>
            <a:off x="5650992" y="3154680"/>
            <a:ext cx="10287000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8" name="Connector 357"/>
          <p:cNvCxnSpPr/>
          <p:nvPr/>
        </p:nvCxnSpPr>
        <p:spPr>
          <a:xfrm>
            <a:off x="5650992" y="3154680"/>
            <a:ext cx="11091671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9" name="Connector 358"/>
          <p:cNvCxnSpPr/>
          <p:nvPr/>
        </p:nvCxnSpPr>
        <p:spPr>
          <a:xfrm>
            <a:off x="5650992" y="3154680"/>
            <a:ext cx="11896344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0" name="Connector 359"/>
          <p:cNvCxnSpPr/>
          <p:nvPr/>
        </p:nvCxnSpPr>
        <p:spPr>
          <a:xfrm>
            <a:off x="5650992" y="3154680"/>
            <a:ext cx="13048488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1" name="Connector 360"/>
          <p:cNvCxnSpPr/>
          <p:nvPr/>
        </p:nvCxnSpPr>
        <p:spPr>
          <a:xfrm>
            <a:off x="5650992" y="3154680"/>
            <a:ext cx="13853160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2" name="Connector 361"/>
          <p:cNvCxnSpPr/>
          <p:nvPr/>
        </p:nvCxnSpPr>
        <p:spPr>
          <a:xfrm>
            <a:off x="5650992" y="3154680"/>
            <a:ext cx="14657832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3" name="Connector 362"/>
          <p:cNvCxnSpPr/>
          <p:nvPr/>
        </p:nvCxnSpPr>
        <p:spPr>
          <a:xfrm>
            <a:off x="5650992" y="3154680"/>
            <a:ext cx="15462504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4" name="Connector 363"/>
          <p:cNvCxnSpPr/>
          <p:nvPr/>
        </p:nvCxnSpPr>
        <p:spPr>
          <a:xfrm flipH="1">
            <a:off x="868680" y="3154680"/>
            <a:ext cx="5952744" cy="4480560"/>
          </a:xfrm>
          <a:prstGeom prst="line">
            <a:avLst/>
          </a:prstGeom>
          <a:ln w="27432">
            <a:solidFill>
              <a:srgbClr val="D64B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5" name="Connector 364"/>
          <p:cNvCxnSpPr/>
          <p:nvPr/>
        </p:nvCxnSpPr>
        <p:spPr>
          <a:xfrm flipH="1">
            <a:off x="1673352" y="3154680"/>
            <a:ext cx="5148072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6" name="Connector 365"/>
          <p:cNvCxnSpPr/>
          <p:nvPr/>
        </p:nvCxnSpPr>
        <p:spPr>
          <a:xfrm flipH="1">
            <a:off x="2478024" y="3154680"/>
            <a:ext cx="4343400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7" name="Connector 366"/>
          <p:cNvCxnSpPr/>
          <p:nvPr/>
        </p:nvCxnSpPr>
        <p:spPr>
          <a:xfrm flipH="1">
            <a:off x="3282696" y="3154680"/>
            <a:ext cx="3538728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8" name="Connector 367"/>
          <p:cNvCxnSpPr/>
          <p:nvPr/>
        </p:nvCxnSpPr>
        <p:spPr>
          <a:xfrm flipH="1">
            <a:off x="4434840" y="3154680"/>
            <a:ext cx="2386584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9" name="Connector 368"/>
          <p:cNvCxnSpPr/>
          <p:nvPr/>
        </p:nvCxnSpPr>
        <p:spPr>
          <a:xfrm flipH="1">
            <a:off x="5239512" y="3154680"/>
            <a:ext cx="1581912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0" name="Connector 369"/>
          <p:cNvCxnSpPr/>
          <p:nvPr/>
        </p:nvCxnSpPr>
        <p:spPr>
          <a:xfrm flipH="1">
            <a:off x="6044184" y="3154680"/>
            <a:ext cx="777240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1" name="Connector 370"/>
          <p:cNvCxnSpPr/>
          <p:nvPr/>
        </p:nvCxnSpPr>
        <p:spPr>
          <a:xfrm>
            <a:off x="6821424" y="3154680"/>
            <a:ext cx="27432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2" name="Connector 371"/>
          <p:cNvCxnSpPr/>
          <p:nvPr/>
        </p:nvCxnSpPr>
        <p:spPr>
          <a:xfrm>
            <a:off x="6821424" y="3154680"/>
            <a:ext cx="1179576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3" name="Connector 372"/>
          <p:cNvCxnSpPr/>
          <p:nvPr/>
        </p:nvCxnSpPr>
        <p:spPr>
          <a:xfrm>
            <a:off x="6821424" y="3154680"/>
            <a:ext cx="1984248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4" name="Connector 373"/>
          <p:cNvCxnSpPr/>
          <p:nvPr/>
        </p:nvCxnSpPr>
        <p:spPr>
          <a:xfrm>
            <a:off x="6821424" y="3154680"/>
            <a:ext cx="2788920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5" name="Connector 374"/>
          <p:cNvCxnSpPr/>
          <p:nvPr/>
        </p:nvCxnSpPr>
        <p:spPr>
          <a:xfrm>
            <a:off x="6821424" y="3154680"/>
            <a:ext cx="3593592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6" name="Connector 375"/>
          <p:cNvCxnSpPr/>
          <p:nvPr/>
        </p:nvCxnSpPr>
        <p:spPr>
          <a:xfrm>
            <a:off x="6821424" y="3154680"/>
            <a:ext cx="4745736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7" name="Connector 376"/>
          <p:cNvCxnSpPr/>
          <p:nvPr/>
        </p:nvCxnSpPr>
        <p:spPr>
          <a:xfrm>
            <a:off x="6821424" y="3154680"/>
            <a:ext cx="5550408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8" name="Connector 377"/>
          <p:cNvCxnSpPr/>
          <p:nvPr/>
        </p:nvCxnSpPr>
        <p:spPr>
          <a:xfrm>
            <a:off x="6821424" y="3154680"/>
            <a:ext cx="6355080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9" name="Connector 378"/>
          <p:cNvCxnSpPr/>
          <p:nvPr/>
        </p:nvCxnSpPr>
        <p:spPr>
          <a:xfrm>
            <a:off x="6821424" y="3154680"/>
            <a:ext cx="7159752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0" name="Connector 379"/>
          <p:cNvCxnSpPr/>
          <p:nvPr/>
        </p:nvCxnSpPr>
        <p:spPr>
          <a:xfrm>
            <a:off x="6821424" y="3154680"/>
            <a:ext cx="8311896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1" name="Connector 380"/>
          <p:cNvCxnSpPr/>
          <p:nvPr/>
        </p:nvCxnSpPr>
        <p:spPr>
          <a:xfrm>
            <a:off x="6821424" y="3154680"/>
            <a:ext cx="9116568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2" name="Connector 381"/>
          <p:cNvCxnSpPr/>
          <p:nvPr/>
        </p:nvCxnSpPr>
        <p:spPr>
          <a:xfrm>
            <a:off x="6821424" y="3154680"/>
            <a:ext cx="9921239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3" name="Connector 382"/>
          <p:cNvCxnSpPr/>
          <p:nvPr/>
        </p:nvCxnSpPr>
        <p:spPr>
          <a:xfrm>
            <a:off x="6821424" y="3154680"/>
            <a:ext cx="10725912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4" name="Connector 383"/>
          <p:cNvCxnSpPr/>
          <p:nvPr/>
        </p:nvCxnSpPr>
        <p:spPr>
          <a:xfrm>
            <a:off x="6821424" y="3154680"/>
            <a:ext cx="11878056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5" name="Connector 384"/>
          <p:cNvCxnSpPr/>
          <p:nvPr/>
        </p:nvCxnSpPr>
        <p:spPr>
          <a:xfrm>
            <a:off x="6821424" y="3154680"/>
            <a:ext cx="12682728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6" name="Connector 385"/>
          <p:cNvCxnSpPr/>
          <p:nvPr/>
        </p:nvCxnSpPr>
        <p:spPr>
          <a:xfrm>
            <a:off x="6821424" y="3154680"/>
            <a:ext cx="13487400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7" name="Connector 386"/>
          <p:cNvCxnSpPr/>
          <p:nvPr/>
        </p:nvCxnSpPr>
        <p:spPr>
          <a:xfrm>
            <a:off x="6821424" y="3154680"/>
            <a:ext cx="14292072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8" name="Connector 387"/>
          <p:cNvCxnSpPr/>
          <p:nvPr/>
        </p:nvCxnSpPr>
        <p:spPr>
          <a:xfrm flipH="1">
            <a:off x="868680" y="3154680"/>
            <a:ext cx="5952744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9" name="Connector 388"/>
          <p:cNvCxnSpPr/>
          <p:nvPr/>
        </p:nvCxnSpPr>
        <p:spPr>
          <a:xfrm flipH="1">
            <a:off x="1673352" y="3154680"/>
            <a:ext cx="5148072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0" name="Connector 389"/>
          <p:cNvCxnSpPr/>
          <p:nvPr/>
        </p:nvCxnSpPr>
        <p:spPr>
          <a:xfrm flipH="1">
            <a:off x="2478024" y="3154680"/>
            <a:ext cx="4343400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1" name="Connector 390"/>
          <p:cNvCxnSpPr/>
          <p:nvPr/>
        </p:nvCxnSpPr>
        <p:spPr>
          <a:xfrm flipH="1">
            <a:off x="3282696" y="3154680"/>
            <a:ext cx="3538728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2" name="Connector 391"/>
          <p:cNvCxnSpPr/>
          <p:nvPr/>
        </p:nvCxnSpPr>
        <p:spPr>
          <a:xfrm flipH="1">
            <a:off x="4434840" y="3154680"/>
            <a:ext cx="2386584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3" name="Connector 392"/>
          <p:cNvCxnSpPr/>
          <p:nvPr/>
        </p:nvCxnSpPr>
        <p:spPr>
          <a:xfrm flipH="1">
            <a:off x="5239512" y="3154680"/>
            <a:ext cx="1581912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4" name="Connector 393"/>
          <p:cNvCxnSpPr/>
          <p:nvPr/>
        </p:nvCxnSpPr>
        <p:spPr>
          <a:xfrm flipH="1">
            <a:off x="6044184" y="3154680"/>
            <a:ext cx="777240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5" name="Connector 394"/>
          <p:cNvCxnSpPr/>
          <p:nvPr/>
        </p:nvCxnSpPr>
        <p:spPr>
          <a:xfrm>
            <a:off x="6821424" y="3154680"/>
            <a:ext cx="27432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6" name="Connector 395"/>
          <p:cNvCxnSpPr/>
          <p:nvPr/>
        </p:nvCxnSpPr>
        <p:spPr>
          <a:xfrm>
            <a:off x="6821424" y="3154680"/>
            <a:ext cx="1179576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7" name="Connector 396"/>
          <p:cNvCxnSpPr/>
          <p:nvPr/>
        </p:nvCxnSpPr>
        <p:spPr>
          <a:xfrm>
            <a:off x="6821424" y="3154680"/>
            <a:ext cx="1984248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8" name="Connector 397"/>
          <p:cNvCxnSpPr/>
          <p:nvPr/>
        </p:nvCxnSpPr>
        <p:spPr>
          <a:xfrm>
            <a:off x="6821424" y="3154680"/>
            <a:ext cx="2788920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9" name="Connector 398"/>
          <p:cNvCxnSpPr/>
          <p:nvPr/>
        </p:nvCxnSpPr>
        <p:spPr>
          <a:xfrm>
            <a:off x="6821424" y="3154680"/>
            <a:ext cx="3593592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0" name="Connector 399"/>
          <p:cNvCxnSpPr/>
          <p:nvPr/>
        </p:nvCxnSpPr>
        <p:spPr>
          <a:xfrm>
            <a:off x="6821424" y="3154680"/>
            <a:ext cx="4745736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1" name="Connector 400"/>
          <p:cNvCxnSpPr/>
          <p:nvPr/>
        </p:nvCxnSpPr>
        <p:spPr>
          <a:xfrm>
            <a:off x="6821424" y="3154680"/>
            <a:ext cx="5550408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2" name="Connector 401"/>
          <p:cNvCxnSpPr/>
          <p:nvPr/>
        </p:nvCxnSpPr>
        <p:spPr>
          <a:xfrm>
            <a:off x="6821424" y="3154680"/>
            <a:ext cx="6355080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3" name="Connector 402"/>
          <p:cNvCxnSpPr/>
          <p:nvPr/>
        </p:nvCxnSpPr>
        <p:spPr>
          <a:xfrm>
            <a:off x="6821424" y="3154680"/>
            <a:ext cx="7159752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4" name="Connector 403"/>
          <p:cNvCxnSpPr/>
          <p:nvPr/>
        </p:nvCxnSpPr>
        <p:spPr>
          <a:xfrm>
            <a:off x="6821424" y="3154680"/>
            <a:ext cx="8311896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5" name="Connector 404"/>
          <p:cNvCxnSpPr/>
          <p:nvPr/>
        </p:nvCxnSpPr>
        <p:spPr>
          <a:xfrm>
            <a:off x="6821424" y="3154680"/>
            <a:ext cx="9116568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6" name="Connector 405"/>
          <p:cNvCxnSpPr/>
          <p:nvPr/>
        </p:nvCxnSpPr>
        <p:spPr>
          <a:xfrm>
            <a:off x="6821424" y="3154680"/>
            <a:ext cx="9921239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7" name="Connector 406"/>
          <p:cNvCxnSpPr/>
          <p:nvPr/>
        </p:nvCxnSpPr>
        <p:spPr>
          <a:xfrm>
            <a:off x="6821424" y="3154680"/>
            <a:ext cx="10725912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8" name="Connector 407"/>
          <p:cNvCxnSpPr/>
          <p:nvPr/>
        </p:nvCxnSpPr>
        <p:spPr>
          <a:xfrm>
            <a:off x="6821424" y="3154680"/>
            <a:ext cx="11878056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9" name="Connector 408"/>
          <p:cNvCxnSpPr/>
          <p:nvPr/>
        </p:nvCxnSpPr>
        <p:spPr>
          <a:xfrm>
            <a:off x="6821424" y="3154680"/>
            <a:ext cx="12682728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0" name="Connector 409"/>
          <p:cNvCxnSpPr/>
          <p:nvPr/>
        </p:nvCxnSpPr>
        <p:spPr>
          <a:xfrm>
            <a:off x="6821424" y="3154680"/>
            <a:ext cx="13487400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1" name="Connector 410"/>
          <p:cNvCxnSpPr/>
          <p:nvPr/>
        </p:nvCxnSpPr>
        <p:spPr>
          <a:xfrm>
            <a:off x="6821424" y="3154680"/>
            <a:ext cx="14292072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2" name="Connector 411"/>
          <p:cNvCxnSpPr/>
          <p:nvPr/>
        </p:nvCxnSpPr>
        <p:spPr>
          <a:xfrm flipH="1">
            <a:off x="868680" y="3154680"/>
            <a:ext cx="5952744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3" name="Connector 412"/>
          <p:cNvCxnSpPr/>
          <p:nvPr/>
        </p:nvCxnSpPr>
        <p:spPr>
          <a:xfrm flipH="1">
            <a:off x="1673352" y="3154680"/>
            <a:ext cx="5148072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4" name="Connector 413"/>
          <p:cNvCxnSpPr/>
          <p:nvPr/>
        </p:nvCxnSpPr>
        <p:spPr>
          <a:xfrm flipH="1">
            <a:off x="2478024" y="3154680"/>
            <a:ext cx="4343400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5" name="Connector 414"/>
          <p:cNvCxnSpPr/>
          <p:nvPr/>
        </p:nvCxnSpPr>
        <p:spPr>
          <a:xfrm flipH="1">
            <a:off x="3282696" y="3154680"/>
            <a:ext cx="3538728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6" name="Connector 415"/>
          <p:cNvCxnSpPr/>
          <p:nvPr/>
        </p:nvCxnSpPr>
        <p:spPr>
          <a:xfrm flipH="1">
            <a:off x="4434840" y="3154680"/>
            <a:ext cx="2386584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7" name="Connector 416"/>
          <p:cNvCxnSpPr/>
          <p:nvPr/>
        </p:nvCxnSpPr>
        <p:spPr>
          <a:xfrm flipH="1">
            <a:off x="5239512" y="3154680"/>
            <a:ext cx="1581912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8" name="Connector 417"/>
          <p:cNvCxnSpPr/>
          <p:nvPr/>
        </p:nvCxnSpPr>
        <p:spPr>
          <a:xfrm flipH="1">
            <a:off x="6044184" y="3154680"/>
            <a:ext cx="777240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9" name="Connector 418"/>
          <p:cNvCxnSpPr/>
          <p:nvPr/>
        </p:nvCxnSpPr>
        <p:spPr>
          <a:xfrm>
            <a:off x="6821424" y="3154680"/>
            <a:ext cx="27432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0" name="Connector 419"/>
          <p:cNvCxnSpPr/>
          <p:nvPr/>
        </p:nvCxnSpPr>
        <p:spPr>
          <a:xfrm>
            <a:off x="6821424" y="3154680"/>
            <a:ext cx="1179576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1" name="Connector 420"/>
          <p:cNvCxnSpPr/>
          <p:nvPr/>
        </p:nvCxnSpPr>
        <p:spPr>
          <a:xfrm>
            <a:off x="6821424" y="3154680"/>
            <a:ext cx="1984248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2" name="Connector 421"/>
          <p:cNvCxnSpPr/>
          <p:nvPr/>
        </p:nvCxnSpPr>
        <p:spPr>
          <a:xfrm>
            <a:off x="6821424" y="3154680"/>
            <a:ext cx="2788920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3" name="Connector 422"/>
          <p:cNvCxnSpPr/>
          <p:nvPr/>
        </p:nvCxnSpPr>
        <p:spPr>
          <a:xfrm>
            <a:off x="6821424" y="3154680"/>
            <a:ext cx="3593592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4" name="Connector 423"/>
          <p:cNvCxnSpPr/>
          <p:nvPr/>
        </p:nvCxnSpPr>
        <p:spPr>
          <a:xfrm>
            <a:off x="6821424" y="3154680"/>
            <a:ext cx="4745736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5" name="Connector 424"/>
          <p:cNvCxnSpPr/>
          <p:nvPr/>
        </p:nvCxnSpPr>
        <p:spPr>
          <a:xfrm>
            <a:off x="6821424" y="3154680"/>
            <a:ext cx="5550408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6" name="Connector 425"/>
          <p:cNvCxnSpPr/>
          <p:nvPr/>
        </p:nvCxnSpPr>
        <p:spPr>
          <a:xfrm>
            <a:off x="6821424" y="3154680"/>
            <a:ext cx="6355080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7" name="Connector 426"/>
          <p:cNvCxnSpPr/>
          <p:nvPr/>
        </p:nvCxnSpPr>
        <p:spPr>
          <a:xfrm>
            <a:off x="6821424" y="3154680"/>
            <a:ext cx="7159752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8" name="Connector 427"/>
          <p:cNvCxnSpPr/>
          <p:nvPr/>
        </p:nvCxnSpPr>
        <p:spPr>
          <a:xfrm>
            <a:off x="6821424" y="3154680"/>
            <a:ext cx="8311896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9" name="Connector 428"/>
          <p:cNvCxnSpPr/>
          <p:nvPr/>
        </p:nvCxnSpPr>
        <p:spPr>
          <a:xfrm>
            <a:off x="6821424" y="3154680"/>
            <a:ext cx="9116568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0" name="Connector 429"/>
          <p:cNvCxnSpPr/>
          <p:nvPr/>
        </p:nvCxnSpPr>
        <p:spPr>
          <a:xfrm>
            <a:off x="6821424" y="3154680"/>
            <a:ext cx="9921239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1" name="Connector 430"/>
          <p:cNvCxnSpPr/>
          <p:nvPr/>
        </p:nvCxnSpPr>
        <p:spPr>
          <a:xfrm>
            <a:off x="6821424" y="3154680"/>
            <a:ext cx="10725912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2" name="Connector 431"/>
          <p:cNvCxnSpPr/>
          <p:nvPr/>
        </p:nvCxnSpPr>
        <p:spPr>
          <a:xfrm>
            <a:off x="6821424" y="3154680"/>
            <a:ext cx="11878056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3" name="Connector 432"/>
          <p:cNvCxnSpPr/>
          <p:nvPr/>
        </p:nvCxnSpPr>
        <p:spPr>
          <a:xfrm>
            <a:off x="6821424" y="3154680"/>
            <a:ext cx="12682728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4" name="Connector 433"/>
          <p:cNvCxnSpPr/>
          <p:nvPr/>
        </p:nvCxnSpPr>
        <p:spPr>
          <a:xfrm>
            <a:off x="6821424" y="3154680"/>
            <a:ext cx="13487400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5" name="Connector 434"/>
          <p:cNvCxnSpPr/>
          <p:nvPr/>
        </p:nvCxnSpPr>
        <p:spPr>
          <a:xfrm>
            <a:off x="6821424" y="3154680"/>
            <a:ext cx="14292072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6" name="Connector 435"/>
          <p:cNvCxnSpPr/>
          <p:nvPr/>
        </p:nvCxnSpPr>
        <p:spPr>
          <a:xfrm flipH="1">
            <a:off x="868680" y="3154680"/>
            <a:ext cx="7123176" cy="4480560"/>
          </a:xfrm>
          <a:prstGeom prst="line">
            <a:avLst/>
          </a:prstGeom>
          <a:ln w="27432">
            <a:solidFill>
              <a:srgbClr val="D64B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7" name="Connector 436"/>
          <p:cNvCxnSpPr/>
          <p:nvPr/>
        </p:nvCxnSpPr>
        <p:spPr>
          <a:xfrm flipH="1">
            <a:off x="1673352" y="3154680"/>
            <a:ext cx="6318504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8" name="Connector 437"/>
          <p:cNvCxnSpPr/>
          <p:nvPr/>
        </p:nvCxnSpPr>
        <p:spPr>
          <a:xfrm flipH="1">
            <a:off x="2478024" y="3154680"/>
            <a:ext cx="5513832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9" name="Connector 438"/>
          <p:cNvCxnSpPr/>
          <p:nvPr/>
        </p:nvCxnSpPr>
        <p:spPr>
          <a:xfrm flipH="1">
            <a:off x="3282696" y="3154680"/>
            <a:ext cx="4709160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0" name="Connector 439"/>
          <p:cNvCxnSpPr/>
          <p:nvPr/>
        </p:nvCxnSpPr>
        <p:spPr>
          <a:xfrm flipH="1">
            <a:off x="4434840" y="3154680"/>
            <a:ext cx="3557016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1" name="Connector 440"/>
          <p:cNvCxnSpPr/>
          <p:nvPr/>
        </p:nvCxnSpPr>
        <p:spPr>
          <a:xfrm flipH="1">
            <a:off x="5239512" y="3154680"/>
            <a:ext cx="2752344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" name="Connector 441"/>
          <p:cNvCxnSpPr/>
          <p:nvPr/>
        </p:nvCxnSpPr>
        <p:spPr>
          <a:xfrm flipH="1">
            <a:off x="6044184" y="3154680"/>
            <a:ext cx="1947672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3" name="Connector 442"/>
          <p:cNvCxnSpPr/>
          <p:nvPr/>
        </p:nvCxnSpPr>
        <p:spPr>
          <a:xfrm flipH="1">
            <a:off x="6848856" y="3154680"/>
            <a:ext cx="1143000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4" name="Connector 443"/>
          <p:cNvCxnSpPr/>
          <p:nvPr/>
        </p:nvCxnSpPr>
        <p:spPr>
          <a:xfrm>
            <a:off x="7991856" y="3154680"/>
            <a:ext cx="9144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5" name="Connector 444"/>
          <p:cNvCxnSpPr/>
          <p:nvPr/>
        </p:nvCxnSpPr>
        <p:spPr>
          <a:xfrm>
            <a:off x="7991856" y="3154680"/>
            <a:ext cx="813816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6" name="Connector 445"/>
          <p:cNvCxnSpPr/>
          <p:nvPr/>
        </p:nvCxnSpPr>
        <p:spPr>
          <a:xfrm>
            <a:off x="7991856" y="3154680"/>
            <a:ext cx="1618488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7" name="Connector 446"/>
          <p:cNvCxnSpPr/>
          <p:nvPr/>
        </p:nvCxnSpPr>
        <p:spPr>
          <a:xfrm>
            <a:off x="7991856" y="3154680"/>
            <a:ext cx="2423160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8" name="Connector 447"/>
          <p:cNvCxnSpPr/>
          <p:nvPr/>
        </p:nvCxnSpPr>
        <p:spPr>
          <a:xfrm>
            <a:off x="7991856" y="3154680"/>
            <a:ext cx="3575304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9" name="Connector 448"/>
          <p:cNvCxnSpPr/>
          <p:nvPr/>
        </p:nvCxnSpPr>
        <p:spPr>
          <a:xfrm>
            <a:off x="7991856" y="3154680"/>
            <a:ext cx="4379976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 449"/>
          <p:cNvCxnSpPr/>
          <p:nvPr/>
        </p:nvCxnSpPr>
        <p:spPr>
          <a:xfrm>
            <a:off x="7991856" y="3154680"/>
            <a:ext cx="5184648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1" name="Connector 450"/>
          <p:cNvCxnSpPr/>
          <p:nvPr/>
        </p:nvCxnSpPr>
        <p:spPr>
          <a:xfrm>
            <a:off x="7991856" y="3154680"/>
            <a:ext cx="5989320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2" name="Connector 451"/>
          <p:cNvCxnSpPr/>
          <p:nvPr/>
        </p:nvCxnSpPr>
        <p:spPr>
          <a:xfrm>
            <a:off x="7991856" y="3154680"/>
            <a:ext cx="7141464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3" name="Connector 452"/>
          <p:cNvCxnSpPr/>
          <p:nvPr/>
        </p:nvCxnSpPr>
        <p:spPr>
          <a:xfrm>
            <a:off x="7991856" y="3154680"/>
            <a:ext cx="7946136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4" name="Connector 453"/>
          <p:cNvCxnSpPr/>
          <p:nvPr/>
        </p:nvCxnSpPr>
        <p:spPr>
          <a:xfrm>
            <a:off x="7991856" y="3154680"/>
            <a:ext cx="8750807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5" name="Connector 454"/>
          <p:cNvCxnSpPr/>
          <p:nvPr/>
        </p:nvCxnSpPr>
        <p:spPr>
          <a:xfrm>
            <a:off x="7991856" y="3154680"/>
            <a:ext cx="9555480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6" name="Connector 455"/>
          <p:cNvCxnSpPr/>
          <p:nvPr/>
        </p:nvCxnSpPr>
        <p:spPr>
          <a:xfrm>
            <a:off x="7991856" y="3154680"/>
            <a:ext cx="10707624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" name="Connector 456"/>
          <p:cNvCxnSpPr/>
          <p:nvPr/>
        </p:nvCxnSpPr>
        <p:spPr>
          <a:xfrm>
            <a:off x="7991856" y="3154680"/>
            <a:ext cx="11512296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8" name="Connector 457"/>
          <p:cNvCxnSpPr/>
          <p:nvPr/>
        </p:nvCxnSpPr>
        <p:spPr>
          <a:xfrm>
            <a:off x="7991856" y="3154680"/>
            <a:ext cx="12316968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9" name="Connector 458"/>
          <p:cNvCxnSpPr/>
          <p:nvPr/>
        </p:nvCxnSpPr>
        <p:spPr>
          <a:xfrm>
            <a:off x="7991856" y="3154680"/>
            <a:ext cx="13121640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0" name="Connector 459"/>
          <p:cNvCxnSpPr/>
          <p:nvPr/>
        </p:nvCxnSpPr>
        <p:spPr>
          <a:xfrm flipH="1">
            <a:off x="868680" y="3154680"/>
            <a:ext cx="7123176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1" name="Connector 460"/>
          <p:cNvCxnSpPr/>
          <p:nvPr/>
        </p:nvCxnSpPr>
        <p:spPr>
          <a:xfrm flipH="1">
            <a:off x="1673352" y="3154680"/>
            <a:ext cx="6318504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 461"/>
          <p:cNvCxnSpPr/>
          <p:nvPr/>
        </p:nvCxnSpPr>
        <p:spPr>
          <a:xfrm flipH="1">
            <a:off x="2478024" y="3154680"/>
            <a:ext cx="5513832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3" name="Connector 462"/>
          <p:cNvCxnSpPr/>
          <p:nvPr/>
        </p:nvCxnSpPr>
        <p:spPr>
          <a:xfrm flipH="1">
            <a:off x="3282696" y="3154680"/>
            <a:ext cx="4709160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4" name="Connector 463"/>
          <p:cNvCxnSpPr/>
          <p:nvPr/>
        </p:nvCxnSpPr>
        <p:spPr>
          <a:xfrm flipH="1">
            <a:off x="4434840" y="3154680"/>
            <a:ext cx="3557016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5" name="Connector 464"/>
          <p:cNvCxnSpPr/>
          <p:nvPr/>
        </p:nvCxnSpPr>
        <p:spPr>
          <a:xfrm flipH="1">
            <a:off x="5239512" y="3154680"/>
            <a:ext cx="2752344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6" name="Connector 465"/>
          <p:cNvCxnSpPr/>
          <p:nvPr/>
        </p:nvCxnSpPr>
        <p:spPr>
          <a:xfrm flipH="1">
            <a:off x="6044184" y="3154680"/>
            <a:ext cx="1947672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7" name="Connector 466"/>
          <p:cNvCxnSpPr/>
          <p:nvPr/>
        </p:nvCxnSpPr>
        <p:spPr>
          <a:xfrm flipH="1">
            <a:off x="6848856" y="3154680"/>
            <a:ext cx="1143000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8" name="Connector 467"/>
          <p:cNvCxnSpPr/>
          <p:nvPr/>
        </p:nvCxnSpPr>
        <p:spPr>
          <a:xfrm>
            <a:off x="7991856" y="3154680"/>
            <a:ext cx="9144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9" name="Connector 468"/>
          <p:cNvCxnSpPr/>
          <p:nvPr/>
        </p:nvCxnSpPr>
        <p:spPr>
          <a:xfrm>
            <a:off x="7991856" y="3154680"/>
            <a:ext cx="813816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0" name="Connector 469"/>
          <p:cNvCxnSpPr/>
          <p:nvPr/>
        </p:nvCxnSpPr>
        <p:spPr>
          <a:xfrm>
            <a:off x="7991856" y="3154680"/>
            <a:ext cx="1618488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Connector 470"/>
          <p:cNvCxnSpPr/>
          <p:nvPr/>
        </p:nvCxnSpPr>
        <p:spPr>
          <a:xfrm>
            <a:off x="7991856" y="3154680"/>
            <a:ext cx="2423160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Connector 471"/>
          <p:cNvCxnSpPr/>
          <p:nvPr/>
        </p:nvCxnSpPr>
        <p:spPr>
          <a:xfrm>
            <a:off x="7991856" y="3154680"/>
            <a:ext cx="3575304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3" name="Connector 472"/>
          <p:cNvCxnSpPr/>
          <p:nvPr/>
        </p:nvCxnSpPr>
        <p:spPr>
          <a:xfrm>
            <a:off x="7991856" y="3154680"/>
            <a:ext cx="4379976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4" name="Connector 473"/>
          <p:cNvCxnSpPr/>
          <p:nvPr/>
        </p:nvCxnSpPr>
        <p:spPr>
          <a:xfrm>
            <a:off x="7991856" y="3154680"/>
            <a:ext cx="5184648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5" name="Connector 474"/>
          <p:cNvCxnSpPr/>
          <p:nvPr/>
        </p:nvCxnSpPr>
        <p:spPr>
          <a:xfrm>
            <a:off x="7991856" y="3154680"/>
            <a:ext cx="5989320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6" name="Connector 475"/>
          <p:cNvCxnSpPr/>
          <p:nvPr/>
        </p:nvCxnSpPr>
        <p:spPr>
          <a:xfrm>
            <a:off x="7991856" y="3154680"/>
            <a:ext cx="7141464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7" name="Connector 476"/>
          <p:cNvCxnSpPr/>
          <p:nvPr/>
        </p:nvCxnSpPr>
        <p:spPr>
          <a:xfrm>
            <a:off x="7991856" y="3154680"/>
            <a:ext cx="7946136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8" name="Connector 477"/>
          <p:cNvCxnSpPr/>
          <p:nvPr/>
        </p:nvCxnSpPr>
        <p:spPr>
          <a:xfrm>
            <a:off x="7991856" y="3154680"/>
            <a:ext cx="8750807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9" name="Connector 478"/>
          <p:cNvCxnSpPr/>
          <p:nvPr/>
        </p:nvCxnSpPr>
        <p:spPr>
          <a:xfrm>
            <a:off x="7991856" y="3154680"/>
            <a:ext cx="9555480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0" name="Connector 479"/>
          <p:cNvCxnSpPr/>
          <p:nvPr/>
        </p:nvCxnSpPr>
        <p:spPr>
          <a:xfrm>
            <a:off x="7991856" y="3154680"/>
            <a:ext cx="10707624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1" name="Connector 480"/>
          <p:cNvCxnSpPr/>
          <p:nvPr/>
        </p:nvCxnSpPr>
        <p:spPr>
          <a:xfrm>
            <a:off x="7991856" y="3154680"/>
            <a:ext cx="11512296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2" name="Connector 481"/>
          <p:cNvCxnSpPr/>
          <p:nvPr/>
        </p:nvCxnSpPr>
        <p:spPr>
          <a:xfrm>
            <a:off x="7991856" y="3154680"/>
            <a:ext cx="12316968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3" name="Connector 482"/>
          <p:cNvCxnSpPr/>
          <p:nvPr/>
        </p:nvCxnSpPr>
        <p:spPr>
          <a:xfrm>
            <a:off x="7991856" y="3154680"/>
            <a:ext cx="13121640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Connector 483"/>
          <p:cNvCxnSpPr/>
          <p:nvPr/>
        </p:nvCxnSpPr>
        <p:spPr>
          <a:xfrm flipH="1">
            <a:off x="868680" y="3154680"/>
            <a:ext cx="7123176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5" name="Connector 484"/>
          <p:cNvCxnSpPr/>
          <p:nvPr/>
        </p:nvCxnSpPr>
        <p:spPr>
          <a:xfrm flipH="1">
            <a:off x="1673352" y="3154680"/>
            <a:ext cx="6318504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6" name="Connector 485"/>
          <p:cNvCxnSpPr/>
          <p:nvPr/>
        </p:nvCxnSpPr>
        <p:spPr>
          <a:xfrm flipH="1">
            <a:off x="2478024" y="3154680"/>
            <a:ext cx="5513832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7" name="Connector 486"/>
          <p:cNvCxnSpPr/>
          <p:nvPr/>
        </p:nvCxnSpPr>
        <p:spPr>
          <a:xfrm flipH="1">
            <a:off x="3282696" y="3154680"/>
            <a:ext cx="4709160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8" name="Connector 487"/>
          <p:cNvCxnSpPr/>
          <p:nvPr/>
        </p:nvCxnSpPr>
        <p:spPr>
          <a:xfrm flipH="1">
            <a:off x="4434840" y="3154680"/>
            <a:ext cx="3557016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9" name="Connector 488"/>
          <p:cNvCxnSpPr/>
          <p:nvPr/>
        </p:nvCxnSpPr>
        <p:spPr>
          <a:xfrm flipH="1">
            <a:off x="5239512" y="3154680"/>
            <a:ext cx="2752344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0" name="Connector 489"/>
          <p:cNvCxnSpPr/>
          <p:nvPr/>
        </p:nvCxnSpPr>
        <p:spPr>
          <a:xfrm flipH="1">
            <a:off x="6044184" y="3154680"/>
            <a:ext cx="1947672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1" name="Connector 490"/>
          <p:cNvCxnSpPr/>
          <p:nvPr/>
        </p:nvCxnSpPr>
        <p:spPr>
          <a:xfrm flipH="1">
            <a:off x="6848856" y="3154680"/>
            <a:ext cx="1143000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2" name="Connector 491"/>
          <p:cNvCxnSpPr/>
          <p:nvPr/>
        </p:nvCxnSpPr>
        <p:spPr>
          <a:xfrm>
            <a:off x="7991856" y="3154680"/>
            <a:ext cx="9144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3" name="Connector 492"/>
          <p:cNvCxnSpPr/>
          <p:nvPr/>
        </p:nvCxnSpPr>
        <p:spPr>
          <a:xfrm>
            <a:off x="7991856" y="3154680"/>
            <a:ext cx="813816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4" name="Connector 493"/>
          <p:cNvCxnSpPr/>
          <p:nvPr/>
        </p:nvCxnSpPr>
        <p:spPr>
          <a:xfrm>
            <a:off x="7991856" y="3154680"/>
            <a:ext cx="1618488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5" name="Connector 494"/>
          <p:cNvCxnSpPr/>
          <p:nvPr/>
        </p:nvCxnSpPr>
        <p:spPr>
          <a:xfrm>
            <a:off x="7991856" y="3154680"/>
            <a:ext cx="2423160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6" name="Connector 495"/>
          <p:cNvCxnSpPr/>
          <p:nvPr/>
        </p:nvCxnSpPr>
        <p:spPr>
          <a:xfrm>
            <a:off x="7991856" y="3154680"/>
            <a:ext cx="3575304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7" name="Connector 496"/>
          <p:cNvCxnSpPr/>
          <p:nvPr/>
        </p:nvCxnSpPr>
        <p:spPr>
          <a:xfrm>
            <a:off x="7991856" y="3154680"/>
            <a:ext cx="4379976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8" name="Connector 497"/>
          <p:cNvCxnSpPr/>
          <p:nvPr/>
        </p:nvCxnSpPr>
        <p:spPr>
          <a:xfrm>
            <a:off x="7991856" y="3154680"/>
            <a:ext cx="5184648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9" name="Connector 498"/>
          <p:cNvCxnSpPr/>
          <p:nvPr/>
        </p:nvCxnSpPr>
        <p:spPr>
          <a:xfrm>
            <a:off x="7991856" y="3154680"/>
            <a:ext cx="5989320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0" name="Connector 499"/>
          <p:cNvCxnSpPr/>
          <p:nvPr/>
        </p:nvCxnSpPr>
        <p:spPr>
          <a:xfrm>
            <a:off x="7991856" y="3154680"/>
            <a:ext cx="7141464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1" name="Connector 500"/>
          <p:cNvCxnSpPr/>
          <p:nvPr/>
        </p:nvCxnSpPr>
        <p:spPr>
          <a:xfrm>
            <a:off x="7991856" y="3154680"/>
            <a:ext cx="7946136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2" name="Connector 501"/>
          <p:cNvCxnSpPr/>
          <p:nvPr/>
        </p:nvCxnSpPr>
        <p:spPr>
          <a:xfrm>
            <a:off x="7991856" y="3154680"/>
            <a:ext cx="8750807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3" name="Connector 502"/>
          <p:cNvCxnSpPr/>
          <p:nvPr/>
        </p:nvCxnSpPr>
        <p:spPr>
          <a:xfrm>
            <a:off x="7991856" y="3154680"/>
            <a:ext cx="9555480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4" name="Connector 503"/>
          <p:cNvCxnSpPr/>
          <p:nvPr/>
        </p:nvCxnSpPr>
        <p:spPr>
          <a:xfrm>
            <a:off x="7991856" y="3154680"/>
            <a:ext cx="10707624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5" name="Connector 504"/>
          <p:cNvCxnSpPr/>
          <p:nvPr/>
        </p:nvCxnSpPr>
        <p:spPr>
          <a:xfrm>
            <a:off x="7991856" y="3154680"/>
            <a:ext cx="11512296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6" name="Connector 505"/>
          <p:cNvCxnSpPr/>
          <p:nvPr/>
        </p:nvCxnSpPr>
        <p:spPr>
          <a:xfrm>
            <a:off x="7991856" y="3154680"/>
            <a:ext cx="12316968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7" name="Connector 506"/>
          <p:cNvCxnSpPr/>
          <p:nvPr/>
        </p:nvCxnSpPr>
        <p:spPr>
          <a:xfrm>
            <a:off x="7991856" y="3154680"/>
            <a:ext cx="13121640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8" name="Connector 507"/>
          <p:cNvCxnSpPr/>
          <p:nvPr/>
        </p:nvCxnSpPr>
        <p:spPr>
          <a:xfrm flipH="1">
            <a:off x="868680" y="3154680"/>
            <a:ext cx="8293608" cy="4480560"/>
          </a:xfrm>
          <a:prstGeom prst="line">
            <a:avLst/>
          </a:prstGeom>
          <a:ln w="27432">
            <a:solidFill>
              <a:srgbClr val="D64B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9" name="Connector 508"/>
          <p:cNvCxnSpPr/>
          <p:nvPr/>
        </p:nvCxnSpPr>
        <p:spPr>
          <a:xfrm flipH="1">
            <a:off x="1673352" y="3154680"/>
            <a:ext cx="7488936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0" name="Connector 509"/>
          <p:cNvCxnSpPr/>
          <p:nvPr/>
        </p:nvCxnSpPr>
        <p:spPr>
          <a:xfrm flipH="1">
            <a:off x="2478024" y="3154680"/>
            <a:ext cx="6684264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1" name="Connector 510"/>
          <p:cNvCxnSpPr/>
          <p:nvPr/>
        </p:nvCxnSpPr>
        <p:spPr>
          <a:xfrm flipH="1">
            <a:off x="3282696" y="3154680"/>
            <a:ext cx="5879592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2" name="Connector 511"/>
          <p:cNvCxnSpPr/>
          <p:nvPr/>
        </p:nvCxnSpPr>
        <p:spPr>
          <a:xfrm flipH="1">
            <a:off x="4434840" y="3154680"/>
            <a:ext cx="4727448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3" name="Connector 512"/>
          <p:cNvCxnSpPr/>
          <p:nvPr/>
        </p:nvCxnSpPr>
        <p:spPr>
          <a:xfrm flipH="1">
            <a:off x="5239512" y="3154680"/>
            <a:ext cx="3922776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4" name="Connector 513"/>
          <p:cNvCxnSpPr/>
          <p:nvPr/>
        </p:nvCxnSpPr>
        <p:spPr>
          <a:xfrm flipH="1">
            <a:off x="6044184" y="3154680"/>
            <a:ext cx="3118104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5" name="Connector 514"/>
          <p:cNvCxnSpPr/>
          <p:nvPr/>
        </p:nvCxnSpPr>
        <p:spPr>
          <a:xfrm flipH="1">
            <a:off x="6848856" y="3154680"/>
            <a:ext cx="2313432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6" name="Connector 515"/>
          <p:cNvCxnSpPr/>
          <p:nvPr/>
        </p:nvCxnSpPr>
        <p:spPr>
          <a:xfrm flipH="1">
            <a:off x="8001000" y="3154680"/>
            <a:ext cx="1161288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7" name="Connector 516"/>
          <p:cNvCxnSpPr/>
          <p:nvPr/>
        </p:nvCxnSpPr>
        <p:spPr>
          <a:xfrm flipH="1">
            <a:off x="8805672" y="3154680"/>
            <a:ext cx="356616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8" name="Connector 517"/>
          <p:cNvCxnSpPr/>
          <p:nvPr/>
        </p:nvCxnSpPr>
        <p:spPr>
          <a:xfrm>
            <a:off x="9162288" y="3154680"/>
            <a:ext cx="448056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9" name="Connector 518"/>
          <p:cNvCxnSpPr/>
          <p:nvPr/>
        </p:nvCxnSpPr>
        <p:spPr>
          <a:xfrm>
            <a:off x="9162288" y="3154680"/>
            <a:ext cx="1252728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0" name="Connector 519"/>
          <p:cNvCxnSpPr/>
          <p:nvPr/>
        </p:nvCxnSpPr>
        <p:spPr>
          <a:xfrm>
            <a:off x="9162288" y="3154680"/>
            <a:ext cx="2404872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1" name="Connector 520"/>
          <p:cNvCxnSpPr/>
          <p:nvPr/>
        </p:nvCxnSpPr>
        <p:spPr>
          <a:xfrm>
            <a:off x="9162288" y="3154680"/>
            <a:ext cx="3209544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2" name="Connector 521"/>
          <p:cNvCxnSpPr/>
          <p:nvPr/>
        </p:nvCxnSpPr>
        <p:spPr>
          <a:xfrm>
            <a:off x="9162288" y="3154680"/>
            <a:ext cx="4014216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3" name="Connector 522"/>
          <p:cNvCxnSpPr/>
          <p:nvPr/>
        </p:nvCxnSpPr>
        <p:spPr>
          <a:xfrm>
            <a:off x="9162288" y="3154680"/>
            <a:ext cx="4818888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4" name="Connector 523"/>
          <p:cNvCxnSpPr/>
          <p:nvPr/>
        </p:nvCxnSpPr>
        <p:spPr>
          <a:xfrm>
            <a:off x="9162288" y="3154680"/>
            <a:ext cx="5971032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5" name="Connector 524"/>
          <p:cNvCxnSpPr/>
          <p:nvPr/>
        </p:nvCxnSpPr>
        <p:spPr>
          <a:xfrm>
            <a:off x="9162288" y="3154680"/>
            <a:ext cx="6775704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6" name="Connector 525"/>
          <p:cNvCxnSpPr/>
          <p:nvPr/>
        </p:nvCxnSpPr>
        <p:spPr>
          <a:xfrm>
            <a:off x="9162288" y="3154680"/>
            <a:ext cx="7580375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7" name="Connector 526"/>
          <p:cNvCxnSpPr/>
          <p:nvPr/>
        </p:nvCxnSpPr>
        <p:spPr>
          <a:xfrm>
            <a:off x="9162288" y="3154680"/>
            <a:ext cx="8385048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8" name="Connector 527"/>
          <p:cNvCxnSpPr/>
          <p:nvPr/>
        </p:nvCxnSpPr>
        <p:spPr>
          <a:xfrm>
            <a:off x="9162288" y="3154680"/>
            <a:ext cx="9537192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9" name="Connector 528"/>
          <p:cNvCxnSpPr/>
          <p:nvPr/>
        </p:nvCxnSpPr>
        <p:spPr>
          <a:xfrm>
            <a:off x="9162288" y="3154680"/>
            <a:ext cx="10341864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0" name="Connector 529"/>
          <p:cNvCxnSpPr/>
          <p:nvPr/>
        </p:nvCxnSpPr>
        <p:spPr>
          <a:xfrm>
            <a:off x="9162288" y="3154680"/>
            <a:ext cx="11146536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1" name="Connector 530"/>
          <p:cNvCxnSpPr/>
          <p:nvPr/>
        </p:nvCxnSpPr>
        <p:spPr>
          <a:xfrm>
            <a:off x="9162288" y="3154680"/>
            <a:ext cx="11951208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2" name="Connector 531"/>
          <p:cNvCxnSpPr/>
          <p:nvPr/>
        </p:nvCxnSpPr>
        <p:spPr>
          <a:xfrm flipH="1">
            <a:off x="868680" y="3154680"/>
            <a:ext cx="8293608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3" name="Connector 532"/>
          <p:cNvCxnSpPr/>
          <p:nvPr/>
        </p:nvCxnSpPr>
        <p:spPr>
          <a:xfrm flipH="1">
            <a:off x="1673352" y="3154680"/>
            <a:ext cx="7488936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4" name="Connector 533"/>
          <p:cNvCxnSpPr/>
          <p:nvPr/>
        </p:nvCxnSpPr>
        <p:spPr>
          <a:xfrm flipH="1">
            <a:off x="2478024" y="3154680"/>
            <a:ext cx="6684264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5" name="Connector 534"/>
          <p:cNvCxnSpPr/>
          <p:nvPr/>
        </p:nvCxnSpPr>
        <p:spPr>
          <a:xfrm flipH="1">
            <a:off x="3282696" y="3154680"/>
            <a:ext cx="5879592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6" name="Connector 535"/>
          <p:cNvCxnSpPr/>
          <p:nvPr/>
        </p:nvCxnSpPr>
        <p:spPr>
          <a:xfrm flipH="1">
            <a:off x="4434840" y="3154680"/>
            <a:ext cx="4727448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7" name="Connector 536"/>
          <p:cNvCxnSpPr/>
          <p:nvPr/>
        </p:nvCxnSpPr>
        <p:spPr>
          <a:xfrm flipH="1">
            <a:off x="5239512" y="3154680"/>
            <a:ext cx="3922776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8" name="Connector 537"/>
          <p:cNvCxnSpPr/>
          <p:nvPr/>
        </p:nvCxnSpPr>
        <p:spPr>
          <a:xfrm flipH="1">
            <a:off x="6044184" y="3154680"/>
            <a:ext cx="3118104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9" name="Connector 538"/>
          <p:cNvCxnSpPr/>
          <p:nvPr/>
        </p:nvCxnSpPr>
        <p:spPr>
          <a:xfrm flipH="1">
            <a:off x="6848856" y="3154680"/>
            <a:ext cx="2313432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0" name="Connector 539"/>
          <p:cNvCxnSpPr/>
          <p:nvPr/>
        </p:nvCxnSpPr>
        <p:spPr>
          <a:xfrm flipH="1">
            <a:off x="8001000" y="3154680"/>
            <a:ext cx="1161288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1" name="Connector 540"/>
          <p:cNvCxnSpPr/>
          <p:nvPr/>
        </p:nvCxnSpPr>
        <p:spPr>
          <a:xfrm flipH="1">
            <a:off x="8805672" y="3154680"/>
            <a:ext cx="356616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2" name="Connector 541"/>
          <p:cNvCxnSpPr/>
          <p:nvPr/>
        </p:nvCxnSpPr>
        <p:spPr>
          <a:xfrm>
            <a:off x="9162288" y="3154680"/>
            <a:ext cx="448056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3" name="Connector 542"/>
          <p:cNvCxnSpPr/>
          <p:nvPr/>
        </p:nvCxnSpPr>
        <p:spPr>
          <a:xfrm>
            <a:off x="9162288" y="3154680"/>
            <a:ext cx="1252728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4" name="Connector 543"/>
          <p:cNvCxnSpPr/>
          <p:nvPr/>
        </p:nvCxnSpPr>
        <p:spPr>
          <a:xfrm>
            <a:off x="9162288" y="3154680"/>
            <a:ext cx="2404872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5" name="Connector 544"/>
          <p:cNvCxnSpPr/>
          <p:nvPr/>
        </p:nvCxnSpPr>
        <p:spPr>
          <a:xfrm>
            <a:off x="9162288" y="3154680"/>
            <a:ext cx="3209544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6" name="Connector 545"/>
          <p:cNvCxnSpPr/>
          <p:nvPr/>
        </p:nvCxnSpPr>
        <p:spPr>
          <a:xfrm>
            <a:off x="9162288" y="3154680"/>
            <a:ext cx="4014216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7" name="Connector 546"/>
          <p:cNvCxnSpPr/>
          <p:nvPr/>
        </p:nvCxnSpPr>
        <p:spPr>
          <a:xfrm>
            <a:off x="9162288" y="3154680"/>
            <a:ext cx="4818888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8" name="Connector 547"/>
          <p:cNvCxnSpPr/>
          <p:nvPr/>
        </p:nvCxnSpPr>
        <p:spPr>
          <a:xfrm>
            <a:off x="9162288" y="3154680"/>
            <a:ext cx="5971032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9" name="Connector 548"/>
          <p:cNvCxnSpPr/>
          <p:nvPr/>
        </p:nvCxnSpPr>
        <p:spPr>
          <a:xfrm>
            <a:off x="9162288" y="3154680"/>
            <a:ext cx="6775704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0" name="Connector 549"/>
          <p:cNvCxnSpPr/>
          <p:nvPr/>
        </p:nvCxnSpPr>
        <p:spPr>
          <a:xfrm>
            <a:off x="9162288" y="3154680"/>
            <a:ext cx="7580375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1" name="Connector 550"/>
          <p:cNvCxnSpPr/>
          <p:nvPr/>
        </p:nvCxnSpPr>
        <p:spPr>
          <a:xfrm>
            <a:off x="9162288" y="3154680"/>
            <a:ext cx="8385048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2" name="Connector 551"/>
          <p:cNvCxnSpPr/>
          <p:nvPr/>
        </p:nvCxnSpPr>
        <p:spPr>
          <a:xfrm>
            <a:off x="9162288" y="3154680"/>
            <a:ext cx="9537192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3" name="Connector 552"/>
          <p:cNvCxnSpPr/>
          <p:nvPr/>
        </p:nvCxnSpPr>
        <p:spPr>
          <a:xfrm>
            <a:off x="9162288" y="3154680"/>
            <a:ext cx="10341864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4" name="Connector 553"/>
          <p:cNvCxnSpPr/>
          <p:nvPr/>
        </p:nvCxnSpPr>
        <p:spPr>
          <a:xfrm>
            <a:off x="9162288" y="3154680"/>
            <a:ext cx="11146536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5" name="Connector 554"/>
          <p:cNvCxnSpPr/>
          <p:nvPr/>
        </p:nvCxnSpPr>
        <p:spPr>
          <a:xfrm>
            <a:off x="9162288" y="3154680"/>
            <a:ext cx="11951208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6" name="Connector 555"/>
          <p:cNvCxnSpPr/>
          <p:nvPr/>
        </p:nvCxnSpPr>
        <p:spPr>
          <a:xfrm flipH="1">
            <a:off x="868680" y="3154680"/>
            <a:ext cx="8293608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7" name="Connector 556"/>
          <p:cNvCxnSpPr/>
          <p:nvPr/>
        </p:nvCxnSpPr>
        <p:spPr>
          <a:xfrm flipH="1">
            <a:off x="1673352" y="3154680"/>
            <a:ext cx="7488936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8" name="Connector 557"/>
          <p:cNvCxnSpPr/>
          <p:nvPr/>
        </p:nvCxnSpPr>
        <p:spPr>
          <a:xfrm flipH="1">
            <a:off x="2478024" y="3154680"/>
            <a:ext cx="6684264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9" name="Connector 558"/>
          <p:cNvCxnSpPr/>
          <p:nvPr/>
        </p:nvCxnSpPr>
        <p:spPr>
          <a:xfrm flipH="1">
            <a:off x="3282696" y="3154680"/>
            <a:ext cx="5879592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0" name="Connector 559"/>
          <p:cNvCxnSpPr/>
          <p:nvPr/>
        </p:nvCxnSpPr>
        <p:spPr>
          <a:xfrm flipH="1">
            <a:off x="4434840" y="3154680"/>
            <a:ext cx="4727448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1" name="Connector 560"/>
          <p:cNvCxnSpPr/>
          <p:nvPr/>
        </p:nvCxnSpPr>
        <p:spPr>
          <a:xfrm flipH="1">
            <a:off x="5239512" y="3154680"/>
            <a:ext cx="3922776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2" name="Connector 561"/>
          <p:cNvCxnSpPr/>
          <p:nvPr/>
        </p:nvCxnSpPr>
        <p:spPr>
          <a:xfrm flipH="1">
            <a:off x="6044184" y="3154680"/>
            <a:ext cx="3118104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3" name="Connector 562"/>
          <p:cNvCxnSpPr/>
          <p:nvPr/>
        </p:nvCxnSpPr>
        <p:spPr>
          <a:xfrm flipH="1">
            <a:off x="6848856" y="3154680"/>
            <a:ext cx="2313432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4" name="Connector 563"/>
          <p:cNvCxnSpPr/>
          <p:nvPr/>
        </p:nvCxnSpPr>
        <p:spPr>
          <a:xfrm flipH="1">
            <a:off x="8001000" y="3154680"/>
            <a:ext cx="1161288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5" name="Connector 564"/>
          <p:cNvCxnSpPr/>
          <p:nvPr/>
        </p:nvCxnSpPr>
        <p:spPr>
          <a:xfrm flipH="1">
            <a:off x="8805672" y="3154680"/>
            <a:ext cx="356616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>
            <a:off x="9162288" y="3154680"/>
            <a:ext cx="448056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Connector 566"/>
          <p:cNvCxnSpPr/>
          <p:nvPr/>
        </p:nvCxnSpPr>
        <p:spPr>
          <a:xfrm>
            <a:off x="9162288" y="3154680"/>
            <a:ext cx="1252728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Connector 567"/>
          <p:cNvCxnSpPr/>
          <p:nvPr/>
        </p:nvCxnSpPr>
        <p:spPr>
          <a:xfrm>
            <a:off x="9162288" y="3154680"/>
            <a:ext cx="2404872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>
            <a:off x="9162288" y="3154680"/>
            <a:ext cx="3209544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>
            <a:off x="9162288" y="3154680"/>
            <a:ext cx="4014216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1" name="Connector 570"/>
          <p:cNvCxnSpPr/>
          <p:nvPr/>
        </p:nvCxnSpPr>
        <p:spPr>
          <a:xfrm>
            <a:off x="9162288" y="3154680"/>
            <a:ext cx="4818888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>
            <a:off x="9162288" y="3154680"/>
            <a:ext cx="5971032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3" name="Connector 572"/>
          <p:cNvCxnSpPr/>
          <p:nvPr/>
        </p:nvCxnSpPr>
        <p:spPr>
          <a:xfrm>
            <a:off x="9162288" y="3154680"/>
            <a:ext cx="6775704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>
            <a:off x="9162288" y="3154680"/>
            <a:ext cx="7580375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>
            <a:off x="9162288" y="3154680"/>
            <a:ext cx="8385048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>
            <a:off x="9162288" y="3154680"/>
            <a:ext cx="9537192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7" name="Connector 576"/>
          <p:cNvCxnSpPr/>
          <p:nvPr/>
        </p:nvCxnSpPr>
        <p:spPr>
          <a:xfrm>
            <a:off x="9162288" y="3154680"/>
            <a:ext cx="10341864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>
            <a:off x="9162288" y="3154680"/>
            <a:ext cx="11146536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9" name="Connector 578"/>
          <p:cNvCxnSpPr/>
          <p:nvPr/>
        </p:nvCxnSpPr>
        <p:spPr>
          <a:xfrm>
            <a:off x="9162288" y="3154680"/>
            <a:ext cx="11951208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0" name="Connector 579"/>
          <p:cNvCxnSpPr/>
          <p:nvPr/>
        </p:nvCxnSpPr>
        <p:spPr>
          <a:xfrm flipH="1">
            <a:off x="868680" y="3154680"/>
            <a:ext cx="9464040" cy="4480560"/>
          </a:xfrm>
          <a:prstGeom prst="line">
            <a:avLst/>
          </a:prstGeom>
          <a:ln w="27432">
            <a:solidFill>
              <a:srgbClr val="D64B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 flipH="1">
            <a:off x="1673352" y="3154680"/>
            <a:ext cx="8659368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 flipH="1">
            <a:off x="2478024" y="3154680"/>
            <a:ext cx="7854696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Connector 582"/>
          <p:cNvCxnSpPr/>
          <p:nvPr/>
        </p:nvCxnSpPr>
        <p:spPr>
          <a:xfrm flipH="1">
            <a:off x="3282696" y="3154680"/>
            <a:ext cx="7050024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Connector 583"/>
          <p:cNvCxnSpPr/>
          <p:nvPr/>
        </p:nvCxnSpPr>
        <p:spPr>
          <a:xfrm flipH="1">
            <a:off x="4434840" y="3154680"/>
            <a:ext cx="5897880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Connector 584"/>
          <p:cNvCxnSpPr/>
          <p:nvPr/>
        </p:nvCxnSpPr>
        <p:spPr>
          <a:xfrm flipH="1">
            <a:off x="5239512" y="3154680"/>
            <a:ext cx="5093208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Connector 585"/>
          <p:cNvCxnSpPr/>
          <p:nvPr/>
        </p:nvCxnSpPr>
        <p:spPr>
          <a:xfrm flipH="1">
            <a:off x="6044184" y="3154680"/>
            <a:ext cx="4288536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Connector 586"/>
          <p:cNvCxnSpPr/>
          <p:nvPr/>
        </p:nvCxnSpPr>
        <p:spPr>
          <a:xfrm flipH="1">
            <a:off x="6848856" y="3154680"/>
            <a:ext cx="3483864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8" name="Connector 587"/>
          <p:cNvCxnSpPr/>
          <p:nvPr/>
        </p:nvCxnSpPr>
        <p:spPr>
          <a:xfrm flipH="1">
            <a:off x="8001000" y="3154680"/>
            <a:ext cx="2331720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9" name="Connector 588"/>
          <p:cNvCxnSpPr/>
          <p:nvPr/>
        </p:nvCxnSpPr>
        <p:spPr>
          <a:xfrm flipH="1">
            <a:off x="8805672" y="3154680"/>
            <a:ext cx="1527048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Connector 589"/>
          <p:cNvCxnSpPr/>
          <p:nvPr/>
        </p:nvCxnSpPr>
        <p:spPr>
          <a:xfrm flipH="1">
            <a:off x="9610344" y="3154680"/>
            <a:ext cx="722376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1" name="Connector 590"/>
          <p:cNvCxnSpPr/>
          <p:nvPr/>
        </p:nvCxnSpPr>
        <p:spPr>
          <a:xfrm>
            <a:off x="10332720" y="3154680"/>
            <a:ext cx="82296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2" name="Connector 591"/>
          <p:cNvCxnSpPr/>
          <p:nvPr/>
        </p:nvCxnSpPr>
        <p:spPr>
          <a:xfrm>
            <a:off x="10332720" y="3154680"/>
            <a:ext cx="1234440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>
            <a:off x="10332720" y="3154680"/>
            <a:ext cx="2039112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Connector 593"/>
          <p:cNvCxnSpPr/>
          <p:nvPr/>
        </p:nvCxnSpPr>
        <p:spPr>
          <a:xfrm>
            <a:off x="10332720" y="3154680"/>
            <a:ext cx="2843784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Connector 594"/>
          <p:cNvCxnSpPr/>
          <p:nvPr/>
        </p:nvCxnSpPr>
        <p:spPr>
          <a:xfrm>
            <a:off x="10332720" y="3154680"/>
            <a:ext cx="3648456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Connector 595"/>
          <p:cNvCxnSpPr/>
          <p:nvPr/>
        </p:nvCxnSpPr>
        <p:spPr>
          <a:xfrm>
            <a:off x="10332720" y="3154680"/>
            <a:ext cx="4800600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7" name="Connector 596"/>
          <p:cNvCxnSpPr/>
          <p:nvPr/>
        </p:nvCxnSpPr>
        <p:spPr>
          <a:xfrm>
            <a:off x="10332720" y="3154680"/>
            <a:ext cx="5605272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Connector 597"/>
          <p:cNvCxnSpPr/>
          <p:nvPr/>
        </p:nvCxnSpPr>
        <p:spPr>
          <a:xfrm>
            <a:off x="10332720" y="3154680"/>
            <a:ext cx="6409943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9" name="Connector 598"/>
          <p:cNvCxnSpPr/>
          <p:nvPr/>
        </p:nvCxnSpPr>
        <p:spPr>
          <a:xfrm>
            <a:off x="10332720" y="3154680"/>
            <a:ext cx="7214616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Connector 599"/>
          <p:cNvCxnSpPr/>
          <p:nvPr/>
        </p:nvCxnSpPr>
        <p:spPr>
          <a:xfrm>
            <a:off x="10332720" y="3154680"/>
            <a:ext cx="8366760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>
            <a:off x="10332720" y="3154680"/>
            <a:ext cx="9171432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2" name="Connector 601"/>
          <p:cNvCxnSpPr/>
          <p:nvPr/>
        </p:nvCxnSpPr>
        <p:spPr>
          <a:xfrm>
            <a:off x="10332720" y="3154680"/>
            <a:ext cx="9976104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3" name="Connector 602"/>
          <p:cNvCxnSpPr/>
          <p:nvPr/>
        </p:nvCxnSpPr>
        <p:spPr>
          <a:xfrm>
            <a:off x="10332720" y="3154680"/>
            <a:ext cx="10780776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4" name="Connector 603"/>
          <p:cNvCxnSpPr/>
          <p:nvPr/>
        </p:nvCxnSpPr>
        <p:spPr>
          <a:xfrm flipH="1">
            <a:off x="868680" y="3154680"/>
            <a:ext cx="9464040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5" name="Connector 604"/>
          <p:cNvCxnSpPr/>
          <p:nvPr/>
        </p:nvCxnSpPr>
        <p:spPr>
          <a:xfrm flipH="1">
            <a:off x="1673352" y="3154680"/>
            <a:ext cx="8659368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6" name="Connector 605"/>
          <p:cNvCxnSpPr/>
          <p:nvPr/>
        </p:nvCxnSpPr>
        <p:spPr>
          <a:xfrm flipH="1">
            <a:off x="2478024" y="3154680"/>
            <a:ext cx="7854696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7" name="Connector 606"/>
          <p:cNvCxnSpPr/>
          <p:nvPr/>
        </p:nvCxnSpPr>
        <p:spPr>
          <a:xfrm flipH="1">
            <a:off x="3282696" y="3154680"/>
            <a:ext cx="7050024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8" name="Connector 607"/>
          <p:cNvCxnSpPr/>
          <p:nvPr/>
        </p:nvCxnSpPr>
        <p:spPr>
          <a:xfrm flipH="1">
            <a:off x="4434840" y="3154680"/>
            <a:ext cx="5897880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9" name="Connector 608"/>
          <p:cNvCxnSpPr/>
          <p:nvPr/>
        </p:nvCxnSpPr>
        <p:spPr>
          <a:xfrm flipH="1">
            <a:off x="5239512" y="3154680"/>
            <a:ext cx="5093208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0" name="Connector 609"/>
          <p:cNvCxnSpPr/>
          <p:nvPr/>
        </p:nvCxnSpPr>
        <p:spPr>
          <a:xfrm flipH="1">
            <a:off x="6044184" y="3154680"/>
            <a:ext cx="4288536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1" name="Connector 610"/>
          <p:cNvCxnSpPr/>
          <p:nvPr/>
        </p:nvCxnSpPr>
        <p:spPr>
          <a:xfrm flipH="1">
            <a:off x="6848856" y="3154680"/>
            <a:ext cx="3483864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2" name="Connector 611"/>
          <p:cNvCxnSpPr/>
          <p:nvPr/>
        </p:nvCxnSpPr>
        <p:spPr>
          <a:xfrm flipH="1">
            <a:off x="8001000" y="3154680"/>
            <a:ext cx="2331720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3" name="Connector 612"/>
          <p:cNvCxnSpPr/>
          <p:nvPr/>
        </p:nvCxnSpPr>
        <p:spPr>
          <a:xfrm flipH="1">
            <a:off x="8805672" y="3154680"/>
            <a:ext cx="1527048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4" name="Connector 613"/>
          <p:cNvCxnSpPr/>
          <p:nvPr/>
        </p:nvCxnSpPr>
        <p:spPr>
          <a:xfrm flipH="1">
            <a:off x="9610344" y="3154680"/>
            <a:ext cx="722376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5" name="Connector 614"/>
          <p:cNvCxnSpPr/>
          <p:nvPr/>
        </p:nvCxnSpPr>
        <p:spPr>
          <a:xfrm>
            <a:off x="10332720" y="3154680"/>
            <a:ext cx="82296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6" name="Connector 615"/>
          <p:cNvCxnSpPr/>
          <p:nvPr/>
        </p:nvCxnSpPr>
        <p:spPr>
          <a:xfrm>
            <a:off x="10332720" y="3154680"/>
            <a:ext cx="1234440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>
            <a:off x="10332720" y="3154680"/>
            <a:ext cx="2039112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8" name="Connector 617"/>
          <p:cNvCxnSpPr/>
          <p:nvPr/>
        </p:nvCxnSpPr>
        <p:spPr>
          <a:xfrm>
            <a:off x="10332720" y="3154680"/>
            <a:ext cx="2843784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9" name="Connector 618"/>
          <p:cNvCxnSpPr/>
          <p:nvPr/>
        </p:nvCxnSpPr>
        <p:spPr>
          <a:xfrm>
            <a:off x="10332720" y="3154680"/>
            <a:ext cx="3648456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0" name="Connector 619"/>
          <p:cNvCxnSpPr/>
          <p:nvPr/>
        </p:nvCxnSpPr>
        <p:spPr>
          <a:xfrm>
            <a:off x="10332720" y="3154680"/>
            <a:ext cx="4800600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1" name="Connector 620"/>
          <p:cNvCxnSpPr/>
          <p:nvPr/>
        </p:nvCxnSpPr>
        <p:spPr>
          <a:xfrm>
            <a:off x="10332720" y="3154680"/>
            <a:ext cx="5605272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2" name="Connector 621"/>
          <p:cNvCxnSpPr/>
          <p:nvPr/>
        </p:nvCxnSpPr>
        <p:spPr>
          <a:xfrm>
            <a:off x="10332720" y="3154680"/>
            <a:ext cx="6409943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3" name="Connector 622"/>
          <p:cNvCxnSpPr/>
          <p:nvPr/>
        </p:nvCxnSpPr>
        <p:spPr>
          <a:xfrm>
            <a:off x="10332720" y="3154680"/>
            <a:ext cx="7214616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4" name="Connector 623"/>
          <p:cNvCxnSpPr/>
          <p:nvPr/>
        </p:nvCxnSpPr>
        <p:spPr>
          <a:xfrm>
            <a:off x="10332720" y="3154680"/>
            <a:ext cx="8366760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5" name="Connector 624"/>
          <p:cNvCxnSpPr/>
          <p:nvPr/>
        </p:nvCxnSpPr>
        <p:spPr>
          <a:xfrm>
            <a:off x="10332720" y="3154680"/>
            <a:ext cx="9171432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6" name="Connector 625"/>
          <p:cNvCxnSpPr/>
          <p:nvPr/>
        </p:nvCxnSpPr>
        <p:spPr>
          <a:xfrm>
            <a:off x="10332720" y="3154680"/>
            <a:ext cx="9976104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7" name="Connector 626"/>
          <p:cNvCxnSpPr/>
          <p:nvPr/>
        </p:nvCxnSpPr>
        <p:spPr>
          <a:xfrm>
            <a:off x="10332720" y="3154680"/>
            <a:ext cx="10780776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8" name="Connector 627"/>
          <p:cNvCxnSpPr/>
          <p:nvPr/>
        </p:nvCxnSpPr>
        <p:spPr>
          <a:xfrm flipH="1">
            <a:off x="868680" y="3154680"/>
            <a:ext cx="9464040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9" name="Connector 628"/>
          <p:cNvCxnSpPr/>
          <p:nvPr/>
        </p:nvCxnSpPr>
        <p:spPr>
          <a:xfrm flipH="1">
            <a:off x="1673352" y="3154680"/>
            <a:ext cx="8659368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0" name="Connector 629"/>
          <p:cNvCxnSpPr/>
          <p:nvPr/>
        </p:nvCxnSpPr>
        <p:spPr>
          <a:xfrm flipH="1">
            <a:off x="2478024" y="3154680"/>
            <a:ext cx="7854696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1" name="Connector 630"/>
          <p:cNvCxnSpPr/>
          <p:nvPr/>
        </p:nvCxnSpPr>
        <p:spPr>
          <a:xfrm flipH="1">
            <a:off x="3282696" y="3154680"/>
            <a:ext cx="7050024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2" name="Connector 631"/>
          <p:cNvCxnSpPr/>
          <p:nvPr/>
        </p:nvCxnSpPr>
        <p:spPr>
          <a:xfrm flipH="1">
            <a:off x="4434840" y="3154680"/>
            <a:ext cx="5897880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3" name="Connector 632"/>
          <p:cNvCxnSpPr/>
          <p:nvPr/>
        </p:nvCxnSpPr>
        <p:spPr>
          <a:xfrm flipH="1">
            <a:off x="5239512" y="3154680"/>
            <a:ext cx="5093208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4" name="Connector 633"/>
          <p:cNvCxnSpPr/>
          <p:nvPr/>
        </p:nvCxnSpPr>
        <p:spPr>
          <a:xfrm flipH="1">
            <a:off x="6044184" y="3154680"/>
            <a:ext cx="4288536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5" name="Connector 634"/>
          <p:cNvCxnSpPr/>
          <p:nvPr/>
        </p:nvCxnSpPr>
        <p:spPr>
          <a:xfrm flipH="1">
            <a:off x="6848856" y="3154680"/>
            <a:ext cx="3483864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6" name="Connector 635"/>
          <p:cNvCxnSpPr/>
          <p:nvPr/>
        </p:nvCxnSpPr>
        <p:spPr>
          <a:xfrm flipH="1">
            <a:off x="8001000" y="3154680"/>
            <a:ext cx="2331720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7" name="Connector 636"/>
          <p:cNvCxnSpPr/>
          <p:nvPr/>
        </p:nvCxnSpPr>
        <p:spPr>
          <a:xfrm flipH="1">
            <a:off x="8805672" y="3154680"/>
            <a:ext cx="1527048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8" name="Connector 637"/>
          <p:cNvCxnSpPr/>
          <p:nvPr/>
        </p:nvCxnSpPr>
        <p:spPr>
          <a:xfrm flipH="1">
            <a:off x="9610344" y="3154680"/>
            <a:ext cx="722376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9" name="Connector 638"/>
          <p:cNvCxnSpPr/>
          <p:nvPr/>
        </p:nvCxnSpPr>
        <p:spPr>
          <a:xfrm>
            <a:off x="10332720" y="3154680"/>
            <a:ext cx="82296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0" name="Connector 639"/>
          <p:cNvCxnSpPr/>
          <p:nvPr/>
        </p:nvCxnSpPr>
        <p:spPr>
          <a:xfrm>
            <a:off x="10332720" y="3154680"/>
            <a:ext cx="1234440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1" name="Connector 640"/>
          <p:cNvCxnSpPr/>
          <p:nvPr/>
        </p:nvCxnSpPr>
        <p:spPr>
          <a:xfrm>
            <a:off x="10332720" y="3154680"/>
            <a:ext cx="2039112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2" name="Connector 641"/>
          <p:cNvCxnSpPr/>
          <p:nvPr/>
        </p:nvCxnSpPr>
        <p:spPr>
          <a:xfrm>
            <a:off x="10332720" y="3154680"/>
            <a:ext cx="2843784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3" name="Connector 642"/>
          <p:cNvCxnSpPr/>
          <p:nvPr/>
        </p:nvCxnSpPr>
        <p:spPr>
          <a:xfrm>
            <a:off x="10332720" y="3154680"/>
            <a:ext cx="3648456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4" name="Connector 643"/>
          <p:cNvCxnSpPr/>
          <p:nvPr/>
        </p:nvCxnSpPr>
        <p:spPr>
          <a:xfrm>
            <a:off x="10332720" y="3154680"/>
            <a:ext cx="4800600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5" name="Connector 644"/>
          <p:cNvCxnSpPr/>
          <p:nvPr/>
        </p:nvCxnSpPr>
        <p:spPr>
          <a:xfrm>
            <a:off x="10332720" y="3154680"/>
            <a:ext cx="5605272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6" name="Connector 645"/>
          <p:cNvCxnSpPr/>
          <p:nvPr/>
        </p:nvCxnSpPr>
        <p:spPr>
          <a:xfrm>
            <a:off x="10332720" y="3154680"/>
            <a:ext cx="6409943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7" name="Connector 646"/>
          <p:cNvCxnSpPr/>
          <p:nvPr/>
        </p:nvCxnSpPr>
        <p:spPr>
          <a:xfrm>
            <a:off x="10332720" y="3154680"/>
            <a:ext cx="7214616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8" name="Connector 647"/>
          <p:cNvCxnSpPr/>
          <p:nvPr/>
        </p:nvCxnSpPr>
        <p:spPr>
          <a:xfrm>
            <a:off x="10332720" y="3154680"/>
            <a:ext cx="8366760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9" name="Connector 648"/>
          <p:cNvCxnSpPr/>
          <p:nvPr/>
        </p:nvCxnSpPr>
        <p:spPr>
          <a:xfrm>
            <a:off x="10332720" y="3154680"/>
            <a:ext cx="9171432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0" name="Connector 649"/>
          <p:cNvCxnSpPr/>
          <p:nvPr/>
        </p:nvCxnSpPr>
        <p:spPr>
          <a:xfrm>
            <a:off x="10332720" y="3154680"/>
            <a:ext cx="9976104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1" name="Connector 650"/>
          <p:cNvCxnSpPr/>
          <p:nvPr/>
        </p:nvCxnSpPr>
        <p:spPr>
          <a:xfrm>
            <a:off x="10332720" y="3154680"/>
            <a:ext cx="10780776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2" name="Connector 651"/>
          <p:cNvCxnSpPr/>
          <p:nvPr/>
        </p:nvCxnSpPr>
        <p:spPr>
          <a:xfrm flipH="1">
            <a:off x="868680" y="3154680"/>
            <a:ext cx="10634472" cy="4480560"/>
          </a:xfrm>
          <a:prstGeom prst="line">
            <a:avLst/>
          </a:prstGeom>
          <a:ln w="27432">
            <a:solidFill>
              <a:srgbClr val="D64B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3" name="Connector 652"/>
          <p:cNvCxnSpPr/>
          <p:nvPr/>
        </p:nvCxnSpPr>
        <p:spPr>
          <a:xfrm flipH="1">
            <a:off x="1673352" y="3154680"/>
            <a:ext cx="9829800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4" name="Connector 653"/>
          <p:cNvCxnSpPr/>
          <p:nvPr/>
        </p:nvCxnSpPr>
        <p:spPr>
          <a:xfrm flipH="1">
            <a:off x="2478024" y="3154680"/>
            <a:ext cx="9025128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5" name="Connector 654"/>
          <p:cNvCxnSpPr/>
          <p:nvPr/>
        </p:nvCxnSpPr>
        <p:spPr>
          <a:xfrm flipH="1">
            <a:off x="3282696" y="3154680"/>
            <a:ext cx="8220456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6" name="Connector 655"/>
          <p:cNvCxnSpPr/>
          <p:nvPr/>
        </p:nvCxnSpPr>
        <p:spPr>
          <a:xfrm flipH="1">
            <a:off x="4434840" y="3154680"/>
            <a:ext cx="7068312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7" name="Connector 656"/>
          <p:cNvCxnSpPr/>
          <p:nvPr/>
        </p:nvCxnSpPr>
        <p:spPr>
          <a:xfrm flipH="1">
            <a:off x="5239512" y="3154680"/>
            <a:ext cx="6263640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8" name="Connector 657"/>
          <p:cNvCxnSpPr/>
          <p:nvPr/>
        </p:nvCxnSpPr>
        <p:spPr>
          <a:xfrm flipH="1">
            <a:off x="6044184" y="3154680"/>
            <a:ext cx="5458968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9" name="Connector 658"/>
          <p:cNvCxnSpPr/>
          <p:nvPr/>
        </p:nvCxnSpPr>
        <p:spPr>
          <a:xfrm flipH="1">
            <a:off x="6848856" y="3154680"/>
            <a:ext cx="4654296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0" name="Connector 659"/>
          <p:cNvCxnSpPr/>
          <p:nvPr/>
        </p:nvCxnSpPr>
        <p:spPr>
          <a:xfrm flipH="1">
            <a:off x="8001000" y="3154680"/>
            <a:ext cx="3502152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1" name="Connector 660"/>
          <p:cNvCxnSpPr/>
          <p:nvPr/>
        </p:nvCxnSpPr>
        <p:spPr>
          <a:xfrm flipH="1">
            <a:off x="8805672" y="3154680"/>
            <a:ext cx="2697480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2" name="Connector 661"/>
          <p:cNvCxnSpPr/>
          <p:nvPr/>
        </p:nvCxnSpPr>
        <p:spPr>
          <a:xfrm flipH="1">
            <a:off x="9610344" y="3154680"/>
            <a:ext cx="1892808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3" name="Connector 662"/>
          <p:cNvCxnSpPr/>
          <p:nvPr/>
        </p:nvCxnSpPr>
        <p:spPr>
          <a:xfrm flipH="1">
            <a:off x="10415016" y="3154680"/>
            <a:ext cx="1088136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4" name="Connector 663"/>
          <p:cNvCxnSpPr/>
          <p:nvPr/>
        </p:nvCxnSpPr>
        <p:spPr>
          <a:xfrm>
            <a:off x="11503152" y="3154680"/>
            <a:ext cx="64008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5" name="Connector 664"/>
          <p:cNvCxnSpPr/>
          <p:nvPr/>
        </p:nvCxnSpPr>
        <p:spPr>
          <a:xfrm>
            <a:off x="11503152" y="3154680"/>
            <a:ext cx="868680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6" name="Connector 665"/>
          <p:cNvCxnSpPr/>
          <p:nvPr/>
        </p:nvCxnSpPr>
        <p:spPr>
          <a:xfrm>
            <a:off x="11503152" y="3154680"/>
            <a:ext cx="1673352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7" name="Connector 666"/>
          <p:cNvCxnSpPr/>
          <p:nvPr/>
        </p:nvCxnSpPr>
        <p:spPr>
          <a:xfrm>
            <a:off x="11503152" y="3154680"/>
            <a:ext cx="2478024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8" name="Connector 667"/>
          <p:cNvCxnSpPr/>
          <p:nvPr/>
        </p:nvCxnSpPr>
        <p:spPr>
          <a:xfrm>
            <a:off x="11503152" y="3154680"/>
            <a:ext cx="3630168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9" name="Connector 668"/>
          <p:cNvCxnSpPr/>
          <p:nvPr/>
        </p:nvCxnSpPr>
        <p:spPr>
          <a:xfrm>
            <a:off x="11503152" y="3154680"/>
            <a:ext cx="4434840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0" name="Connector 669"/>
          <p:cNvCxnSpPr/>
          <p:nvPr/>
        </p:nvCxnSpPr>
        <p:spPr>
          <a:xfrm>
            <a:off x="11503152" y="3154680"/>
            <a:ext cx="5239511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1" name="Connector 670"/>
          <p:cNvCxnSpPr/>
          <p:nvPr/>
        </p:nvCxnSpPr>
        <p:spPr>
          <a:xfrm>
            <a:off x="11503152" y="3154680"/>
            <a:ext cx="6044184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2" name="Connector 671"/>
          <p:cNvCxnSpPr/>
          <p:nvPr/>
        </p:nvCxnSpPr>
        <p:spPr>
          <a:xfrm>
            <a:off x="11503152" y="3154680"/>
            <a:ext cx="7196328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3" name="Connector 672"/>
          <p:cNvCxnSpPr/>
          <p:nvPr/>
        </p:nvCxnSpPr>
        <p:spPr>
          <a:xfrm>
            <a:off x="11503152" y="3154680"/>
            <a:ext cx="8001000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4" name="Connector 673"/>
          <p:cNvCxnSpPr/>
          <p:nvPr/>
        </p:nvCxnSpPr>
        <p:spPr>
          <a:xfrm>
            <a:off x="11503152" y="3154680"/>
            <a:ext cx="8805672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5" name="Connector 674"/>
          <p:cNvCxnSpPr/>
          <p:nvPr/>
        </p:nvCxnSpPr>
        <p:spPr>
          <a:xfrm>
            <a:off x="11503152" y="3154680"/>
            <a:ext cx="9610344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6" name="Connector 675"/>
          <p:cNvCxnSpPr/>
          <p:nvPr/>
        </p:nvCxnSpPr>
        <p:spPr>
          <a:xfrm flipH="1">
            <a:off x="868680" y="3154680"/>
            <a:ext cx="10634472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7" name="Connector 676"/>
          <p:cNvCxnSpPr/>
          <p:nvPr/>
        </p:nvCxnSpPr>
        <p:spPr>
          <a:xfrm flipH="1">
            <a:off x="1673352" y="3154680"/>
            <a:ext cx="9829800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8" name="Connector 677"/>
          <p:cNvCxnSpPr/>
          <p:nvPr/>
        </p:nvCxnSpPr>
        <p:spPr>
          <a:xfrm flipH="1">
            <a:off x="2478024" y="3154680"/>
            <a:ext cx="9025128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9" name="Connector 678"/>
          <p:cNvCxnSpPr/>
          <p:nvPr/>
        </p:nvCxnSpPr>
        <p:spPr>
          <a:xfrm flipH="1">
            <a:off x="3282696" y="3154680"/>
            <a:ext cx="8220456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0" name="Connector 679"/>
          <p:cNvCxnSpPr/>
          <p:nvPr/>
        </p:nvCxnSpPr>
        <p:spPr>
          <a:xfrm flipH="1">
            <a:off x="4434840" y="3154680"/>
            <a:ext cx="7068312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1" name="Connector 680"/>
          <p:cNvCxnSpPr/>
          <p:nvPr/>
        </p:nvCxnSpPr>
        <p:spPr>
          <a:xfrm flipH="1">
            <a:off x="5239512" y="3154680"/>
            <a:ext cx="6263640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2" name="Connector 681"/>
          <p:cNvCxnSpPr/>
          <p:nvPr/>
        </p:nvCxnSpPr>
        <p:spPr>
          <a:xfrm flipH="1">
            <a:off x="6044184" y="3154680"/>
            <a:ext cx="5458968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3" name="Connector 682"/>
          <p:cNvCxnSpPr/>
          <p:nvPr/>
        </p:nvCxnSpPr>
        <p:spPr>
          <a:xfrm flipH="1">
            <a:off x="6848856" y="3154680"/>
            <a:ext cx="4654296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4" name="Connector 683"/>
          <p:cNvCxnSpPr/>
          <p:nvPr/>
        </p:nvCxnSpPr>
        <p:spPr>
          <a:xfrm flipH="1">
            <a:off x="8001000" y="3154680"/>
            <a:ext cx="3502152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5" name="Connector 684"/>
          <p:cNvCxnSpPr/>
          <p:nvPr/>
        </p:nvCxnSpPr>
        <p:spPr>
          <a:xfrm flipH="1">
            <a:off x="8805672" y="3154680"/>
            <a:ext cx="2697480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6" name="Connector 685"/>
          <p:cNvCxnSpPr/>
          <p:nvPr/>
        </p:nvCxnSpPr>
        <p:spPr>
          <a:xfrm flipH="1">
            <a:off x="9610344" y="3154680"/>
            <a:ext cx="1892808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7" name="Connector 686"/>
          <p:cNvCxnSpPr/>
          <p:nvPr/>
        </p:nvCxnSpPr>
        <p:spPr>
          <a:xfrm flipH="1">
            <a:off x="10415016" y="3154680"/>
            <a:ext cx="1088136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8" name="Connector 687"/>
          <p:cNvCxnSpPr/>
          <p:nvPr/>
        </p:nvCxnSpPr>
        <p:spPr>
          <a:xfrm>
            <a:off x="11503152" y="3154680"/>
            <a:ext cx="64008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9" name="Connector 688"/>
          <p:cNvCxnSpPr/>
          <p:nvPr/>
        </p:nvCxnSpPr>
        <p:spPr>
          <a:xfrm>
            <a:off x="11503152" y="3154680"/>
            <a:ext cx="868680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0" name="Connector 689"/>
          <p:cNvCxnSpPr/>
          <p:nvPr/>
        </p:nvCxnSpPr>
        <p:spPr>
          <a:xfrm>
            <a:off x="11503152" y="3154680"/>
            <a:ext cx="1673352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1" name="Connector 690"/>
          <p:cNvCxnSpPr/>
          <p:nvPr/>
        </p:nvCxnSpPr>
        <p:spPr>
          <a:xfrm>
            <a:off x="11503152" y="3154680"/>
            <a:ext cx="2478024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2" name="Connector 691"/>
          <p:cNvCxnSpPr/>
          <p:nvPr/>
        </p:nvCxnSpPr>
        <p:spPr>
          <a:xfrm>
            <a:off x="11503152" y="3154680"/>
            <a:ext cx="3630168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3" name="Connector 692"/>
          <p:cNvCxnSpPr/>
          <p:nvPr/>
        </p:nvCxnSpPr>
        <p:spPr>
          <a:xfrm>
            <a:off x="11503152" y="3154680"/>
            <a:ext cx="4434840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4" name="Connector 693"/>
          <p:cNvCxnSpPr/>
          <p:nvPr/>
        </p:nvCxnSpPr>
        <p:spPr>
          <a:xfrm>
            <a:off x="11503152" y="3154680"/>
            <a:ext cx="5239511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5" name="Connector 694"/>
          <p:cNvCxnSpPr/>
          <p:nvPr/>
        </p:nvCxnSpPr>
        <p:spPr>
          <a:xfrm>
            <a:off x="11503152" y="3154680"/>
            <a:ext cx="6044184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6" name="Connector 695"/>
          <p:cNvCxnSpPr/>
          <p:nvPr/>
        </p:nvCxnSpPr>
        <p:spPr>
          <a:xfrm>
            <a:off x="11503152" y="3154680"/>
            <a:ext cx="7196328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7" name="Connector 696"/>
          <p:cNvCxnSpPr/>
          <p:nvPr/>
        </p:nvCxnSpPr>
        <p:spPr>
          <a:xfrm>
            <a:off x="11503152" y="3154680"/>
            <a:ext cx="8001000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8" name="Connector 697"/>
          <p:cNvCxnSpPr/>
          <p:nvPr/>
        </p:nvCxnSpPr>
        <p:spPr>
          <a:xfrm>
            <a:off x="11503152" y="3154680"/>
            <a:ext cx="8805672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9" name="Connector 698"/>
          <p:cNvCxnSpPr/>
          <p:nvPr/>
        </p:nvCxnSpPr>
        <p:spPr>
          <a:xfrm>
            <a:off x="11503152" y="3154680"/>
            <a:ext cx="9610344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0" name="Connector 699"/>
          <p:cNvCxnSpPr/>
          <p:nvPr/>
        </p:nvCxnSpPr>
        <p:spPr>
          <a:xfrm flipH="1">
            <a:off x="868680" y="3154680"/>
            <a:ext cx="10634472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1" name="Connector 700"/>
          <p:cNvCxnSpPr/>
          <p:nvPr/>
        </p:nvCxnSpPr>
        <p:spPr>
          <a:xfrm flipH="1">
            <a:off x="1673352" y="3154680"/>
            <a:ext cx="9829800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2" name="Connector 701"/>
          <p:cNvCxnSpPr/>
          <p:nvPr/>
        </p:nvCxnSpPr>
        <p:spPr>
          <a:xfrm flipH="1">
            <a:off x="2478024" y="3154680"/>
            <a:ext cx="9025128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3" name="Connector 702"/>
          <p:cNvCxnSpPr/>
          <p:nvPr/>
        </p:nvCxnSpPr>
        <p:spPr>
          <a:xfrm flipH="1">
            <a:off x="3282696" y="3154680"/>
            <a:ext cx="8220456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4" name="Connector 703"/>
          <p:cNvCxnSpPr/>
          <p:nvPr/>
        </p:nvCxnSpPr>
        <p:spPr>
          <a:xfrm flipH="1">
            <a:off x="4434840" y="3154680"/>
            <a:ext cx="7068312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5" name="Connector 704"/>
          <p:cNvCxnSpPr/>
          <p:nvPr/>
        </p:nvCxnSpPr>
        <p:spPr>
          <a:xfrm flipH="1">
            <a:off x="5239512" y="3154680"/>
            <a:ext cx="6263640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6" name="Connector 705"/>
          <p:cNvCxnSpPr/>
          <p:nvPr/>
        </p:nvCxnSpPr>
        <p:spPr>
          <a:xfrm flipH="1">
            <a:off x="6044184" y="3154680"/>
            <a:ext cx="5458968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7" name="Connector 706"/>
          <p:cNvCxnSpPr/>
          <p:nvPr/>
        </p:nvCxnSpPr>
        <p:spPr>
          <a:xfrm flipH="1">
            <a:off x="6848856" y="3154680"/>
            <a:ext cx="4654296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8" name="Connector 707"/>
          <p:cNvCxnSpPr/>
          <p:nvPr/>
        </p:nvCxnSpPr>
        <p:spPr>
          <a:xfrm flipH="1">
            <a:off x="8001000" y="3154680"/>
            <a:ext cx="3502152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9" name="Connector 708"/>
          <p:cNvCxnSpPr/>
          <p:nvPr/>
        </p:nvCxnSpPr>
        <p:spPr>
          <a:xfrm flipH="1">
            <a:off x="8805672" y="3154680"/>
            <a:ext cx="2697480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0" name="Connector 709"/>
          <p:cNvCxnSpPr/>
          <p:nvPr/>
        </p:nvCxnSpPr>
        <p:spPr>
          <a:xfrm flipH="1">
            <a:off x="9610344" y="3154680"/>
            <a:ext cx="1892808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1" name="Connector 710"/>
          <p:cNvCxnSpPr/>
          <p:nvPr/>
        </p:nvCxnSpPr>
        <p:spPr>
          <a:xfrm flipH="1">
            <a:off x="10415016" y="3154680"/>
            <a:ext cx="1088136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2" name="Connector 711"/>
          <p:cNvCxnSpPr/>
          <p:nvPr/>
        </p:nvCxnSpPr>
        <p:spPr>
          <a:xfrm>
            <a:off x="11503152" y="3154680"/>
            <a:ext cx="64008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3" name="Connector 712"/>
          <p:cNvCxnSpPr/>
          <p:nvPr/>
        </p:nvCxnSpPr>
        <p:spPr>
          <a:xfrm>
            <a:off x="11503152" y="3154680"/>
            <a:ext cx="868680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4" name="Connector 713"/>
          <p:cNvCxnSpPr/>
          <p:nvPr/>
        </p:nvCxnSpPr>
        <p:spPr>
          <a:xfrm>
            <a:off x="11503152" y="3154680"/>
            <a:ext cx="1673352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5" name="Connector 714"/>
          <p:cNvCxnSpPr/>
          <p:nvPr/>
        </p:nvCxnSpPr>
        <p:spPr>
          <a:xfrm>
            <a:off x="11503152" y="3154680"/>
            <a:ext cx="2478024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6" name="Connector 715"/>
          <p:cNvCxnSpPr/>
          <p:nvPr/>
        </p:nvCxnSpPr>
        <p:spPr>
          <a:xfrm>
            <a:off x="11503152" y="3154680"/>
            <a:ext cx="3630168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7" name="Connector 716"/>
          <p:cNvCxnSpPr/>
          <p:nvPr/>
        </p:nvCxnSpPr>
        <p:spPr>
          <a:xfrm>
            <a:off x="11503152" y="3154680"/>
            <a:ext cx="4434840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8" name="Connector 717"/>
          <p:cNvCxnSpPr/>
          <p:nvPr/>
        </p:nvCxnSpPr>
        <p:spPr>
          <a:xfrm>
            <a:off x="11503152" y="3154680"/>
            <a:ext cx="5239511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9" name="Connector 718"/>
          <p:cNvCxnSpPr/>
          <p:nvPr/>
        </p:nvCxnSpPr>
        <p:spPr>
          <a:xfrm>
            <a:off x="11503152" y="3154680"/>
            <a:ext cx="6044184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0" name="Connector 719"/>
          <p:cNvCxnSpPr/>
          <p:nvPr/>
        </p:nvCxnSpPr>
        <p:spPr>
          <a:xfrm>
            <a:off x="11503152" y="3154680"/>
            <a:ext cx="7196328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1" name="Connector 720"/>
          <p:cNvCxnSpPr/>
          <p:nvPr/>
        </p:nvCxnSpPr>
        <p:spPr>
          <a:xfrm>
            <a:off x="11503152" y="3154680"/>
            <a:ext cx="8001000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2" name="Connector 721"/>
          <p:cNvCxnSpPr/>
          <p:nvPr/>
        </p:nvCxnSpPr>
        <p:spPr>
          <a:xfrm>
            <a:off x="11503152" y="3154680"/>
            <a:ext cx="8805672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3" name="Connector 722"/>
          <p:cNvCxnSpPr/>
          <p:nvPr/>
        </p:nvCxnSpPr>
        <p:spPr>
          <a:xfrm>
            <a:off x="11503152" y="3154680"/>
            <a:ext cx="9610344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4" name="Connector 723"/>
          <p:cNvCxnSpPr/>
          <p:nvPr/>
        </p:nvCxnSpPr>
        <p:spPr>
          <a:xfrm flipH="1">
            <a:off x="868680" y="3154680"/>
            <a:ext cx="11804904" cy="4480560"/>
          </a:xfrm>
          <a:prstGeom prst="line">
            <a:avLst/>
          </a:prstGeom>
          <a:ln w="27432">
            <a:solidFill>
              <a:srgbClr val="D64B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5" name="Connector 724"/>
          <p:cNvCxnSpPr/>
          <p:nvPr/>
        </p:nvCxnSpPr>
        <p:spPr>
          <a:xfrm flipH="1">
            <a:off x="1673352" y="3154680"/>
            <a:ext cx="11000232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6" name="Connector 725"/>
          <p:cNvCxnSpPr/>
          <p:nvPr/>
        </p:nvCxnSpPr>
        <p:spPr>
          <a:xfrm flipH="1">
            <a:off x="2478024" y="3154680"/>
            <a:ext cx="10195560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7" name="Connector 726"/>
          <p:cNvCxnSpPr/>
          <p:nvPr/>
        </p:nvCxnSpPr>
        <p:spPr>
          <a:xfrm flipH="1">
            <a:off x="3282696" y="3154680"/>
            <a:ext cx="9390888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8" name="Connector 727"/>
          <p:cNvCxnSpPr/>
          <p:nvPr/>
        </p:nvCxnSpPr>
        <p:spPr>
          <a:xfrm flipH="1">
            <a:off x="4434840" y="3154680"/>
            <a:ext cx="8238744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9" name="Connector 728"/>
          <p:cNvCxnSpPr/>
          <p:nvPr/>
        </p:nvCxnSpPr>
        <p:spPr>
          <a:xfrm flipH="1">
            <a:off x="5239512" y="3154680"/>
            <a:ext cx="7434072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0" name="Connector 729"/>
          <p:cNvCxnSpPr/>
          <p:nvPr/>
        </p:nvCxnSpPr>
        <p:spPr>
          <a:xfrm flipH="1">
            <a:off x="6044184" y="3154680"/>
            <a:ext cx="6629400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1" name="Connector 730"/>
          <p:cNvCxnSpPr/>
          <p:nvPr/>
        </p:nvCxnSpPr>
        <p:spPr>
          <a:xfrm flipH="1">
            <a:off x="6848856" y="3154680"/>
            <a:ext cx="5824728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2" name="Connector 731"/>
          <p:cNvCxnSpPr/>
          <p:nvPr/>
        </p:nvCxnSpPr>
        <p:spPr>
          <a:xfrm flipH="1">
            <a:off x="8001000" y="3154680"/>
            <a:ext cx="4672584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3" name="Connector 732"/>
          <p:cNvCxnSpPr/>
          <p:nvPr/>
        </p:nvCxnSpPr>
        <p:spPr>
          <a:xfrm flipH="1">
            <a:off x="8805672" y="3154680"/>
            <a:ext cx="3867912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4" name="Connector 733"/>
          <p:cNvCxnSpPr/>
          <p:nvPr/>
        </p:nvCxnSpPr>
        <p:spPr>
          <a:xfrm flipH="1">
            <a:off x="9610344" y="3154680"/>
            <a:ext cx="3063240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5" name="Connector 734"/>
          <p:cNvCxnSpPr/>
          <p:nvPr/>
        </p:nvCxnSpPr>
        <p:spPr>
          <a:xfrm flipH="1">
            <a:off x="10415016" y="3154680"/>
            <a:ext cx="2258568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6" name="Connector 735"/>
          <p:cNvCxnSpPr/>
          <p:nvPr/>
        </p:nvCxnSpPr>
        <p:spPr>
          <a:xfrm flipH="1">
            <a:off x="11567160" y="3154680"/>
            <a:ext cx="1106424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7" name="Connector 736"/>
          <p:cNvCxnSpPr/>
          <p:nvPr/>
        </p:nvCxnSpPr>
        <p:spPr>
          <a:xfrm flipH="1">
            <a:off x="12371832" y="3154680"/>
            <a:ext cx="301752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8" name="Connector 737"/>
          <p:cNvCxnSpPr/>
          <p:nvPr/>
        </p:nvCxnSpPr>
        <p:spPr>
          <a:xfrm>
            <a:off x="12673584" y="3154680"/>
            <a:ext cx="502920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9" name="Connector 738"/>
          <p:cNvCxnSpPr/>
          <p:nvPr/>
        </p:nvCxnSpPr>
        <p:spPr>
          <a:xfrm>
            <a:off x="12673584" y="3154680"/>
            <a:ext cx="1307592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0" name="Connector 739"/>
          <p:cNvCxnSpPr/>
          <p:nvPr/>
        </p:nvCxnSpPr>
        <p:spPr>
          <a:xfrm>
            <a:off x="12673584" y="3154680"/>
            <a:ext cx="2459736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1" name="Connector 740"/>
          <p:cNvCxnSpPr/>
          <p:nvPr/>
        </p:nvCxnSpPr>
        <p:spPr>
          <a:xfrm>
            <a:off x="12673584" y="3154680"/>
            <a:ext cx="3264408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2" name="Connector 741"/>
          <p:cNvCxnSpPr/>
          <p:nvPr/>
        </p:nvCxnSpPr>
        <p:spPr>
          <a:xfrm>
            <a:off x="12673584" y="3154680"/>
            <a:ext cx="4069079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3" name="Connector 742"/>
          <p:cNvCxnSpPr/>
          <p:nvPr/>
        </p:nvCxnSpPr>
        <p:spPr>
          <a:xfrm>
            <a:off x="12673584" y="3154680"/>
            <a:ext cx="4873752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4" name="Connector 743"/>
          <p:cNvCxnSpPr/>
          <p:nvPr/>
        </p:nvCxnSpPr>
        <p:spPr>
          <a:xfrm>
            <a:off x="12673584" y="3154680"/>
            <a:ext cx="6025896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5" name="Connector 744"/>
          <p:cNvCxnSpPr/>
          <p:nvPr/>
        </p:nvCxnSpPr>
        <p:spPr>
          <a:xfrm>
            <a:off x="12673584" y="3154680"/>
            <a:ext cx="6830568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6" name="Connector 745"/>
          <p:cNvCxnSpPr/>
          <p:nvPr/>
        </p:nvCxnSpPr>
        <p:spPr>
          <a:xfrm>
            <a:off x="12673584" y="3154680"/>
            <a:ext cx="7635240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7" name="Connector 746"/>
          <p:cNvCxnSpPr/>
          <p:nvPr/>
        </p:nvCxnSpPr>
        <p:spPr>
          <a:xfrm>
            <a:off x="12673584" y="3154680"/>
            <a:ext cx="8439912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8" name="Connector 747"/>
          <p:cNvCxnSpPr/>
          <p:nvPr/>
        </p:nvCxnSpPr>
        <p:spPr>
          <a:xfrm flipH="1">
            <a:off x="868680" y="3154680"/>
            <a:ext cx="11804904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9" name="Connector 748"/>
          <p:cNvCxnSpPr/>
          <p:nvPr/>
        </p:nvCxnSpPr>
        <p:spPr>
          <a:xfrm flipH="1">
            <a:off x="1673352" y="3154680"/>
            <a:ext cx="11000232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0" name="Connector 749"/>
          <p:cNvCxnSpPr/>
          <p:nvPr/>
        </p:nvCxnSpPr>
        <p:spPr>
          <a:xfrm flipH="1">
            <a:off x="2478024" y="3154680"/>
            <a:ext cx="10195560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1" name="Connector 750"/>
          <p:cNvCxnSpPr/>
          <p:nvPr/>
        </p:nvCxnSpPr>
        <p:spPr>
          <a:xfrm flipH="1">
            <a:off x="3282696" y="3154680"/>
            <a:ext cx="9390888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2" name="Connector 751"/>
          <p:cNvCxnSpPr/>
          <p:nvPr/>
        </p:nvCxnSpPr>
        <p:spPr>
          <a:xfrm flipH="1">
            <a:off x="4434840" y="3154680"/>
            <a:ext cx="8238744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3" name="Connector 752"/>
          <p:cNvCxnSpPr/>
          <p:nvPr/>
        </p:nvCxnSpPr>
        <p:spPr>
          <a:xfrm flipH="1">
            <a:off x="5239512" y="3154680"/>
            <a:ext cx="7434072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4" name="Connector 753"/>
          <p:cNvCxnSpPr/>
          <p:nvPr/>
        </p:nvCxnSpPr>
        <p:spPr>
          <a:xfrm flipH="1">
            <a:off x="6044184" y="3154680"/>
            <a:ext cx="6629400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5" name="Connector 754"/>
          <p:cNvCxnSpPr/>
          <p:nvPr/>
        </p:nvCxnSpPr>
        <p:spPr>
          <a:xfrm flipH="1">
            <a:off x="6848856" y="3154680"/>
            <a:ext cx="5824728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6" name="Connector 755"/>
          <p:cNvCxnSpPr/>
          <p:nvPr/>
        </p:nvCxnSpPr>
        <p:spPr>
          <a:xfrm flipH="1">
            <a:off x="8001000" y="3154680"/>
            <a:ext cx="4672584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7" name="Connector 756"/>
          <p:cNvCxnSpPr/>
          <p:nvPr/>
        </p:nvCxnSpPr>
        <p:spPr>
          <a:xfrm flipH="1">
            <a:off x="8805672" y="3154680"/>
            <a:ext cx="3867912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8" name="Connector 757"/>
          <p:cNvCxnSpPr/>
          <p:nvPr/>
        </p:nvCxnSpPr>
        <p:spPr>
          <a:xfrm flipH="1">
            <a:off x="9610344" y="3154680"/>
            <a:ext cx="3063240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9" name="Connector 758"/>
          <p:cNvCxnSpPr/>
          <p:nvPr/>
        </p:nvCxnSpPr>
        <p:spPr>
          <a:xfrm flipH="1">
            <a:off x="10415016" y="3154680"/>
            <a:ext cx="2258568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0" name="Connector 759"/>
          <p:cNvCxnSpPr/>
          <p:nvPr/>
        </p:nvCxnSpPr>
        <p:spPr>
          <a:xfrm flipH="1">
            <a:off x="11567160" y="3154680"/>
            <a:ext cx="1106424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1" name="Connector 760"/>
          <p:cNvCxnSpPr/>
          <p:nvPr/>
        </p:nvCxnSpPr>
        <p:spPr>
          <a:xfrm flipH="1">
            <a:off x="12371832" y="3154680"/>
            <a:ext cx="301752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2" name="Connector 761"/>
          <p:cNvCxnSpPr/>
          <p:nvPr/>
        </p:nvCxnSpPr>
        <p:spPr>
          <a:xfrm>
            <a:off x="12673584" y="3154680"/>
            <a:ext cx="502920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3" name="Connector 762"/>
          <p:cNvCxnSpPr/>
          <p:nvPr/>
        </p:nvCxnSpPr>
        <p:spPr>
          <a:xfrm>
            <a:off x="12673584" y="3154680"/>
            <a:ext cx="1307592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4" name="Connector 763"/>
          <p:cNvCxnSpPr/>
          <p:nvPr/>
        </p:nvCxnSpPr>
        <p:spPr>
          <a:xfrm>
            <a:off x="12673584" y="3154680"/>
            <a:ext cx="2459736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5" name="Connector 764"/>
          <p:cNvCxnSpPr/>
          <p:nvPr/>
        </p:nvCxnSpPr>
        <p:spPr>
          <a:xfrm>
            <a:off x="12673584" y="3154680"/>
            <a:ext cx="3264408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6" name="Connector 765"/>
          <p:cNvCxnSpPr/>
          <p:nvPr/>
        </p:nvCxnSpPr>
        <p:spPr>
          <a:xfrm>
            <a:off x="12673584" y="3154680"/>
            <a:ext cx="4069079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7" name="Connector 766"/>
          <p:cNvCxnSpPr/>
          <p:nvPr/>
        </p:nvCxnSpPr>
        <p:spPr>
          <a:xfrm>
            <a:off x="12673584" y="3154680"/>
            <a:ext cx="4873752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8" name="Connector 767"/>
          <p:cNvCxnSpPr/>
          <p:nvPr/>
        </p:nvCxnSpPr>
        <p:spPr>
          <a:xfrm>
            <a:off x="12673584" y="3154680"/>
            <a:ext cx="6025896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9" name="Connector 768"/>
          <p:cNvCxnSpPr/>
          <p:nvPr/>
        </p:nvCxnSpPr>
        <p:spPr>
          <a:xfrm>
            <a:off x="12673584" y="3154680"/>
            <a:ext cx="6830568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0" name="Connector 769"/>
          <p:cNvCxnSpPr/>
          <p:nvPr/>
        </p:nvCxnSpPr>
        <p:spPr>
          <a:xfrm>
            <a:off x="12673584" y="3154680"/>
            <a:ext cx="7635240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1" name="Connector 770"/>
          <p:cNvCxnSpPr/>
          <p:nvPr/>
        </p:nvCxnSpPr>
        <p:spPr>
          <a:xfrm>
            <a:off x="12673584" y="3154680"/>
            <a:ext cx="8439912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2" name="Connector 771"/>
          <p:cNvCxnSpPr/>
          <p:nvPr/>
        </p:nvCxnSpPr>
        <p:spPr>
          <a:xfrm flipH="1">
            <a:off x="868680" y="3154680"/>
            <a:ext cx="11804904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3" name="Connector 772"/>
          <p:cNvCxnSpPr/>
          <p:nvPr/>
        </p:nvCxnSpPr>
        <p:spPr>
          <a:xfrm flipH="1">
            <a:off x="1673352" y="3154680"/>
            <a:ext cx="11000232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4" name="Connector 773"/>
          <p:cNvCxnSpPr/>
          <p:nvPr/>
        </p:nvCxnSpPr>
        <p:spPr>
          <a:xfrm flipH="1">
            <a:off x="2478024" y="3154680"/>
            <a:ext cx="10195560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5" name="Connector 774"/>
          <p:cNvCxnSpPr/>
          <p:nvPr/>
        </p:nvCxnSpPr>
        <p:spPr>
          <a:xfrm flipH="1">
            <a:off x="3282696" y="3154680"/>
            <a:ext cx="9390888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6" name="Connector 775"/>
          <p:cNvCxnSpPr/>
          <p:nvPr/>
        </p:nvCxnSpPr>
        <p:spPr>
          <a:xfrm flipH="1">
            <a:off x="4434840" y="3154680"/>
            <a:ext cx="8238744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7" name="Connector 776"/>
          <p:cNvCxnSpPr/>
          <p:nvPr/>
        </p:nvCxnSpPr>
        <p:spPr>
          <a:xfrm flipH="1">
            <a:off x="5239512" y="3154680"/>
            <a:ext cx="7434072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8" name="Connector 777"/>
          <p:cNvCxnSpPr/>
          <p:nvPr/>
        </p:nvCxnSpPr>
        <p:spPr>
          <a:xfrm flipH="1">
            <a:off x="6044184" y="3154680"/>
            <a:ext cx="6629400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9" name="Connector 778"/>
          <p:cNvCxnSpPr/>
          <p:nvPr/>
        </p:nvCxnSpPr>
        <p:spPr>
          <a:xfrm flipH="1">
            <a:off x="6848856" y="3154680"/>
            <a:ext cx="5824728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0" name="Connector 779"/>
          <p:cNvCxnSpPr/>
          <p:nvPr/>
        </p:nvCxnSpPr>
        <p:spPr>
          <a:xfrm flipH="1">
            <a:off x="8001000" y="3154680"/>
            <a:ext cx="4672584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1" name="Connector 780"/>
          <p:cNvCxnSpPr/>
          <p:nvPr/>
        </p:nvCxnSpPr>
        <p:spPr>
          <a:xfrm flipH="1">
            <a:off x="8805672" y="3154680"/>
            <a:ext cx="3867912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2" name="Connector 781"/>
          <p:cNvCxnSpPr/>
          <p:nvPr/>
        </p:nvCxnSpPr>
        <p:spPr>
          <a:xfrm flipH="1">
            <a:off x="9610344" y="3154680"/>
            <a:ext cx="3063240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3" name="Connector 782"/>
          <p:cNvCxnSpPr/>
          <p:nvPr/>
        </p:nvCxnSpPr>
        <p:spPr>
          <a:xfrm flipH="1">
            <a:off x="10415016" y="3154680"/>
            <a:ext cx="2258568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4" name="Connector 783"/>
          <p:cNvCxnSpPr/>
          <p:nvPr/>
        </p:nvCxnSpPr>
        <p:spPr>
          <a:xfrm flipH="1">
            <a:off x="11567160" y="3154680"/>
            <a:ext cx="1106424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5" name="Connector 784"/>
          <p:cNvCxnSpPr/>
          <p:nvPr/>
        </p:nvCxnSpPr>
        <p:spPr>
          <a:xfrm flipH="1">
            <a:off x="12371832" y="3154680"/>
            <a:ext cx="301752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6" name="Connector 785"/>
          <p:cNvCxnSpPr/>
          <p:nvPr/>
        </p:nvCxnSpPr>
        <p:spPr>
          <a:xfrm>
            <a:off x="12673584" y="3154680"/>
            <a:ext cx="502920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7" name="Connector 786"/>
          <p:cNvCxnSpPr/>
          <p:nvPr/>
        </p:nvCxnSpPr>
        <p:spPr>
          <a:xfrm>
            <a:off x="12673584" y="3154680"/>
            <a:ext cx="1307592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8" name="Connector 787"/>
          <p:cNvCxnSpPr/>
          <p:nvPr/>
        </p:nvCxnSpPr>
        <p:spPr>
          <a:xfrm>
            <a:off x="12673584" y="3154680"/>
            <a:ext cx="2459736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9" name="Connector 788"/>
          <p:cNvCxnSpPr/>
          <p:nvPr/>
        </p:nvCxnSpPr>
        <p:spPr>
          <a:xfrm>
            <a:off x="12673584" y="3154680"/>
            <a:ext cx="3264408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0" name="Connector 789"/>
          <p:cNvCxnSpPr/>
          <p:nvPr/>
        </p:nvCxnSpPr>
        <p:spPr>
          <a:xfrm>
            <a:off x="12673584" y="3154680"/>
            <a:ext cx="4069079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1" name="Connector 790"/>
          <p:cNvCxnSpPr/>
          <p:nvPr/>
        </p:nvCxnSpPr>
        <p:spPr>
          <a:xfrm>
            <a:off x="12673584" y="3154680"/>
            <a:ext cx="4873752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2" name="Connector 791"/>
          <p:cNvCxnSpPr/>
          <p:nvPr/>
        </p:nvCxnSpPr>
        <p:spPr>
          <a:xfrm>
            <a:off x="12673584" y="3154680"/>
            <a:ext cx="6025896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3" name="Connector 792"/>
          <p:cNvCxnSpPr/>
          <p:nvPr/>
        </p:nvCxnSpPr>
        <p:spPr>
          <a:xfrm>
            <a:off x="12673584" y="3154680"/>
            <a:ext cx="6830568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4" name="Connector 793"/>
          <p:cNvCxnSpPr/>
          <p:nvPr/>
        </p:nvCxnSpPr>
        <p:spPr>
          <a:xfrm>
            <a:off x="12673584" y="3154680"/>
            <a:ext cx="7635240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5" name="Connector 794"/>
          <p:cNvCxnSpPr/>
          <p:nvPr/>
        </p:nvCxnSpPr>
        <p:spPr>
          <a:xfrm>
            <a:off x="12673584" y="3154680"/>
            <a:ext cx="8439912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6" name="Connector 795"/>
          <p:cNvCxnSpPr/>
          <p:nvPr/>
        </p:nvCxnSpPr>
        <p:spPr>
          <a:xfrm flipH="1">
            <a:off x="868680" y="3154680"/>
            <a:ext cx="12975336" cy="4480560"/>
          </a:xfrm>
          <a:prstGeom prst="line">
            <a:avLst/>
          </a:prstGeom>
          <a:ln w="27432">
            <a:solidFill>
              <a:srgbClr val="D64B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7" name="Connector 796"/>
          <p:cNvCxnSpPr/>
          <p:nvPr/>
        </p:nvCxnSpPr>
        <p:spPr>
          <a:xfrm flipH="1">
            <a:off x="1673352" y="3154680"/>
            <a:ext cx="12170664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8" name="Connector 797"/>
          <p:cNvCxnSpPr/>
          <p:nvPr/>
        </p:nvCxnSpPr>
        <p:spPr>
          <a:xfrm flipH="1">
            <a:off x="2478024" y="3154680"/>
            <a:ext cx="11365992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9" name="Connector 798"/>
          <p:cNvCxnSpPr/>
          <p:nvPr/>
        </p:nvCxnSpPr>
        <p:spPr>
          <a:xfrm flipH="1">
            <a:off x="3282696" y="3154680"/>
            <a:ext cx="10561320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0" name="Connector 799"/>
          <p:cNvCxnSpPr/>
          <p:nvPr/>
        </p:nvCxnSpPr>
        <p:spPr>
          <a:xfrm flipH="1">
            <a:off x="4434840" y="3154680"/>
            <a:ext cx="9409176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1" name="Connector 800"/>
          <p:cNvCxnSpPr/>
          <p:nvPr/>
        </p:nvCxnSpPr>
        <p:spPr>
          <a:xfrm flipH="1">
            <a:off x="5239512" y="3154680"/>
            <a:ext cx="8604504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2" name="Connector 801"/>
          <p:cNvCxnSpPr/>
          <p:nvPr/>
        </p:nvCxnSpPr>
        <p:spPr>
          <a:xfrm flipH="1">
            <a:off x="6044184" y="3154680"/>
            <a:ext cx="7799832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3" name="Connector 802"/>
          <p:cNvCxnSpPr/>
          <p:nvPr/>
        </p:nvCxnSpPr>
        <p:spPr>
          <a:xfrm flipH="1">
            <a:off x="6848856" y="3154680"/>
            <a:ext cx="6995160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4" name="Connector 803"/>
          <p:cNvCxnSpPr/>
          <p:nvPr/>
        </p:nvCxnSpPr>
        <p:spPr>
          <a:xfrm flipH="1">
            <a:off x="8001000" y="3154680"/>
            <a:ext cx="5843016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5" name="Connector 804"/>
          <p:cNvCxnSpPr/>
          <p:nvPr/>
        </p:nvCxnSpPr>
        <p:spPr>
          <a:xfrm flipH="1">
            <a:off x="8805672" y="3154680"/>
            <a:ext cx="5038344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6" name="Connector 805"/>
          <p:cNvCxnSpPr/>
          <p:nvPr/>
        </p:nvCxnSpPr>
        <p:spPr>
          <a:xfrm flipH="1">
            <a:off x="9610344" y="3154680"/>
            <a:ext cx="4233672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7" name="Connector 806"/>
          <p:cNvCxnSpPr/>
          <p:nvPr/>
        </p:nvCxnSpPr>
        <p:spPr>
          <a:xfrm flipH="1">
            <a:off x="10415016" y="3154680"/>
            <a:ext cx="3429000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8" name="Connector 807"/>
          <p:cNvCxnSpPr/>
          <p:nvPr/>
        </p:nvCxnSpPr>
        <p:spPr>
          <a:xfrm flipH="1">
            <a:off x="11567160" y="3154680"/>
            <a:ext cx="2276856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9" name="Connector 808"/>
          <p:cNvCxnSpPr/>
          <p:nvPr/>
        </p:nvCxnSpPr>
        <p:spPr>
          <a:xfrm flipH="1">
            <a:off x="12371832" y="3154680"/>
            <a:ext cx="1472184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0" name="Connector 809"/>
          <p:cNvCxnSpPr/>
          <p:nvPr/>
        </p:nvCxnSpPr>
        <p:spPr>
          <a:xfrm flipH="1">
            <a:off x="13176504" y="3154680"/>
            <a:ext cx="667512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1" name="Connector 810"/>
          <p:cNvCxnSpPr/>
          <p:nvPr/>
        </p:nvCxnSpPr>
        <p:spPr>
          <a:xfrm>
            <a:off x="13844016" y="3154680"/>
            <a:ext cx="137160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2" name="Connector 811"/>
          <p:cNvCxnSpPr/>
          <p:nvPr/>
        </p:nvCxnSpPr>
        <p:spPr>
          <a:xfrm>
            <a:off x="13844016" y="3154680"/>
            <a:ext cx="1289304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3" name="Connector 812"/>
          <p:cNvCxnSpPr/>
          <p:nvPr/>
        </p:nvCxnSpPr>
        <p:spPr>
          <a:xfrm>
            <a:off x="13844016" y="3154680"/>
            <a:ext cx="2093976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4" name="Connector 813"/>
          <p:cNvCxnSpPr/>
          <p:nvPr/>
        </p:nvCxnSpPr>
        <p:spPr>
          <a:xfrm>
            <a:off x="13844016" y="3154680"/>
            <a:ext cx="2898647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5" name="Connector 814"/>
          <p:cNvCxnSpPr/>
          <p:nvPr/>
        </p:nvCxnSpPr>
        <p:spPr>
          <a:xfrm>
            <a:off x="13844016" y="3154680"/>
            <a:ext cx="3703320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6" name="Connector 815"/>
          <p:cNvCxnSpPr/>
          <p:nvPr/>
        </p:nvCxnSpPr>
        <p:spPr>
          <a:xfrm>
            <a:off x="13844016" y="3154680"/>
            <a:ext cx="4855464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7" name="Connector 816"/>
          <p:cNvCxnSpPr/>
          <p:nvPr/>
        </p:nvCxnSpPr>
        <p:spPr>
          <a:xfrm>
            <a:off x="13844016" y="3154680"/>
            <a:ext cx="5660136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8" name="Connector 817"/>
          <p:cNvCxnSpPr/>
          <p:nvPr/>
        </p:nvCxnSpPr>
        <p:spPr>
          <a:xfrm>
            <a:off x="13844016" y="3154680"/>
            <a:ext cx="6464808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9" name="Connector 818"/>
          <p:cNvCxnSpPr/>
          <p:nvPr/>
        </p:nvCxnSpPr>
        <p:spPr>
          <a:xfrm>
            <a:off x="13844016" y="3154680"/>
            <a:ext cx="7269480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0" name="Connector 819"/>
          <p:cNvCxnSpPr/>
          <p:nvPr/>
        </p:nvCxnSpPr>
        <p:spPr>
          <a:xfrm flipH="1">
            <a:off x="868680" y="3154680"/>
            <a:ext cx="12975336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1" name="Connector 820"/>
          <p:cNvCxnSpPr/>
          <p:nvPr/>
        </p:nvCxnSpPr>
        <p:spPr>
          <a:xfrm flipH="1">
            <a:off x="1673352" y="3154680"/>
            <a:ext cx="12170664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2" name="Connector 821"/>
          <p:cNvCxnSpPr/>
          <p:nvPr/>
        </p:nvCxnSpPr>
        <p:spPr>
          <a:xfrm flipH="1">
            <a:off x="2478024" y="3154680"/>
            <a:ext cx="11365992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3" name="Connector 822"/>
          <p:cNvCxnSpPr/>
          <p:nvPr/>
        </p:nvCxnSpPr>
        <p:spPr>
          <a:xfrm flipH="1">
            <a:off x="3282696" y="3154680"/>
            <a:ext cx="10561320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4" name="Connector 823"/>
          <p:cNvCxnSpPr/>
          <p:nvPr/>
        </p:nvCxnSpPr>
        <p:spPr>
          <a:xfrm flipH="1">
            <a:off x="4434840" y="3154680"/>
            <a:ext cx="9409176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5" name="Connector 824"/>
          <p:cNvCxnSpPr/>
          <p:nvPr/>
        </p:nvCxnSpPr>
        <p:spPr>
          <a:xfrm flipH="1">
            <a:off x="5239512" y="3154680"/>
            <a:ext cx="8604504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6" name="Connector 825"/>
          <p:cNvCxnSpPr/>
          <p:nvPr/>
        </p:nvCxnSpPr>
        <p:spPr>
          <a:xfrm flipH="1">
            <a:off x="6044184" y="3154680"/>
            <a:ext cx="7799832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7" name="Connector 826"/>
          <p:cNvCxnSpPr/>
          <p:nvPr/>
        </p:nvCxnSpPr>
        <p:spPr>
          <a:xfrm flipH="1">
            <a:off x="6848856" y="3154680"/>
            <a:ext cx="6995160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8" name="Connector 827"/>
          <p:cNvCxnSpPr/>
          <p:nvPr/>
        </p:nvCxnSpPr>
        <p:spPr>
          <a:xfrm flipH="1">
            <a:off x="8001000" y="3154680"/>
            <a:ext cx="5843016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9" name="Connector 828"/>
          <p:cNvCxnSpPr/>
          <p:nvPr/>
        </p:nvCxnSpPr>
        <p:spPr>
          <a:xfrm flipH="1">
            <a:off x="8805672" y="3154680"/>
            <a:ext cx="5038344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0" name="Connector 829"/>
          <p:cNvCxnSpPr/>
          <p:nvPr/>
        </p:nvCxnSpPr>
        <p:spPr>
          <a:xfrm flipH="1">
            <a:off x="9610344" y="3154680"/>
            <a:ext cx="4233672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1" name="Connector 830"/>
          <p:cNvCxnSpPr/>
          <p:nvPr/>
        </p:nvCxnSpPr>
        <p:spPr>
          <a:xfrm flipH="1">
            <a:off x="10415016" y="3154680"/>
            <a:ext cx="3429000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2" name="Connector 831"/>
          <p:cNvCxnSpPr/>
          <p:nvPr/>
        </p:nvCxnSpPr>
        <p:spPr>
          <a:xfrm flipH="1">
            <a:off x="11567160" y="3154680"/>
            <a:ext cx="2276856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3" name="Connector 832"/>
          <p:cNvCxnSpPr/>
          <p:nvPr/>
        </p:nvCxnSpPr>
        <p:spPr>
          <a:xfrm flipH="1">
            <a:off x="12371832" y="3154680"/>
            <a:ext cx="1472184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4" name="Connector 833"/>
          <p:cNvCxnSpPr/>
          <p:nvPr/>
        </p:nvCxnSpPr>
        <p:spPr>
          <a:xfrm flipH="1">
            <a:off x="13176504" y="3154680"/>
            <a:ext cx="667512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5" name="Connector 834"/>
          <p:cNvCxnSpPr/>
          <p:nvPr/>
        </p:nvCxnSpPr>
        <p:spPr>
          <a:xfrm>
            <a:off x="13844016" y="3154680"/>
            <a:ext cx="137160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6" name="Connector 835"/>
          <p:cNvCxnSpPr/>
          <p:nvPr/>
        </p:nvCxnSpPr>
        <p:spPr>
          <a:xfrm>
            <a:off x="13844016" y="3154680"/>
            <a:ext cx="1289304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7" name="Connector 836"/>
          <p:cNvCxnSpPr/>
          <p:nvPr/>
        </p:nvCxnSpPr>
        <p:spPr>
          <a:xfrm>
            <a:off x="13844016" y="3154680"/>
            <a:ext cx="2093976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8" name="Connector 837"/>
          <p:cNvCxnSpPr/>
          <p:nvPr/>
        </p:nvCxnSpPr>
        <p:spPr>
          <a:xfrm>
            <a:off x="13844016" y="3154680"/>
            <a:ext cx="2898647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9" name="Connector 838"/>
          <p:cNvCxnSpPr/>
          <p:nvPr/>
        </p:nvCxnSpPr>
        <p:spPr>
          <a:xfrm>
            <a:off x="13844016" y="3154680"/>
            <a:ext cx="3703320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0" name="Connector 839"/>
          <p:cNvCxnSpPr/>
          <p:nvPr/>
        </p:nvCxnSpPr>
        <p:spPr>
          <a:xfrm>
            <a:off x="13844016" y="3154680"/>
            <a:ext cx="4855464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1" name="Connector 840"/>
          <p:cNvCxnSpPr/>
          <p:nvPr/>
        </p:nvCxnSpPr>
        <p:spPr>
          <a:xfrm>
            <a:off x="13844016" y="3154680"/>
            <a:ext cx="5660136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2" name="Connector 841"/>
          <p:cNvCxnSpPr/>
          <p:nvPr/>
        </p:nvCxnSpPr>
        <p:spPr>
          <a:xfrm>
            <a:off x="13844016" y="3154680"/>
            <a:ext cx="6464808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3" name="Connector 842"/>
          <p:cNvCxnSpPr/>
          <p:nvPr/>
        </p:nvCxnSpPr>
        <p:spPr>
          <a:xfrm>
            <a:off x="13844016" y="3154680"/>
            <a:ext cx="7269480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4" name="Connector 843"/>
          <p:cNvCxnSpPr/>
          <p:nvPr/>
        </p:nvCxnSpPr>
        <p:spPr>
          <a:xfrm flipH="1">
            <a:off x="868680" y="3154680"/>
            <a:ext cx="12975336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5" name="Connector 844"/>
          <p:cNvCxnSpPr/>
          <p:nvPr/>
        </p:nvCxnSpPr>
        <p:spPr>
          <a:xfrm flipH="1">
            <a:off x="1673352" y="3154680"/>
            <a:ext cx="12170664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6" name="Connector 845"/>
          <p:cNvCxnSpPr/>
          <p:nvPr/>
        </p:nvCxnSpPr>
        <p:spPr>
          <a:xfrm flipH="1">
            <a:off x="2478024" y="3154680"/>
            <a:ext cx="11365992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7" name="Connector 846"/>
          <p:cNvCxnSpPr/>
          <p:nvPr/>
        </p:nvCxnSpPr>
        <p:spPr>
          <a:xfrm flipH="1">
            <a:off x="3282696" y="3154680"/>
            <a:ext cx="10561320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8" name="Connector 847"/>
          <p:cNvCxnSpPr/>
          <p:nvPr/>
        </p:nvCxnSpPr>
        <p:spPr>
          <a:xfrm flipH="1">
            <a:off x="4434840" y="3154680"/>
            <a:ext cx="9409176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9" name="Connector 848"/>
          <p:cNvCxnSpPr/>
          <p:nvPr/>
        </p:nvCxnSpPr>
        <p:spPr>
          <a:xfrm flipH="1">
            <a:off x="5239512" y="3154680"/>
            <a:ext cx="8604504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0" name="Connector 849"/>
          <p:cNvCxnSpPr/>
          <p:nvPr/>
        </p:nvCxnSpPr>
        <p:spPr>
          <a:xfrm flipH="1">
            <a:off x="6044184" y="3154680"/>
            <a:ext cx="7799832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1" name="Connector 850"/>
          <p:cNvCxnSpPr/>
          <p:nvPr/>
        </p:nvCxnSpPr>
        <p:spPr>
          <a:xfrm flipH="1">
            <a:off x="6848856" y="3154680"/>
            <a:ext cx="6995160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2" name="Connector 851"/>
          <p:cNvCxnSpPr/>
          <p:nvPr/>
        </p:nvCxnSpPr>
        <p:spPr>
          <a:xfrm flipH="1">
            <a:off x="8001000" y="3154680"/>
            <a:ext cx="5843016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3" name="Connector 852"/>
          <p:cNvCxnSpPr/>
          <p:nvPr/>
        </p:nvCxnSpPr>
        <p:spPr>
          <a:xfrm flipH="1">
            <a:off x="8805672" y="3154680"/>
            <a:ext cx="5038344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4" name="Connector 853"/>
          <p:cNvCxnSpPr/>
          <p:nvPr/>
        </p:nvCxnSpPr>
        <p:spPr>
          <a:xfrm flipH="1">
            <a:off x="9610344" y="3154680"/>
            <a:ext cx="4233672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5" name="Connector 854"/>
          <p:cNvCxnSpPr/>
          <p:nvPr/>
        </p:nvCxnSpPr>
        <p:spPr>
          <a:xfrm flipH="1">
            <a:off x="10415016" y="3154680"/>
            <a:ext cx="3429000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6" name="Connector 855"/>
          <p:cNvCxnSpPr/>
          <p:nvPr/>
        </p:nvCxnSpPr>
        <p:spPr>
          <a:xfrm flipH="1">
            <a:off x="11567160" y="3154680"/>
            <a:ext cx="2276856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7" name="Connector 856"/>
          <p:cNvCxnSpPr/>
          <p:nvPr/>
        </p:nvCxnSpPr>
        <p:spPr>
          <a:xfrm flipH="1">
            <a:off x="12371832" y="3154680"/>
            <a:ext cx="1472184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8" name="Connector 857"/>
          <p:cNvCxnSpPr/>
          <p:nvPr/>
        </p:nvCxnSpPr>
        <p:spPr>
          <a:xfrm flipH="1">
            <a:off x="13176504" y="3154680"/>
            <a:ext cx="667512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9" name="Connector 858"/>
          <p:cNvCxnSpPr/>
          <p:nvPr/>
        </p:nvCxnSpPr>
        <p:spPr>
          <a:xfrm>
            <a:off x="13844016" y="3154680"/>
            <a:ext cx="137160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0" name="Connector 859"/>
          <p:cNvCxnSpPr/>
          <p:nvPr/>
        </p:nvCxnSpPr>
        <p:spPr>
          <a:xfrm>
            <a:off x="13844016" y="3154680"/>
            <a:ext cx="1289304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1" name="Connector 860"/>
          <p:cNvCxnSpPr/>
          <p:nvPr/>
        </p:nvCxnSpPr>
        <p:spPr>
          <a:xfrm>
            <a:off x="13844016" y="3154680"/>
            <a:ext cx="2093976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2" name="Connector 861"/>
          <p:cNvCxnSpPr/>
          <p:nvPr/>
        </p:nvCxnSpPr>
        <p:spPr>
          <a:xfrm>
            <a:off x="13844016" y="3154680"/>
            <a:ext cx="2898647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3" name="Connector 862"/>
          <p:cNvCxnSpPr/>
          <p:nvPr/>
        </p:nvCxnSpPr>
        <p:spPr>
          <a:xfrm>
            <a:off x="13844016" y="3154680"/>
            <a:ext cx="3703320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4" name="Connector 863"/>
          <p:cNvCxnSpPr/>
          <p:nvPr/>
        </p:nvCxnSpPr>
        <p:spPr>
          <a:xfrm>
            <a:off x="13844016" y="3154680"/>
            <a:ext cx="4855464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5" name="Connector 864"/>
          <p:cNvCxnSpPr/>
          <p:nvPr/>
        </p:nvCxnSpPr>
        <p:spPr>
          <a:xfrm>
            <a:off x="13844016" y="3154680"/>
            <a:ext cx="5660136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6" name="Connector 865"/>
          <p:cNvCxnSpPr/>
          <p:nvPr/>
        </p:nvCxnSpPr>
        <p:spPr>
          <a:xfrm>
            <a:off x="13844016" y="3154680"/>
            <a:ext cx="6464808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7" name="Connector 866"/>
          <p:cNvCxnSpPr/>
          <p:nvPr/>
        </p:nvCxnSpPr>
        <p:spPr>
          <a:xfrm>
            <a:off x="13844016" y="3154680"/>
            <a:ext cx="7269480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8" name="Connector 867"/>
          <p:cNvCxnSpPr/>
          <p:nvPr/>
        </p:nvCxnSpPr>
        <p:spPr>
          <a:xfrm flipH="1">
            <a:off x="868680" y="3154680"/>
            <a:ext cx="14145768" cy="4480560"/>
          </a:xfrm>
          <a:prstGeom prst="line">
            <a:avLst/>
          </a:prstGeom>
          <a:ln w="27432">
            <a:solidFill>
              <a:srgbClr val="D64B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9" name="Connector 868"/>
          <p:cNvCxnSpPr/>
          <p:nvPr/>
        </p:nvCxnSpPr>
        <p:spPr>
          <a:xfrm flipH="1">
            <a:off x="1673352" y="3154680"/>
            <a:ext cx="13341096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0" name="Connector 869"/>
          <p:cNvCxnSpPr/>
          <p:nvPr/>
        </p:nvCxnSpPr>
        <p:spPr>
          <a:xfrm flipH="1">
            <a:off x="2478024" y="3154680"/>
            <a:ext cx="12536424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1" name="Connector 870"/>
          <p:cNvCxnSpPr/>
          <p:nvPr/>
        </p:nvCxnSpPr>
        <p:spPr>
          <a:xfrm flipH="1">
            <a:off x="3282696" y="3154680"/>
            <a:ext cx="11731752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2" name="Connector 871"/>
          <p:cNvCxnSpPr/>
          <p:nvPr/>
        </p:nvCxnSpPr>
        <p:spPr>
          <a:xfrm flipH="1">
            <a:off x="4434840" y="3154680"/>
            <a:ext cx="10579608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3" name="Connector 872"/>
          <p:cNvCxnSpPr/>
          <p:nvPr/>
        </p:nvCxnSpPr>
        <p:spPr>
          <a:xfrm flipH="1">
            <a:off x="5239512" y="3154680"/>
            <a:ext cx="9774936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4" name="Connector 873"/>
          <p:cNvCxnSpPr/>
          <p:nvPr/>
        </p:nvCxnSpPr>
        <p:spPr>
          <a:xfrm flipH="1">
            <a:off x="6044184" y="3154680"/>
            <a:ext cx="8970264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5" name="Connector 874"/>
          <p:cNvCxnSpPr/>
          <p:nvPr/>
        </p:nvCxnSpPr>
        <p:spPr>
          <a:xfrm flipH="1">
            <a:off x="6848856" y="3154680"/>
            <a:ext cx="8165592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6" name="Connector 875"/>
          <p:cNvCxnSpPr/>
          <p:nvPr/>
        </p:nvCxnSpPr>
        <p:spPr>
          <a:xfrm flipH="1">
            <a:off x="8001000" y="3154680"/>
            <a:ext cx="7013448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7" name="Connector 876"/>
          <p:cNvCxnSpPr/>
          <p:nvPr/>
        </p:nvCxnSpPr>
        <p:spPr>
          <a:xfrm flipH="1">
            <a:off x="8805672" y="3154680"/>
            <a:ext cx="6208776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8" name="Connector 877"/>
          <p:cNvCxnSpPr/>
          <p:nvPr/>
        </p:nvCxnSpPr>
        <p:spPr>
          <a:xfrm flipH="1">
            <a:off x="9610344" y="3154680"/>
            <a:ext cx="5404104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9" name="Connector 878"/>
          <p:cNvCxnSpPr/>
          <p:nvPr/>
        </p:nvCxnSpPr>
        <p:spPr>
          <a:xfrm flipH="1">
            <a:off x="10415016" y="3154680"/>
            <a:ext cx="4599432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0" name="Connector 879"/>
          <p:cNvCxnSpPr/>
          <p:nvPr/>
        </p:nvCxnSpPr>
        <p:spPr>
          <a:xfrm flipH="1">
            <a:off x="11567160" y="3154680"/>
            <a:ext cx="3447288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1" name="Connector 880"/>
          <p:cNvCxnSpPr/>
          <p:nvPr/>
        </p:nvCxnSpPr>
        <p:spPr>
          <a:xfrm flipH="1">
            <a:off x="12371832" y="3154680"/>
            <a:ext cx="2642616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2" name="Connector 881"/>
          <p:cNvCxnSpPr/>
          <p:nvPr/>
        </p:nvCxnSpPr>
        <p:spPr>
          <a:xfrm flipH="1">
            <a:off x="13176504" y="3154680"/>
            <a:ext cx="1837944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3" name="Connector 882"/>
          <p:cNvCxnSpPr/>
          <p:nvPr/>
        </p:nvCxnSpPr>
        <p:spPr>
          <a:xfrm flipH="1">
            <a:off x="13981176" y="3154680"/>
            <a:ext cx="1033272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4" name="Connector 883"/>
          <p:cNvCxnSpPr/>
          <p:nvPr/>
        </p:nvCxnSpPr>
        <p:spPr>
          <a:xfrm>
            <a:off x="15014448" y="3154680"/>
            <a:ext cx="118872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5" name="Connector 884"/>
          <p:cNvCxnSpPr/>
          <p:nvPr/>
        </p:nvCxnSpPr>
        <p:spPr>
          <a:xfrm>
            <a:off x="15014448" y="3154680"/>
            <a:ext cx="923544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6" name="Connector 885"/>
          <p:cNvCxnSpPr/>
          <p:nvPr/>
        </p:nvCxnSpPr>
        <p:spPr>
          <a:xfrm>
            <a:off x="15014448" y="3154680"/>
            <a:ext cx="1728215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7" name="Connector 886"/>
          <p:cNvCxnSpPr/>
          <p:nvPr/>
        </p:nvCxnSpPr>
        <p:spPr>
          <a:xfrm>
            <a:off x="15014448" y="3154680"/>
            <a:ext cx="2532888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8" name="Connector 887"/>
          <p:cNvCxnSpPr/>
          <p:nvPr/>
        </p:nvCxnSpPr>
        <p:spPr>
          <a:xfrm>
            <a:off x="15014448" y="3154680"/>
            <a:ext cx="3685032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9" name="Connector 888"/>
          <p:cNvCxnSpPr/>
          <p:nvPr/>
        </p:nvCxnSpPr>
        <p:spPr>
          <a:xfrm>
            <a:off x="15014448" y="3154680"/>
            <a:ext cx="4489704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0" name="Connector 889"/>
          <p:cNvCxnSpPr/>
          <p:nvPr/>
        </p:nvCxnSpPr>
        <p:spPr>
          <a:xfrm>
            <a:off x="15014448" y="3154680"/>
            <a:ext cx="5294376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1" name="Connector 890"/>
          <p:cNvCxnSpPr/>
          <p:nvPr/>
        </p:nvCxnSpPr>
        <p:spPr>
          <a:xfrm>
            <a:off x="15014448" y="3154680"/>
            <a:ext cx="6099048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2" name="Connector 891"/>
          <p:cNvCxnSpPr/>
          <p:nvPr/>
        </p:nvCxnSpPr>
        <p:spPr>
          <a:xfrm flipH="1">
            <a:off x="868680" y="3154680"/>
            <a:ext cx="14145768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3" name="Connector 892"/>
          <p:cNvCxnSpPr/>
          <p:nvPr/>
        </p:nvCxnSpPr>
        <p:spPr>
          <a:xfrm flipH="1">
            <a:off x="1673352" y="3154680"/>
            <a:ext cx="13341096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4" name="Connector 893"/>
          <p:cNvCxnSpPr/>
          <p:nvPr/>
        </p:nvCxnSpPr>
        <p:spPr>
          <a:xfrm flipH="1">
            <a:off x="2478024" y="3154680"/>
            <a:ext cx="12536424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5" name="Connector 894"/>
          <p:cNvCxnSpPr/>
          <p:nvPr/>
        </p:nvCxnSpPr>
        <p:spPr>
          <a:xfrm flipH="1">
            <a:off x="3282696" y="3154680"/>
            <a:ext cx="11731752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6" name="Connector 895"/>
          <p:cNvCxnSpPr/>
          <p:nvPr/>
        </p:nvCxnSpPr>
        <p:spPr>
          <a:xfrm flipH="1">
            <a:off x="4434840" y="3154680"/>
            <a:ext cx="10579608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7" name="Connector 896"/>
          <p:cNvCxnSpPr/>
          <p:nvPr/>
        </p:nvCxnSpPr>
        <p:spPr>
          <a:xfrm flipH="1">
            <a:off x="5239512" y="3154680"/>
            <a:ext cx="9774936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8" name="Connector 897"/>
          <p:cNvCxnSpPr/>
          <p:nvPr/>
        </p:nvCxnSpPr>
        <p:spPr>
          <a:xfrm flipH="1">
            <a:off x="6044184" y="3154680"/>
            <a:ext cx="8970264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9" name="Connector 898"/>
          <p:cNvCxnSpPr/>
          <p:nvPr/>
        </p:nvCxnSpPr>
        <p:spPr>
          <a:xfrm flipH="1">
            <a:off x="6848856" y="3154680"/>
            <a:ext cx="8165592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0" name="Connector 899"/>
          <p:cNvCxnSpPr/>
          <p:nvPr/>
        </p:nvCxnSpPr>
        <p:spPr>
          <a:xfrm flipH="1">
            <a:off x="8001000" y="3154680"/>
            <a:ext cx="7013448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1" name="Connector 900"/>
          <p:cNvCxnSpPr/>
          <p:nvPr/>
        </p:nvCxnSpPr>
        <p:spPr>
          <a:xfrm flipH="1">
            <a:off x="8805672" y="3154680"/>
            <a:ext cx="6208776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2" name="Connector 901"/>
          <p:cNvCxnSpPr/>
          <p:nvPr/>
        </p:nvCxnSpPr>
        <p:spPr>
          <a:xfrm flipH="1">
            <a:off x="9610344" y="3154680"/>
            <a:ext cx="5404104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3" name="Connector 902"/>
          <p:cNvCxnSpPr/>
          <p:nvPr/>
        </p:nvCxnSpPr>
        <p:spPr>
          <a:xfrm flipH="1">
            <a:off x="10415016" y="3154680"/>
            <a:ext cx="4599432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4" name="Connector 903"/>
          <p:cNvCxnSpPr/>
          <p:nvPr/>
        </p:nvCxnSpPr>
        <p:spPr>
          <a:xfrm flipH="1">
            <a:off x="11567160" y="3154680"/>
            <a:ext cx="3447288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5" name="Connector 904"/>
          <p:cNvCxnSpPr/>
          <p:nvPr/>
        </p:nvCxnSpPr>
        <p:spPr>
          <a:xfrm flipH="1">
            <a:off x="12371832" y="3154680"/>
            <a:ext cx="2642616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6" name="Connector 905"/>
          <p:cNvCxnSpPr/>
          <p:nvPr/>
        </p:nvCxnSpPr>
        <p:spPr>
          <a:xfrm flipH="1">
            <a:off x="13176504" y="3154680"/>
            <a:ext cx="1837944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7" name="Connector 906"/>
          <p:cNvCxnSpPr/>
          <p:nvPr/>
        </p:nvCxnSpPr>
        <p:spPr>
          <a:xfrm flipH="1">
            <a:off x="13981176" y="3154680"/>
            <a:ext cx="1033272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8" name="Connector 907"/>
          <p:cNvCxnSpPr/>
          <p:nvPr/>
        </p:nvCxnSpPr>
        <p:spPr>
          <a:xfrm>
            <a:off x="15014448" y="3154680"/>
            <a:ext cx="118872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9" name="Connector 908"/>
          <p:cNvCxnSpPr/>
          <p:nvPr/>
        </p:nvCxnSpPr>
        <p:spPr>
          <a:xfrm>
            <a:off x="15014448" y="3154680"/>
            <a:ext cx="923544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0" name="Connector 909"/>
          <p:cNvCxnSpPr/>
          <p:nvPr/>
        </p:nvCxnSpPr>
        <p:spPr>
          <a:xfrm>
            <a:off x="15014448" y="3154680"/>
            <a:ext cx="1728215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1" name="Connector 910"/>
          <p:cNvCxnSpPr/>
          <p:nvPr/>
        </p:nvCxnSpPr>
        <p:spPr>
          <a:xfrm>
            <a:off x="15014448" y="3154680"/>
            <a:ext cx="2532888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2" name="Connector 911"/>
          <p:cNvCxnSpPr/>
          <p:nvPr/>
        </p:nvCxnSpPr>
        <p:spPr>
          <a:xfrm>
            <a:off x="15014448" y="3154680"/>
            <a:ext cx="3685032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3" name="Connector 912"/>
          <p:cNvCxnSpPr/>
          <p:nvPr/>
        </p:nvCxnSpPr>
        <p:spPr>
          <a:xfrm>
            <a:off x="15014448" y="3154680"/>
            <a:ext cx="4489704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4" name="Connector 913"/>
          <p:cNvCxnSpPr/>
          <p:nvPr/>
        </p:nvCxnSpPr>
        <p:spPr>
          <a:xfrm>
            <a:off x="15014448" y="3154680"/>
            <a:ext cx="5294376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5" name="Connector 914"/>
          <p:cNvCxnSpPr/>
          <p:nvPr/>
        </p:nvCxnSpPr>
        <p:spPr>
          <a:xfrm>
            <a:off x="15014448" y="3154680"/>
            <a:ext cx="6099048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6" name="Connector 915"/>
          <p:cNvCxnSpPr/>
          <p:nvPr/>
        </p:nvCxnSpPr>
        <p:spPr>
          <a:xfrm flipH="1">
            <a:off x="868680" y="3154680"/>
            <a:ext cx="14145768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7" name="Connector 916"/>
          <p:cNvCxnSpPr/>
          <p:nvPr/>
        </p:nvCxnSpPr>
        <p:spPr>
          <a:xfrm flipH="1">
            <a:off x="1673352" y="3154680"/>
            <a:ext cx="13341096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8" name="Connector 917"/>
          <p:cNvCxnSpPr/>
          <p:nvPr/>
        </p:nvCxnSpPr>
        <p:spPr>
          <a:xfrm flipH="1">
            <a:off x="2478024" y="3154680"/>
            <a:ext cx="12536424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9" name="Connector 918"/>
          <p:cNvCxnSpPr/>
          <p:nvPr/>
        </p:nvCxnSpPr>
        <p:spPr>
          <a:xfrm flipH="1">
            <a:off x="3282696" y="3154680"/>
            <a:ext cx="11731752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0" name="Connector 919"/>
          <p:cNvCxnSpPr/>
          <p:nvPr/>
        </p:nvCxnSpPr>
        <p:spPr>
          <a:xfrm flipH="1">
            <a:off x="4434840" y="3154680"/>
            <a:ext cx="10579608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1" name="Connector 920"/>
          <p:cNvCxnSpPr/>
          <p:nvPr/>
        </p:nvCxnSpPr>
        <p:spPr>
          <a:xfrm flipH="1">
            <a:off x="5239512" y="3154680"/>
            <a:ext cx="9774936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2" name="Connector 921"/>
          <p:cNvCxnSpPr/>
          <p:nvPr/>
        </p:nvCxnSpPr>
        <p:spPr>
          <a:xfrm flipH="1">
            <a:off x="6044184" y="3154680"/>
            <a:ext cx="8970264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3" name="Connector 922"/>
          <p:cNvCxnSpPr/>
          <p:nvPr/>
        </p:nvCxnSpPr>
        <p:spPr>
          <a:xfrm flipH="1">
            <a:off x="6848856" y="3154680"/>
            <a:ext cx="8165592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4" name="Connector 923"/>
          <p:cNvCxnSpPr/>
          <p:nvPr/>
        </p:nvCxnSpPr>
        <p:spPr>
          <a:xfrm flipH="1">
            <a:off x="8001000" y="3154680"/>
            <a:ext cx="7013448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5" name="Connector 924"/>
          <p:cNvCxnSpPr/>
          <p:nvPr/>
        </p:nvCxnSpPr>
        <p:spPr>
          <a:xfrm flipH="1">
            <a:off x="8805672" y="3154680"/>
            <a:ext cx="6208776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6" name="Connector 925"/>
          <p:cNvCxnSpPr/>
          <p:nvPr/>
        </p:nvCxnSpPr>
        <p:spPr>
          <a:xfrm flipH="1">
            <a:off x="9610344" y="3154680"/>
            <a:ext cx="5404104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7" name="Connector 926"/>
          <p:cNvCxnSpPr/>
          <p:nvPr/>
        </p:nvCxnSpPr>
        <p:spPr>
          <a:xfrm flipH="1">
            <a:off x="10415016" y="3154680"/>
            <a:ext cx="4599432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8" name="Connector 927"/>
          <p:cNvCxnSpPr/>
          <p:nvPr/>
        </p:nvCxnSpPr>
        <p:spPr>
          <a:xfrm flipH="1">
            <a:off x="11567160" y="3154680"/>
            <a:ext cx="3447288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9" name="Connector 928"/>
          <p:cNvCxnSpPr/>
          <p:nvPr/>
        </p:nvCxnSpPr>
        <p:spPr>
          <a:xfrm flipH="1">
            <a:off x="12371832" y="3154680"/>
            <a:ext cx="2642616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0" name="Connector 929"/>
          <p:cNvCxnSpPr/>
          <p:nvPr/>
        </p:nvCxnSpPr>
        <p:spPr>
          <a:xfrm flipH="1">
            <a:off x="13176504" y="3154680"/>
            <a:ext cx="1837944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1" name="Connector 930"/>
          <p:cNvCxnSpPr/>
          <p:nvPr/>
        </p:nvCxnSpPr>
        <p:spPr>
          <a:xfrm flipH="1">
            <a:off x="13981176" y="3154680"/>
            <a:ext cx="1033272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2" name="Connector 931"/>
          <p:cNvCxnSpPr/>
          <p:nvPr/>
        </p:nvCxnSpPr>
        <p:spPr>
          <a:xfrm>
            <a:off x="15014448" y="3154680"/>
            <a:ext cx="118872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3" name="Connector 932"/>
          <p:cNvCxnSpPr/>
          <p:nvPr/>
        </p:nvCxnSpPr>
        <p:spPr>
          <a:xfrm>
            <a:off x="15014448" y="3154680"/>
            <a:ext cx="923544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4" name="Connector 933"/>
          <p:cNvCxnSpPr/>
          <p:nvPr/>
        </p:nvCxnSpPr>
        <p:spPr>
          <a:xfrm>
            <a:off x="15014448" y="3154680"/>
            <a:ext cx="1728215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5" name="Connector 934"/>
          <p:cNvCxnSpPr/>
          <p:nvPr/>
        </p:nvCxnSpPr>
        <p:spPr>
          <a:xfrm>
            <a:off x="15014448" y="3154680"/>
            <a:ext cx="2532888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6" name="Connector 935"/>
          <p:cNvCxnSpPr/>
          <p:nvPr/>
        </p:nvCxnSpPr>
        <p:spPr>
          <a:xfrm>
            <a:off x="15014448" y="3154680"/>
            <a:ext cx="3685032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7" name="Connector 936"/>
          <p:cNvCxnSpPr/>
          <p:nvPr/>
        </p:nvCxnSpPr>
        <p:spPr>
          <a:xfrm>
            <a:off x="15014448" y="3154680"/>
            <a:ext cx="4489704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8" name="Connector 937"/>
          <p:cNvCxnSpPr/>
          <p:nvPr/>
        </p:nvCxnSpPr>
        <p:spPr>
          <a:xfrm>
            <a:off x="15014448" y="3154680"/>
            <a:ext cx="5294376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9" name="Connector 938"/>
          <p:cNvCxnSpPr/>
          <p:nvPr/>
        </p:nvCxnSpPr>
        <p:spPr>
          <a:xfrm>
            <a:off x="15014448" y="3154680"/>
            <a:ext cx="6099048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0" name="Connector 939"/>
          <p:cNvCxnSpPr/>
          <p:nvPr/>
        </p:nvCxnSpPr>
        <p:spPr>
          <a:xfrm flipH="1">
            <a:off x="868680" y="3154680"/>
            <a:ext cx="15316200" cy="4480560"/>
          </a:xfrm>
          <a:prstGeom prst="line">
            <a:avLst/>
          </a:prstGeom>
          <a:ln w="27432">
            <a:solidFill>
              <a:srgbClr val="D64B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1" name="Connector 940"/>
          <p:cNvCxnSpPr/>
          <p:nvPr/>
        </p:nvCxnSpPr>
        <p:spPr>
          <a:xfrm flipH="1">
            <a:off x="1673352" y="3154680"/>
            <a:ext cx="14511528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2" name="Connector 941"/>
          <p:cNvCxnSpPr/>
          <p:nvPr/>
        </p:nvCxnSpPr>
        <p:spPr>
          <a:xfrm flipH="1">
            <a:off x="2478024" y="3154680"/>
            <a:ext cx="13706856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3" name="Connector 942"/>
          <p:cNvCxnSpPr/>
          <p:nvPr/>
        </p:nvCxnSpPr>
        <p:spPr>
          <a:xfrm flipH="1">
            <a:off x="3282696" y="3154680"/>
            <a:ext cx="12902184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4" name="Connector 943"/>
          <p:cNvCxnSpPr/>
          <p:nvPr/>
        </p:nvCxnSpPr>
        <p:spPr>
          <a:xfrm flipH="1">
            <a:off x="4434840" y="3154680"/>
            <a:ext cx="11750040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5" name="Connector 944"/>
          <p:cNvCxnSpPr/>
          <p:nvPr/>
        </p:nvCxnSpPr>
        <p:spPr>
          <a:xfrm flipH="1">
            <a:off x="5239512" y="3154680"/>
            <a:ext cx="10945368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6" name="Connector 945"/>
          <p:cNvCxnSpPr/>
          <p:nvPr/>
        </p:nvCxnSpPr>
        <p:spPr>
          <a:xfrm flipH="1">
            <a:off x="6044184" y="3154680"/>
            <a:ext cx="10140696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7" name="Connector 946"/>
          <p:cNvCxnSpPr/>
          <p:nvPr/>
        </p:nvCxnSpPr>
        <p:spPr>
          <a:xfrm flipH="1">
            <a:off x="6848856" y="3154680"/>
            <a:ext cx="9336024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8" name="Connector 947"/>
          <p:cNvCxnSpPr/>
          <p:nvPr/>
        </p:nvCxnSpPr>
        <p:spPr>
          <a:xfrm flipH="1">
            <a:off x="8001000" y="3154680"/>
            <a:ext cx="8183880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9" name="Connector 948"/>
          <p:cNvCxnSpPr/>
          <p:nvPr/>
        </p:nvCxnSpPr>
        <p:spPr>
          <a:xfrm flipH="1">
            <a:off x="8805672" y="3154680"/>
            <a:ext cx="7379208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0" name="Connector 949"/>
          <p:cNvCxnSpPr/>
          <p:nvPr/>
        </p:nvCxnSpPr>
        <p:spPr>
          <a:xfrm flipH="1">
            <a:off x="9610344" y="3154680"/>
            <a:ext cx="6574536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1" name="Connector 950"/>
          <p:cNvCxnSpPr/>
          <p:nvPr/>
        </p:nvCxnSpPr>
        <p:spPr>
          <a:xfrm flipH="1">
            <a:off x="10415016" y="3154680"/>
            <a:ext cx="5769864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2" name="Connector 951"/>
          <p:cNvCxnSpPr/>
          <p:nvPr/>
        </p:nvCxnSpPr>
        <p:spPr>
          <a:xfrm flipH="1">
            <a:off x="11567160" y="3154680"/>
            <a:ext cx="4617720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3" name="Connector 952"/>
          <p:cNvCxnSpPr/>
          <p:nvPr/>
        </p:nvCxnSpPr>
        <p:spPr>
          <a:xfrm flipH="1">
            <a:off x="12371832" y="3154680"/>
            <a:ext cx="3813048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4" name="Connector 953"/>
          <p:cNvCxnSpPr/>
          <p:nvPr/>
        </p:nvCxnSpPr>
        <p:spPr>
          <a:xfrm flipH="1">
            <a:off x="13176504" y="3154680"/>
            <a:ext cx="3008376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5" name="Connector 954"/>
          <p:cNvCxnSpPr/>
          <p:nvPr/>
        </p:nvCxnSpPr>
        <p:spPr>
          <a:xfrm flipH="1">
            <a:off x="13981176" y="3154680"/>
            <a:ext cx="2203704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6" name="Connector 955"/>
          <p:cNvCxnSpPr/>
          <p:nvPr/>
        </p:nvCxnSpPr>
        <p:spPr>
          <a:xfrm flipH="1">
            <a:off x="15133320" y="3154680"/>
            <a:ext cx="1051560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7" name="Connector 956"/>
          <p:cNvCxnSpPr/>
          <p:nvPr/>
        </p:nvCxnSpPr>
        <p:spPr>
          <a:xfrm flipH="1">
            <a:off x="15937992" y="3154680"/>
            <a:ext cx="246888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8" name="Connector 957"/>
          <p:cNvCxnSpPr/>
          <p:nvPr/>
        </p:nvCxnSpPr>
        <p:spPr>
          <a:xfrm>
            <a:off x="16184880" y="3154680"/>
            <a:ext cx="557783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9" name="Connector 958"/>
          <p:cNvCxnSpPr/>
          <p:nvPr/>
        </p:nvCxnSpPr>
        <p:spPr>
          <a:xfrm>
            <a:off x="16184880" y="3154680"/>
            <a:ext cx="1362456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0" name="Connector 959"/>
          <p:cNvCxnSpPr/>
          <p:nvPr/>
        </p:nvCxnSpPr>
        <p:spPr>
          <a:xfrm>
            <a:off x="16184880" y="3154680"/>
            <a:ext cx="2514600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1" name="Connector 960"/>
          <p:cNvCxnSpPr/>
          <p:nvPr/>
        </p:nvCxnSpPr>
        <p:spPr>
          <a:xfrm>
            <a:off x="16184880" y="3154680"/>
            <a:ext cx="3319272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2" name="Connector 961"/>
          <p:cNvCxnSpPr/>
          <p:nvPr/>
        </p:nvCxnSpPr>
        <p:spPr>
          <a:xfrm>
            <a:off x="16184880" y="3154680"/>
            <a:ext cx="4123944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3" name="Connector 962"/>
          <p:cNvCxnSpPr/>
          <p:nvPr/>
        </p:nvCxnSpPr>
        <p:spPr>
          <a:xfrm>
            <a:off x="16184880" y="3154680"/>
            <a:ext cx="4928616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4" name="Connector 963"/>
          <p:cNvCxnSpPr/>
          <p:nvPr/>
        </p:nvCxnSpPr>
        <p:spPr>
          <a:xfrm flipH="1">
            <a:off x="868680" y="3154680"/>
            <a:ext cx="15316200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5" name="Connector 964"/>
          <p:cNvCxnSpPr/>
          <p:nvPr/>
        </p:nvCxnSpPr>
        <p:spPr>
          <a:xfrm flipH="1">
            <a:off x="1673352" y="3154680"/>
            <a:ext cx="14511528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6" name="Connector 965"/>
          <p:cNvCxnSpPr/>
          <p:nvPr/>
        </p:nvCxnSpPr>
        <p:spPr>
          <a:xfrm flipH="1">
            <a:off x="2478024" y="3154680"/>
            <a:ext cx="13706856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7" name="Connector 966"/>
          <p:cNvCxnSpPr/>
          <p:nvPr/>
        </p:nvCxnSpPr>
        <p:spPr>
          <a:xfrm flipH="1">
            <a:off x="3282696" y="3154680"/>
            <a:ext cx="12902184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8" name="Connector 967"/>
          <p:cNvCxnSpPr/>
          <p:nvPr/>
        </p:nvCxnSpPr>
        <p:spPr>
          <a:xfrm flipH="1">
            <a:off x="4434840" y="3154680"/>
            <a:ext cx="11750040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9" name="Connector 968"/>
          <p:cNvCxnSpPr/>
          <p:nvPr/>
        </p:nvCxnSpPr>
        <p:spPr>
          <a:xfrm flipH="1">
            <a:off x="5239512" y="3154680"/>
            <a:ext cx="10945368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0" name="Connector 969"/>
          <p:cNvCxnSpPr/>
          <p:nvPr/>
        </p:nvCxnSpPr>
        <p:spPr>
          <a:xfrm flipH="1">
            <a:off x="6044184" y="3154680"/>
            <a:ext cx="10140696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1" name="Connector 970"/>
          <p:cNvCxnSpPr/>
          <p:nvPr/>
        </p:nvCxnSpPr>
        <p:spPr>
          <a:xfrm flipH="1">
            <a:off x="6848856" y="3154680"/>
            <a:ext cx="9336024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2" name="Connector 971"/>
          <p:cNvCxnSpPr/>
          <p:nvPr/>
        </p:nvCxnSpPr>
        <p:spPr>
          <a:xfrm flipH="1">
            <a:off x="8001000" y="3154680"/>
            <a:ext cx="8183880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3" name="Connector 972"/>
          <p:cNvCxnSpPr/>
          <p:nvPr/>
        </p:nvCxnSpPr>
        <p:spPr>
          <a:xfrm flipH="1">
            <a:off x="8805672" y="3154680"/>
            <a:ext cx="7379208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4" name="Connector 973"/>
          <p:cNvCxnSpPr/>
          <p:nvPr/>
        </p:nvCxnSpPr>
        <p:spPr>
          <a:xfrm flipH="1">
            <a:off x="9610344" y="3154680"/>
            <a:ext cx="6574536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5" name="Connector 974"/>
          <p:cNvCxnSpPr/>
          <p:nvPr/>
        </p:nvCxnSpPr>
        <p:spPr>
          <a:xfrm flipH="1">
            <a:off x="10415016" y="3154680"/>
            <a:ext cx="5769864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6" name="Connector 975"/>
          <p:cNvCxnSpPr/>
          <p:nvPr/>
        </p:nvCxnSpPr>
        <p:spPr>
          <a:xfrm flipH="1">
            <a:off x="11567160" y="3154680"/>
            <a:ext cx="4617720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7" name="Connector 976"/>
          <p:cNvCxnSpPr/>
          <p:nvPr/>
        </p:nvCxnSpPr>
        <p:spPr>
          <a:xfrm flipH="1">
            <a:off x="12371832" y="3154680"/>
            <a:ext cx="3813048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8" name="Connector 977"/>
          <p:cNvCxnSpPr/>
          <p:nvPr/>
        </p:nvCxnSpPr>
        <p:spPr>
          <a:xfrm flipH="1">
            <a:off x="13176504" y="3154680"/>
            <a:ext cx="3008376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9" name="Connector 978"/>
          <p:cNvCxnSpPr/>
          <p:nvPr/>
        </p:nvCxnSpPr>
        <p:spPr>
          <a:xfrm flipH="1">
            <a:off x="13981176" y="3154680"/>
            <a:ext cx="2203704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0" name="Connector 979"/>
          <p:cNvCxnSpPr/>
          <p:nvPr/>
        </p:nvCxnSpPr>
        <p:spPr>
          <a:xfrm flipH="1">
            <a:off x="15133320" y="3154680"/>
            <a:ext cx="1051560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1" name="Connector 980"/>
          <p:cNvCxnSpPr/>
          <p:nvPr/>
        </p:nvCxnSpPr>
        <p:spPr>
          <a:xfrm flipH="1">
            <a:off x="15937992" y="3154680"/>
            <a:ext cx="246888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2" name="Connector 981"/>
          <p:cNvCxnSpPr/>
          <p:nvPr/>
        </p:nvCxnSpPr>
        <p:spPr>
          <a:xfrm>
            <a:off x="16184880" y="3154680"/>
            <a:ext cx="557783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3" name="Connector 982"/>
          <p:cNvCxnSpPr/>
          <p:nvPr/>
        </p:nvCxnSpPr>
        <p:spPr>
          <a:xfrm>
            <a:off x="16184880" y="3154680"/>
            <a:ext cx="1362456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4" name="Connector 983"/>
          <p:cNvCxnSpPr/>
          <p:nvPr/>
        </p:nvCxnSpPr>
        <p:spPr>
          <a:xfrm>
            <a:off x="16184880" y="3154680"/>
            <a:ext cx="2514600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5" name="Connector 984"/>
          <p:cNvCxnSpPr/>
          <p:nvPr/>
        </p:nvCxnSpPr>
        <p:spPr>
          <a:xfrm>
            <a:off x="16184880" y="3154680"/>
            <a:ext cx="3319272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6" name="Connector 985"/>
          <p:cNvCxnSpPr/>
          <p:nvPr/>
        </p:nvCxnSpPr>
        <p:spPr>
          <a:xfrm>
            <a:off x="16184880" y="3154680"/>
            <a:ext cx="4123944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7" name="Connector 986"/>
          <p:cNvCxnSpPr/>
          <p:nvPr/>
        </p:nvCxnSpPr>
        <p:spPr>
          <a:xfrm>
            <a:off x="16184880" y="3154680"/>
            <a:ext cx="4928616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8" name="Connector 987"/>
          <p:cNvCxnSpPr/>
          <p:nvPr/>
        </p:nvCxnSpPr>
        <p:spPr>
          <a:xfrm flipH="1">
            <a:off x="868680" y="3154680"/>
            <a:ext cx="15316200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9" name="Connector 988"/>
          <p:cNvCxnSpPr/>
          <p:nvPr/>
        </p:nvCxnSpPr>
        <p:spPr>
          <a:xfrm flipH="1">
            <a:off x="1673352" y="3154680"/>
            <a:ext cx="14511528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0" name="Connector 989"/>
          <p:cNvCxnSpPr/>
          <p:nvPr/>
        </p:nvCxnSpPr>
        <p:spPr>
          <a:xfrm flipH="1">
            <a:off x="2478024" y="3154680"/>
            <a:ext cx="13706856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1" name="Connector 990"/>
          <p:cNvCxnSpPr/>
          <p:nvPr/>
        </p:nvCxnSpPr>
        <p:spPr>
          <a:xfrm flipH="1">
            <a:off x="3282696" y="3154680"/>
            <a:ext cx="12902184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2" name="Connector 991"/>
          <p:cNvCxnSpPr/>
          <p:nvPr/>
        </p:nvCxnSpPr>
        <p:spPr>
          <a:xfrm flipH="1">
            <a:off x="4434840" y="3154680"/>
            <a:ext cx="11750040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3" name="Connector 992"/>
          <p:cNvCxnSpPr/>
          <p:nvPr/>
        </p:nvCxnSpPr>
        <p:spPr>
          <a:xfrm flipH="1">
            <a:off x="5239512" y="3154680"/>
            <a:ext cx="10945368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4" name="Connector 993"/>
          <p:cNvCxnSpPr/>
          <p:nvPr/>
        </p:nvCxnSpPr>
        <p:spPr>
          <a:xfrm flipH="1">
            <a:off x="6044184" y="3154680"/>
            <a:ext cx="10140696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5" name="Connector 994"/>
          <p:cNvCxnSpPr/>
          <p:nvPr/>
        </p:nvCxnSpPr>
        <p:spPr>
          <a:xfrm flipH="1">
            <a:off x="6848856" y="3154680"/>
            <a:ext cx="9336024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6" name="Connector 995"/>
          <p:cNvCxnSpPr/>
          <p:nvPr/>
        </p:nvCxnSpPr>
        <p:spPr>
          <a:xfrm flipH="1">
            <a:off x="8001000" y="3154680"/>
            <a:ext cx="8183880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7" name="Connector 996"/>
          <p:cNvCxnSpPr/>
          <p:nvPr/>
        </p:nvCxnSpPr>
        <p:spPr>
          <a:xfrm flipH="1">
            <a:off x="8805672" y="3154680"/>
            <a:ext cx="7379208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8" name="Connector 997"/>
          <p:cNvCxnSpPr/>
          <p:nvPr/>
        </p:nvCxnSpPr>
        <p:spPr>
          <a:xfrm flipH="1">
            <a:off x="9610344" y="3154680"/>
            <a:ext cx="6574536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9" name="Connector 998"/>
          <p:cNvCxnSpPr/>
          <p:nvPr/>
        </p:nvCxnSpPr>
        <p:spPr>
          <a:xfrm flipH="1">
            <a:off x="10415016" y="3154680"/>
            <a:ext cx="5769864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" name="Connector 999"/>
          <p:cNvCxnSpPr/>
          <p:nvPr/>
        </p:nvCxnSpPr>
        <p:spPr>
          <a:xfrm flipH="1">
            <a:off x="11567160" y="3154680"/>
            <a:ext cx="4617720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" name="Connector 1000"/>
          <p:cNvCxnSpPr/>
          <p:nvPr/>
        </p:nvCxnSpPr>
        <p:spPr>
          <a:xfrm flipH="1">
            <a:off x="12371832" y="3154680"/>
            <a:ext cx="3813048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2" name="Connector 1001"/>
          <p:cNvCxnSpPr/>
          <p:nvPr/>
        </p:nvCxnSpPr>
        <p:spPr>
          <a:xfrm flipH="1">
            <a:off x="13176504" y="3154680"/>
            <a:ext cx="3008376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3" name="Connector 1002"/>
          <p:cNvCxnSpPr/>
          <p:nvPr/>
        </p:nvCxnSpPr>
        <p:spPr>
          <a:xfrm flipH="1">
            <a:off x="13981176" y="3154680"/>
            <a:ext cx="2203704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4" name="Connector 1003"/>
          <p:cNvCxnSpPr/>
          <p:nvPr/>
        </p:nvCxnSpPr>
        <p:spPr>
          <a:xfrm flipH="1">
            <a:off x="15133320" y="3154680"/>
            <a:ext cx="1051560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5" name="Connector 1004"/>
          <p:cNvCxnSpPr/>
          <p:nvPr/>
        </p:nvCxnSpPr>
        <p:spPr>
          <a:xfrm flipH="1">
            <a:off x="15937992" y="3154680"/>
            <a:ext cx="246888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6" name="Connector 1005"/>
          <p:cNvCxnSpPr/>
          <p:nvPr/>
        </p:nvCxnSpPr>
        <p:spPr>
          <a:xfrm>
            <a:off x="16184880" y="3154680"/>
            <a:ext cx="557783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7" name="Connector 1006"/>
          <p:cNvCxnSpPr/>
          <p:nvPr/>
        </p:nvCxnSpPr>
        <p:spPr>
          <a:xfrm>
            <a:off x="16184880" y="3154680"/>
            <a:ext cx="1362456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8" name="Connector 1007"/>
          <p:cNvCxnSpPr/>
          <p:nvPr/>
        </p:nvCxnSpPr>
        <p:spPr>
          <a:xfrm>
            <a:off x="16184880" y="3154680"/>
            <a:ext cx="2514600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9" name="Connector 1008"/>
          <p:cNvCxnSpPr/>
          <p:nvPr/>
        </p:nvCxnSpPr>
        <p:spPr>
          <a:xfrm>
            <a:off x="16184880" y="3154680"/>
            <a:ext cx="3319272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0" name="Connector 1009"/>
          <p:cNvCxnSpPr/>
          <p:nvPr/>
        </p:nvCxnSpPr>
        <p:spPr>
          <a:xfrm>
            <a:off x="16184880" y="3154680"/>
            <a:ext cx="4123944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1" name="Connector 1010"/>
          <p:cNvCxnSpPr/>
          <p:nvPr/>
        </p:nvCxnSpPr>
        <p:spPr>
          <a:xfrm>
            <a:off x="16184880" y="3154680"/>
            <a:ext cx="4928616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2" name="Connector 1011"/>
          <p:cNvCxnSpPr/>
          <p:nvPr/>
        </p:nvCxnSpPr>
        <p:spPr>
          <a:xfrm flipH="1">
            <a:off x="868680" y="3154680"/>
            <a:ext cx="16486632" cy="4480560"/>
          </a:xfrm>
          <a:prstGeom prst="line">
            <a:avLst/>
          </a:prstGeom>
          <a:ln w="27432">
            <a:solidFill>
              <a:srgbClr val="D64B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3" name="Connector 1012"/>
          <p:cNvCxnSpPr/>
          <p:nvPr/>
        </p:nvCxnSpPr>
        <p:spPr>
          <a:xfrm flipH="1">
            <a:off x="1673352" y="3154680"/>
            <a:ext cx="15681960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4" name="Connector 1013"/>
          <p:cNvCxnSpPr/>
          <p:nvPr/>
        </p:nvCxnSpPr>
        <p:spPr>
          <a:xfrm flipH="1">
            <a:off x="2478024" y="3154680"/>
            <a:ext cx="14877288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5" name="Connector 1014"/>
          <p:cNvCxnSpPr/>
          <p:nvPr/>
        </p:nvCxnSpPr>
        <p:spPr>
          <a:xfrm flipH="1">
            <a:off x="3282696" y="3154680"/>
            <a:ext cx="14072616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6" name="Connector 1015"/>
          <p:cNvCxnSpPr/>
          <p:nvPr/>
        </p:nvCxnSpPr>
        <p:spPr>
          <a:xfrm flipH="1">
            <a:off x="4434840" y="3154680"/>
            <a:ext cx="12920472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7" name="Connector 1016"/>
          <p:cNvCxnSpPr/>
          <p:nvPr/>
        </p:nvCxnSpPr>
        <p:spPr>
          <a:xfrm flipH="1">
            <a:off x="5239512" y="3154680"/>
            <a:ext cx="12115800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8" name="Connector 1017"/>
          <p:cNvCxnSpPr/>
          <p:nvPr/>
        </p:nvCxnSpPr>
        <p:spPr>
          <a:xfrm flipH="1">
            <a:off x="6044184" y="3154680"/>
            <a:ext cx="11311128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9" name="Connector 1018"/>
          <p:cNvCxnSpPr/>
          <p:nvPr/>
        </p:nvCxnSpPr>
        <p:spPr>
          <a:xfrm flipH="1">
            <a:off x="6848856" y="3154680"/>
            <a:ext cx="10506456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0" name="Connector 1019"/>
          <p:cNvCxnSpPr/>
          <p:nvPr/>
        </p:nvCxnSpPr>
        <p:spPr>
          <a:xfrm flipH="1">
            <a:off x="8001000" y="3154680"/>
            <a:ext cx="9354312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1" name="Connector 1020"/>
          <p:cNvCxnSpPr/>
          <p:nvPr/>
        </p:nvCxnSpPr>
        <p:spPr>
          <a:xfrm flipH="1">
            <a:off x="8805672" y="3154680"/>
            <a:ext cx="8549640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2" name="Connector 1021"/>
          <p:cNvCxnSpPr/>
          <p:nvPr/>
        </p:nvCxnSpPr>
        <p:spPr>
          <a:xfrm flipH="1">
            <a:off x="9610344" y="3154680"/>
            <a:ext cx="7744968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3" name="Connector 1022"/>
          <p:cNvCxnSpPr/>
          <p:nvPr/>
        </p:nvCxnSpPr>
        <p:spPr>
          <a:xfrm flipH="1">
            <a:off x="10415016" y="3154680"/>
            <a:ext cx="6940296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4" name="Connector 1023"/>
          <p:cNvCxnSpPr/>
          <p:nvPr/>
        </p:nvCxnSpPr>
        <p:spPr>
          <a:xfrm flipH="1">
            <a:off x="11567160" y="3154680"/>
            <a:ext cx="5788152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5" name="Connector 1024"/>
          <p:cNvCxnSpPr/>
          <p:nvPr/>
        </p:nvCxnSpPr>
        <p:spPr>
          <a:xfrm flipH="1">
            <a:off x="12371832" y="3154680"/>
            <a:ext cx="4983480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6" name="Connector 1025"/>
          <p:cNvCxnSpPr/>
          <p:nvPr/>
        </p:nvCxnSpPr>
        <p:spPr>
          <a:xfrm flipH="1">
            <a:off x="13176504" y="3154680"/>
            <a:ext cx="4178808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7" name="Connector 1026"/>
          <p:cNvCxnSpPr/>
          <p:nvPr/>
        </p:nvCxnSpPr>
        <p:spPr>
          <a:xfrm flipH="1">
            <a:off x="13981176" y="3154680"/>
            <a:ext cx="3374136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8" name="Connector 1027"/>
          <p:cNvCxnSpPr/>
          <p:nvPr/>
        </p:nvCxnSpPr>
        <p:spPr>
          <a:xfrm flipH="1">
            <a:off x="15133320" y="3154680"/>
            <a:ext cx="2221992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9" name="Connector 1028"/>
          <p:cNvCxnSpPr/>
          <p:nvPr/>
        </p:nvCxnSpPr>
        <p:spPr>
          <a:xfrm flipH="1">
            <a:off x="15937992" y="3154680"/>
            <a:ext cx="1417320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0" name="Connector 1029"/>
          <p:cNvCxnSpPr/>
          <p:nvPr/>
        </p:nvCxnSpPr>
        <p:spPr>
          <a:xfrm flipH="1">
            <a:off x="16742663" y="3154680"/>
            <a:ext cx="612649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1" name="Connector 1030"/>
          <p:cNvCxnSpPr/>
          <p:nvPr/>
        </p:nvCxnSpPr>
        <p:spPr>
          <a:xfrm>
            <a:off x="17355312" y="3154680"/>
            <a:ext cx="192024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2" name="Connector 1031"/>
          <p:cNvCxnSpPr/>
          <p:nvPr/>
        </p:nvCxnSpPr>
        <p:spPr>
          <a:xfrm>
            <a:off x="17355312" y="3154680"/>
            <a:ext cx="1344168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3" name="Connector 1032"/>
          <p:cNvCxnSpPr/>
          <p:nvPr/>
        </p:nvCxnSpPr>
        <p:spPr>
          <a:xfrm>
            <a:off x="17355312" y="3154680"/>
            <a:ext cx="2148840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4" name="Connector 1033"/>
          <p:cNvCxnSpPr/>
          <p:nvPr/>
        </p:nvCxnSpPr>
        <p:spPr>
          <a:xfrm>
            <a:off x="17355312" y="3154680"/>
            <a:ext cx="2953512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5" name="Connector 1034"/>
          <p:cNvCxnSpPr/>
          <p:nvPr/>
        </p:nvCxnSpPr>
        <p:spPr>
          <a:xfrm>
            <a:off x="17355312" y="3154680"/>
            <a:ext cx="3758184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6" name="Connector 1035"/>
          <p:cNvCxnSpPr/>
          <p:nvPr/>
        </p:nvCxnSpPr>
        <p:spPr>
          <a:xfrm flipH="1">
            <a:off x="868680" y="3154680"/>
            <a:ext cx="16486632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7" name="Connector 1036"/>
          <p:cNvCxnSpPr/>
          <p:nvPr/>
        </p:nvCxnSpPr>
        <p:spPr>
          <a:xfrm flipH="1">
            <a:off x="1673352" y="3154680"/>
            <a:ext cx="15681960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8" name="Connector 1037"/>
          <p:cNvCxnSpPr/>
          <p:nvPr/>
        </p:nvCxnSpPr>
        <p:spPr>
          <a:xfrm flipH="1">
            <a:off x="2478024" y="3154680"/>
            <a:ext cx="14877288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9" name="Connector 1038"/>
          <p:cNvCxnSpPr/>
          <p:nvPr/>
        </p:nvCxnSpPr>
        <p:spPr>
          <a:xfrm flipH="1">
            <a:off x="3282696" y="3154680"/>
            <a:ext cx="14072616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0" name="Connector 1039"/>
          <p:cNvCxnSpPr/>
          <p:nvPr/>
        </p:nvCxnSpPr>
        <p:spPr>
          <a:xfrm flipH="1">
            <a:off x="4434840" y="3154680"/>
            <a:ext cx="12920472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1" name="Connector 1040"/>
          <p:cNvCxnSpPr/>
          <p:nvPr/>
        </p:nvCxnSpPr>
        <p:spPr>
          <a:xfrm flipH="1">
            <a:off x="5239512" y="3154680"/>
            <a:ext cx="12115800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2" name="Connector 1041"/>
          <p:cNvCxnSpPr/>
          <p:nvPr/>
        </p:nvCxnSpPr>
        <p:spPr>
          <a:xfrm flipH="1">
            <a:off x="6044184" y="3154680"/>
            <a:ext cx="11311128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3" name="Connector 1042"/>
          <p:cNvCxnSpPr/>
          <p:nvPr/>
        </p:nvCxnSpPr>
        <p:spPr>
          <a:xfrm flipH="1">
            <a:off x="6848856" y="3154680"/>
            <a:ext cx="10506456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4" name="Connector 1043"/>
          <p:cNvCxnSpPr/>
          <p:nvPr/>
        </p:nvCxnSpPr>
        <p:spPr>
          <a:xfrm flipH="1">
            <a:off x="8001000" y="3154680"/>
            <a:ext cx="9354312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5" name="Connector 1044"/>
          <p:cNvCxnSpPr/>
          <p:nvPr/>
        </p:nvCxnSpPr>
        <p:spPr>
          <a:xfrm flipH="1">
            <a:off x="8805672" y="3154680"/>
            <a:ext cx="8549640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6" name="Connector 1045"/>
          <p:cNvCxnSpPr/>
          <p:nvPr/>
        </p:nvCxnSpPr>
        <p:spPr>
          <a:xfrm flipH="1">
            <a:off x="9610344" y="3154680"/>
            <a:ext cx="7744968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7" name="Connector 1046"/>
          <p:cNvCxnSpPr/>
          <p:nvPr/>
        </p:nvCxnSpPr>
        <p:spPr>
          <a:xfrm flipH="1">
            <a:off x="10415016" y="3154680"/>
            <a:ext cx="6940296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8" name="Connector 1047"/>
          <p:cNvCxnSpPr/>
          <p:nvPr/>
        </p:nvCxnSpPr>
        <p:spPr>
          <a:xfrm flipH="1">
            <a:off x="11567160" y="3154680"/>
            <a:ext cx="5788152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9" name="Connector 1048"/>
          <p:cNvCxnSpPr/>
          <p:nvPr/>
        </p:nvCxnSpPr>
        <p:spPr>
          <a:xfrm flipH="1">
            <a:off x="12371832" y="3154680"/>
            <a:ext cx="4983480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0" name="Connector 1049"/>
          <p:cNvCxnSpPr/>
          <p:nvPr/>
        </p:nvCxnSpPr>
        <p:spPr>
          <a:xfrm flipH="1">
            <a:off x="13176504" y="3154680"/>
            <a:ext cx="4178808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1" name="Connector 1050"/>
          <p:cNvCxnSpPr/>
          <p:nvPr/>
        </p:nvCxnSpPr>
        <p:spPr>
          <a:xfrm flipH="1">
            <a:off x="13981176" y="3154680"/>
            <a:ext cx="3374136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2" name="Connector 1051"/>
          <p:cNvCxnSpPr/>
          <p:nvPr/>
        </p:nvCxnSpPr>
        <p:spPr>
          <a:xfrm flipH="1">
            <a:off x="15133320" y="3154680"/>
            <a:ext cx="2221992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3" name="Connector 1052"/>
          <p:cNvCxnSpPr/>
          <p:nvPr/>
        </p:nvCxnSpPr>
        <p:spPr>
          <a:xfrm flipH="1">
            <a:off x="15937992" y="3154680"/>
            <a:ext cx="1417320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4" name="Connector 1053"/>
          <p:cNvCxnSpPr/>
          <p:nvPr/>
        </p:nvCxnSpPr>
        <p:spPr>
          <a:xfrm flipH="1">
            <a:off x="16742663" y="3154680"/>
            <a:ext cx="612649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5" name="Connector 1054"/>
          <p:cNvCxnSpPr/>
          <p:nvPr/>
        </p:nvCxnSpPr>
        <p:spPr>
          <a:xfrm>
            <a:off x="17355312" y="3154680"/>
            <a:ext cx="192024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6" name="Connector 1055"/>
          <p:cNvCxnSpPr/>
          <p:nvPr/>
        </p:nvCxnSpPr>
        <p:spPr>
          <a:xfrm>
            <a:off x="17355312" y="3154680"/>
            <a:ext cx="1344168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7" name="Connector 1056"/>
          <p:cNvCxnSpPr/>
          <p:nvPr/>
        </p:nvCxnSpPr>
        <p:spPr>
          <a:xfrm>
            <a:off x="17355312" y="3154680"/>
            <a:ext cx="2148840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8" name="Connector 1057"/>
          <p:cNvCxnSpPr/>
          <p:nvPr/>
        </p:nvCxnSpPr>
        <p:spPr>
          <a:xfrm>
            <a:off x="17355312" y="3154680"/>
            <a:ext cx="2953512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9" name="Connector 1058"/>
          <p:cNvCxnSpPr/>
          <p:nvPr/>
        </p:nvCxnSpPr>
        <p:spPr>
          <a:xfrm>
            <a:off x="17355312" y="3154680"/>
            <a:ext cx="3758184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0" name="Connector 1059"/>
          <p:cNvCxnSpPr/>
          <p:nvPr/>
        </p:nvCxnSpPr>
        <p:spPr>
          <a:xfrm flipH="1">
            <a:off x="868680" y="3154680"/>
            <a:ext cx="16486632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1" name="Connector 1060"/>
          <p:cNvCxnSpPr/>
          <p:nvPr/>
        </p:nvCxnSpPr>
        <p:spPr>
          <a:xfrm flipH="1">
            <a:off x="1673352" y="3154680"/>
            <a:ext cx="15681960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2" name="Connector 1061"/>
          <p:cNvCxnSpPr/>
          <p:nvPr/>
        </p:nvCxnSpPr>
        <p:spPr>
          <a:xfrm flipH="1">
            <a:off x="2478024" y="3154680"/>
            <a:ext cx="14877288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3" name="Connector 1062"/>
          <p:cNvCxnSpPr/>
          <p:nvPr/>
        </p:nvCxnSpPr>
        <p:spPr>
          <a:xfrm flipH="1">
            <a:off x="3282696" y="3154680"/>
            <a:ext cx="14072616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4" name="Connector 1063"/>
          <p:cNvCxnSpPr/>
          <p:nvPr/>
        </p:nvCxnSpPr>
        <p:spPr>
          <a:xfrm flipH="1">
            <a:off x="4434840" y="3154680"/>
            <a:ext cx="12920472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5" name="Connector 1064"/>
          <p:cNvCxnSpPr/>
          <p:nvPr/>
        </p:nvCxnSpPr>
        <p:spPr>
          <a:xfrm flipH="1">
            <a:off x="5239512" y="3154680"/>
            <a:ext cx="12115800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6" name="Connector 1065"/>
          <p:cNvCxnSpPr/>
          <p:nvPr/>
        </p:nvCxnSpPr>
        <p:spPr>
          <a:xfrm flipH="1">
            <a:off x="6044184" y="3154680"/>
            <a:ext cx="11311128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7" name="Connector 1066"/>
          <p:cNvCxnSpPr/>
          <p:nvPr/>
        </p:nvCxnSpPr>
        <p:spPr>
          <a:xfrm flipH="1">
            <a:off x="6848856" y="3154680"/>
            <a:ext cx="10506456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8" name="Connector 1067"/>
          <p:cNvCxnSpPr/>
          <p:nvPr/>
        </p:nvCxnSpPr>
        <p:spPr>
          <a:xfrm flipH="1">
            <a:off x="8001000" y="3154680"/>
            <a:ext cx="9354312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9" name="Connector 1068"/>
          <p:cNvCxnSpPr/>
          <p:nvPr/>
        </p:nvCxnSpPr>
        <p:spPr>
          <a:xfrm flipH="1">
            <a:off x="8805672" y="3154680"/>
            <a:ext cx="8549640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0" name="Connector 1069"/>
          <p:cNvCxnSpPr/>
          <p:nvPr/>
        </p:nvCxnSpPr>
        <p:spPr>
          <a:xfrm flipH="1">
            <a:off x="9610344" y="3154680"/>
            <a:ext cx="7744968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1" name="Connector 1070"/>
          <p:cNvCxnSpPr/>
          <p:nvPr/>
        </p:nvCxnSpPr>
        <p:spPr>
          <a:xfrm flipH="1">
            <a:off x="10415016" y="3154680"/>
            <a:ext cx="6940296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2" name="Connector 1071"/>
          <p:cNvCxnSpPr/>
          <p:nvPr/>
        </p:nvCxnSpPr>
        <p:spPr>
          <a:xfrm flipH="1">
            <a:off x="11567160" y="3154680"/>
            <a:ext cx="5788152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3" name="Connector 1072"/>
          <p:cNvCxnSpPr/>
          <p:nvPr/>
        </p:nvCxnSpPr>
        <p:spPr>
          <a:xfrm flipH="1">
            <a:off x="12371832" y="3154680"/>
            <a:ext cx="4983480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4" name="Connector 1073"/>
          <p:cNvCxnSpPr/>
          <p:nvPr/>
        </p:nvCxnSpPr>
        <p:spPr>
          <a:xfrm flipH="1">
            <a:off x="13176504" y="3154680"/>
            <a:ext cx="4178808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5" name="Connector 1074"/>
          <p:cNvCxnSpPr/>
          <p:nvPr/>
        </p:nvCxnSpPr>
        <p:spPr>
          <a:xfrm flipH="1">
            <a:off x="13981176" y="3154680"/>
            <a:ext cx="3374136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6" name="Connector 1075"/>
          <p:cNvCxnSpPr/>
          <p:nvPr/>
        </p:nvCxnSpPr>
        <p:spPr>
          <a:xfrm flipH="1">
            <a:off x="15133320" y="3154680"/>
            <a:ext cx="2221992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7" name="Connector 1076"/>
          <p:cNvCxnSpPr/>
          <p:nvPr/>
        </p:nvCxnSpPr>
        <p:spPr>
          <a:xfrm flipH="1">
            <a:off x="15937992" y="3154680"/>
            <a:ext cx="1417320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8" name="Connector 1077"/>
          <p:cNvCxnSpPr/>
          <p:nvPr/>
        </p:nvCxnSpPr>
        <p:spPr>
          <a:xfrm flipH="1">
            <a:off x="16742663" y="3154680"/>
            <a:ext cx="612649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9" name="Connector 1078"/>
          <p:cNvCxnSpPr/>
          <p:nvPr/>
        </p:nvCxnSpPr>
        <p:spPr>
          <a:xfrm>
            <a:off x="17355312" y="3154680"/>
            <a:ext cx="192024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0" name="Connector 1079"/>
          <p:cNvCxnSpPr/>
          <p:nvPr/>
        </p:nvCxnSpPr>
        <p:spPr>
          <a:xfrm>
            <a:off x="17355312" y="3154680"/>
            <a:ext cx="1344168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1" name="Connector 1080"/>
          <p:cNvCxnSpPr/>
          <p:nvPr/>
        </p:nvCxnSpPr>
        <p:spPr>
          <a:xfrm>
            <a:off x="17355312" y="3154680"/>
            <a:ext cx="2148840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2" name="Connector 1081"/>
          <p:cNvCxnSpPr/>
          <p:nvPr/>
        </p:nvCxnSpPr>
        <p:spPr>
          <a:xfrm>
            <a:off x="17355312" y="3154680"/>
            <a:ext cx="2953512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3" name="Connector 1082"/>
          <p:cNvCxnSpPr/>
          <p:nvPr/>
        </p:nvCxnSpPr>
        <p:spPr>
          <a:xfrm>
            <a:off x="17355312" y="3154680"/>
            <a:ext cx="3758184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4" name="Connector 1083"/>
          <p:cNvCxnSpPr/>
          <p:nvPr/>
        </p:nvCxnSpPr>
        <p:spPr>
          <a:xfrm flipH="1">
            <a:off x="868680" y="3154680"/>
            <a:ext cx="17657064" cy="4480560"/>
          </a:xfrm>
          <a:prstGeom prst="line">
            <a:avLst/>
          </a:prstGeom>
          <a:ln w="27432">
            <a:solidFill>
              <a:srgbClr val="D64B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5" name="Connector 1084"/>
          <p:cNvCxnSpPr/>
          <p:nvPr/>
        </p:nvCxnSpPr>
        <p:spPr>
          <a:xfrm flipH="1">
            <a:off x="1673352" y="3154680"/>
            <a:ext cx="16852392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6" name="Connector 1085"/>
          <p:cNvCxnSpPr/>
          <p:nvPr/>
        </p:nvCxnSpPr>
        <p:spPr>
          <a:xfrm flipH="1">
            <a:off x="2478024" y="3154680"/>
            <a:ext cx="16047720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7" name="Connector 1086"/>
          <p:cNvCxnSpPr/>
          <p:nvPr/>
        </p:nvCxnSpPr>
        <p:spPr>
          <a:xfrm flipH="1">
            <a:off x="3282696" y="3154680"/>
            <a:ext cx="15243048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8" name="Connector 1087"/>
          <p:cNvCxnSpPr/>
          <p:nvPr/>
        </p:nvCxnSpPr>
        <p:spPr>
          <a:xfrm flipH="1">
            <a:off x="4434840" y="3154680"/>
            <a:ext cx="14090904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9" name="Connector 1088"/>
          <p:cNvCxnSpPr/>
          <p:nvPr/>
        </p:nvCxnSpPr>
        <p:spPr>
          <a:xfrm flipH="1">
            <a:off x="5239512" y="3154680"/>
            <a:ext cx="13286232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0" name="Connector 1089"/>
          <p:cNvCxnSpPr/>
          <p:nvPr/>
        </p:nvCxnSpPr>
        <p:spPr>
          <a:xfrm flipH="1">
            <a:off x="6044184" y="3154680"/>
            <a:ext cx="12481560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1" name="Connector 1090"/>
          <p:cNvCxnSpPr/>
          <p:nvPr/>
        </p:nvCxnSpPr>
        <p:spPr>
          <a:xfrm flipH="1">
            <a:off x="6848856" y="3154680"/>
            <a:ext cx="11676888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2" name="Connector 1091"/>
          <p:cNvCxnSpPr/>
          <p:nvPr/>
        </p:nvCxnSpPr>
        <p:spPr>
          <a:xfrm flipH="1">
            <a:off x="8001000" y="3154680"/>
            <a:ext cx="10524744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3" name="Connector 1092"/>
          <p:cNvCxnSpPr/>
          <p:nvPr/>
        </p:nvCxnSpPr>
        <p:spPr>
          <a:xfrm flipH="1">
            <a:off x="8805672" y="3154680"/>
            <a:ext cx="9720072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4" name="Connector 1093"/>
          <p:cNvCxnSpPr/>
          <p:nvPr/>
        </p:nvCxnSpPr>
        <p:spPr>
          <a:xfrm flipH="1">
            <a:off x="9610344" y="3154680"/>
            <a:ext cx="8915400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5" name="Connector 1094"/>
          <p:cNvCxnSpPr/>
          <p:nvPr/>
        </p:nvCxnSpPr>
        <p:spPr>
          <a:xfrm flipH="1">
            <a:off x="10415016" y="3154680"/>
            <a:ext cx="8110728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6" name="Connector 1095"/>
          <p:cNvCxnSpPr/>
          <p:nvPr/>
        </p:nvCxnSpPr>
        <p:spPr>
          <a:xfrm flipH="1">
            <a:off x="11567160" y="3154680"/>
            <a:ext cx="6958584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7" name="Connector 1096"/>
          <p:cNvCxnSpPr/>
          <p:nvPr/>
        </p:nvCxnSpPr>
        <p:spPr>
          <a:xfrm flipH="1">
            <a:off x="12371832" y="3154680"/>
            <a:ext cx="6153912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8" name="Connector 1097"/>
          <p:cNvCxnSpPr/>
          <p:nvPr/>
        </p:nvCxnSpPr>
        <p:spPr>
          <a:xfrm flipH="1">
            <a:off x="13176504" y="3154680"/>
            <a:ext cx="5349240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9" name="Connector 1098"/>
          <p:cNvCxnSpPr/>
          <p:nvPr/>
        </p:nvCxnSpPr>
        <p:spPr>
          <a:xfrm flipH="1">
            <a:off x="13981176" y="3154680"/>
            <a:ext cx="4544568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0" name="Connector 1099"/>
          <p:cNvCxnSpPr/>
          <p:nvPr/>
        </p:nvCxnSpPr>
        <p:spPr>
          <a:xfrm flipH="1">
            <a:off x="15133320" y="3154680"/>
            <a:ext cx="3392424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1" name="Connector 1100"/>
          <p:cNvCxnSpPr/>
          <p:nvPr/>
        </p:nvCxnSpPr>
        <p:spPr>
          <a:xfrm flipH="1">
            <a:off x="15937992" y="3154680"/>
            <a:ext cx="2587752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2" name="Connector 1101"/>
          <p:cNvCxnSpPr/>
          <p:nvPr/>
        </p:nvCxnSpPr>
        <p:spPr>
          <a:xfrm flipH="1">
            <a:off x="16742663" y="3154680"/>
            <a:ext cx="1783081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3" name="Connector 1102"/>
          <p:cNvCxnSpPr/>
          <p:nvPr/>
        </p:nvCxnSpPr>
        <p:spPr>
          <a:xfrm flipH="1">
            <a:off x="17547336" y="3154680"/>
            <a:ext cx="978408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4" name="Connector 1103"/>
          <p:cNvCxnSpPr/>
          <p:nvPr/>
        </p:nvCxnSpPr>
        <p:spPr>
          <a:xfrm>
            <a:off x="18525744" y="3154680"/>
            <a:ext cx="173736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5" name="Connector 1104"/>
          <p:cNvCxnSpPr/>
          <p:nvPr/>
        </p:nvCxnSpPr>
        <p:spPr>
          <a:xfrm>
            <a:off x="18525744" y="3154680"/>
            <a:ext cx="978408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6" name="Connector 1105"/>
          <p:cNvCxnSpPr/>
          <p:nvPr/>
        </p:nvCxnSpPr>
        <p:spPr>
          <a:xfrm>
            <a:off x="18525744" y="3154680"/>
            <a:ext cx="1783080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7" name="Connector 1106"/>
          <p:cNvCxnSpPr/>
          <p:nvPr/>
        </p:nvCxnSpPr>
        <p:spPr>
          <a:xfrm>
            <a:off x="18525744" y="3154680"/>
            <a:ext cx="2587752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8" name="Connector 1107"/>
          <p:cNvCxnSpPr/>
          <p:nvPr/>
        </p:nvCxnSpPr>
        <p:spPr>
          <a:xfrm flipH="1">
            <a:off x="868680" y="3154680"/>
            <a:ext cx="17657064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9" name="Connector 1108"/>
          <p:cNvCxnSpPr/>
          <p:nvPr/>
        </p:nvCxnSpPr>
        <p:spPr>
          <a:xfrm flipH="1">
            <a:off x="1673352" y="3154680"/>
            <a:ext cx="16852392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0" name="Connector 1109"/>
          <p:cNvCxnSpPr/>
          <p:nvPr/>
        </p:nvCxnSpPr>
        <p:spPr>
          <a:xfrm flipH="1">
            <a:off x="2478024" y="3154680"/>
            <a:ext cx="16047720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1" name="Connector 1110"/>
          <p:cNvCxnSpPr/>
          <p:nvPr/>
        </p:nvCxnSpPr>
        <p:spPr>
          <a:xfrm flipH="1">
            <a:off x="3282696" y="3154680"/>
            <a:ext cx="15243048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2" name="Connector 1111"/>
          <p:cNvCxnSpPr/>
          <p:nvPr/>
        </p:nvCxnSpPr>
        <p:spPr>
          <a:xfrm flipH="1">
            <a:off x="4434840" y="3154680"/>
            <a:ext cx="14090904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3" name="Connector 1112"/>
          <p:cNvCxnSpPr/>
          <p:nvPr/>
        </p:nvCxnSpPr>
        <p:spPr>
          <a:xfrm flipH="1">
            <a:off x="5239512" y="3154680"/>
            <a:ext cx="13286232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4" name="Connector 1113"/>
          <p:cNvCxnSpPr/>
          <p:nvPr/>
        </p:nvCxnSpPr>
        <p:spPr>
          <a:xfrm flipH="1">
            <a:off x="6044184" y="3154680"/>
            <a:ext cx="12481560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5" name="Connector 1114"/>
          <p:cNvCxnSpPr/>
          <p:nvPr/>
        </p:nvCxnSpPr>
        <p:spPr>
          <a:xfrm flipH="1">
            <a:off x="6848856" y="3154680"/>
            <a:ext cx="11676888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6" name="Connector 1115"/>
          <p:cNvCxnSpPr/>
          <p:nvPr/>
        </p:nvCxnSpPr>
        <p:spPr>
          <a:xfrm flipH="1">
            <a:off x="8001000" y="3154680"/>
            <a:ext cx="10524744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7" name="Connector 1116"/>
          <p:cNvCxnSpPr/>
          <p:nvPr/>
        </p:nvCxnSpPr>
        <p:spPr>
          <a:xfrm flipH="1">
            <a:off x="8805672" y="3154680"/>
            <a:ext cx="9720072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8" name="Connector 1117"/>
          <p:cNvCxnSpPr/>
          <p:nvPr/>
        </p:nvCxnSpPr>
        <p:spPr>
          <a:xfrm flipH="1">
            <a:off x="9610344" y="3154680"/>
            <a:ext cx="8915400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9" name="Connector 1118"/>
          <p:cNvCxnSpPr/>
          <p:nvPr/>
        </p:nvCxnSpPr>
        <p:spPr>
          <a:xfrm flipH="1">
            <a:off x="10415016" y="3154680"/>
            <a:ext cx="8110728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0" name="Connector 1119"/>
          <p:cNvCxnSpPr/>
          <p:nvPr/>
        </p:nvCxnSpPr>
        <p:spPr>
          <a:xfrm flipH="1">
            <a:off x="11567160" y="3154680"/>
            <a:ext cx="6958584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1" name="Connector 1120"/>
          <p:cNvCxnSpPr/>
          <p:nvPr/>
        </p:nvCxnSpPr>
        <p:spPr>
          <a:xfrm flipH="1">
            <a:off x="12371832" y="3154680"/>
            <a:ext cx="6153912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2" name="Connector 1121"/>
          <p:cNvCxnSpPr/>
          <p:nvPr/>
        </p:nvCxnSpPr>
        <p:spPr>
          <a:xfrm flipH="1">
            <a:off x="13176504" y="3154680"/>
            <a:ext cx="5349240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3" name="Connector 1122"/>
          <p:cNvCxnSpPr/>
          <p:nvPr/>
        </p:nvCxnSpPr>
        <p:spPr>
          <a:xfrm flipH="1">
            <a:off x="13981176" y="3154680"/>
            <a:ext cx="4544568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4" name="Connector 1123"/>
          <p:cNvCxnSpPr/>
          <p:nvPr/>
        </p:nvCxnSpPr>
        <p:spPr>
          <a:xfrm flipH="1">
            <a:off x="15133320" y="3154680"/>
            <a:ext cx="3392424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5" name="Connector 1124"/>
          <p:cNvCxnSpPr/>
          <p:nvPr/>
        </p:nvCxnSpPr>
        <p:spPr>
          <a:xfrm flipH="1">
            <a:off x="15937992" y="3154680"/>
            <a:ext cx="2587752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6" name="Connector 1125"/>
          <p:cNvCxnSpPr/>
          <p:nvPr/>
        </p:nvCxnSpPr>
        <p:spPr>
          <a:xfrm flipH="1">
            <a:off x="16742663" y="3154680"/>
            <a:ext cx="1783081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7" name="Connector 1126"/>
          <p:cNvCxnSpPr/>
          <p:nvPr/>
        </p:nvCxnSpPr>
        <p:spPr>
          <a:xfrm flipH="1">
            <a:off x="17547336" y="3154680"/>
            <a:ext cx="978408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8" name="Connector 1127"/>
          <p:cNvCxnSpPr/>
          <p:nvPr/>
        </p:nvCxnSpPr>
        <p:spPr>
          <a:xfrm>
            <a:off x="18525744" y="3154680"/>
            <a:ext cx="173736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9" name="Connector 1128"/>
          <p:cNvCxnSpPr/>
          <p:nvPr/>
        </p:nvCxnSpPr>
        <p:spPr>
          <a:xfrm>
            <a:off x="18525744" y="3154680"/>
            <a:ext cx="978408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0" name="Connector 1129"/>
          <p:cNvCxnSpPr/>
          <p:nvPr/>
        </p:nvCxnSpPr>
        <p:spPr>
          <a:xfrm>
            <a:off x="18525744" y="3154680"/>
            <a:ext cx="1783080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1" name="Connector 1130"/>
          <p:cNvCxnSpPr/>
          <p:nvPr/>
        </p:nvCxnSpPr>
        <p:spPr>
          <a:xfrm>
            <a:off x="18525744" y="3154680"/>
            <a:ext cx="2587752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2" name="Connector 1131"/>
          <p:cNvCxnSpPr/>
          <p:nvPr/>
        </p:nvCxnSpPr>
        <p:spPr>
          <a:xfrm flipH="1">
            <a:off x="868680" y="3154680"/>
            <a:ext cx="17657064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3" name="Connector 1132"/>
          <p:cNvCxnSpPr/>
          <p:nvPr/>
        </p:nvCxnSpPr>
        <p:spPr>
          <a:xfrm flipH="1">
            <a:off x="1673352" y="3154680"/>
            <a:ext cx="16852392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4" name="Connector 1133"/>
          <p:cNvCxnSpPr/>
          <p:nvPr/>
        </p:nvCxnSpPr>
        <p:spPr>
          <a:xfrm flipH="1">
            <a:off x="2478024" y="3154680"/>
            <a:ext cx="16047720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5" name="Connector 1134"/>
          <p:cNvCxnSpPr/>
          <p:nvPr/>
        </p:nvCxnSpPr>
        <p:spPr>
          <a:xfrm flipH="1">
            <a:off x="3282696" y="3154680"/>
            <a:ext cx="15243048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6" name="Connector 1135"/>
          <p:cNvCxnSpPr/>
          <p:nvPr/>
        </p:nvCxnSpPr>
        <p:spPr>
          <a:xfrm flipH="1">
            <a:off x="4434840" y="3154680"/>
            <a:ext cx="14090904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7" name="Connector 1136"/>
          <p:cNvCxnSpPr/>
          <p:nvPr/>
        </p:nvCxnSpPr>
        <p:spPr>
          <a:xfrm flipH="1">
            <a:off x="5239512" y="3154680"/>
            <a:ext cx="13286232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8" name="Connector 1137"/>
          <p:cNvCxnSpPr/>
          <p:nvPr/>
        </p:nvCxnSpPr>
        <p:spPr>
          <a:xfrm flipH="1">
            <a:off x="6044184" y="3154680"/>
            <a:ext cx="12481560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9" name="Connector 1138"/>
          <p:cNvCxnSpPr/>
          <p:nvPr/>
        </p:nvCxnSpPr>
        <p:spPr>
          <a:xfrm flipH="1">
            <a:off x="6848856" y="3154680"/>
            <a:ext cx="11676888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0" name="Connector 1139"/>
          <p:cNvCxnSpPr/>
          <p:nvPr/>
        </p:nvCxnSpPr>
        <p:spPr>
          <a:xfrm flipH="1">
            <a:off x="8001000" y="3154680"/>
            <a:ext cx="10524744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1" name="Connector 1140"/>
          <p:cNvCxnSpPr/>
          <p:nvPr/>
        </p:nvCxnSpPr>
        <p:spPr>
          <a:xfrm flipH="1">
            <a:off x="8805672" y="3154680"/>
            <a:ext cx="9720072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2" name="Connector 1141"/>
          <p:cNvCxnSpPr/>
          <p:nvPr/>
        </p:nvCxnSpPr>
        <p:spPr>
          <a:xfrm flipH="1">
            <a:off x="9610344" y="3154680"/>
            <a:ext cx="8915400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3" name="Connector 1142"/>
          <p:cNvCxnSpPr/>
          <p:nvPr/>
        </p:nvCxnSpPr>
        <p:spPr>
          <a:xfrm flipH="1">
            <a:off x="10415016" y="3154680"/>
            <a:ext cx="8110728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4" name="Connector 1143"/>
          <p:cNvCxnSpPr/>
          <p:nvPr/>
        </p:nvCxnSpPr>
        <p:spPr>
          <a:xfrm flipH="1">
            <a:off x="11567160" y="3154680"/>
            <a:ext cx="6958584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5" name="Connector 1144"/>
          <p:cNvCxnSpPr/>
          <p:nvPr/>
        </p:nvCxnSpPr>
        <p:spPr>
          <a:xfrm flipH="1">
            <a:off x="12371832" y="3154680"/>
            <a:ext cx="6153912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6" name="Connector 1145"/>
          <p:cNvCxnSpPr/>
          <p:nvPr/>
        </p:nvCxnSpPr>
        <p:spPr>
          <a:xfrm flipH="1">
            <a:off x="13176504" y="3154680"/>
            <a:ext cx="5349240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7" name="Connector 1146"/>
          <p:cNvCxnSpPr/>
          <p:nvPr/>
        </p:nvCxnSpPr>
        <p:spPr>
          <a:xfrm flipH="1">
            <a:off x="13981176" y="3154680"/>
            <a:ext cx="4544568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8" name="Connector 1147"/>
          <p:cNvCxnSpPr/>
          <p:nvPr/>
        </p:nvCxnSpPr>
        <p:spPr>
          <a:xfrm flipH="1">
            <a:off x="15133320" y="3154680"/>
            <a:ext cx="3392424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9" name="Connector 1148"/>
          <p:cNvCxnSpPr/>
          <p:nvPr/>
        </p:nvCxnSpPr>
        <p:spPr>
          <a:xfrm flipH="1">
            <a:off x="15937992" y="3154680"/>
            <a:ext cx="2587752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0" name="Connector 1149"/>
          <p:cNvCxnSpPr/>
          <p:nvPr/>
        </p:nvCxnSpPr>
        <p:spPr>
          <a:xfrm flipH="1">
            <a:off x="16742663" y="3154680"/>
            <a:ext cx="1783081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1" name="Connector 1150"/>
          <p:cNvCxnSpPr/>
          <p:nvPr/>
        </p:nvCxnSpPr>
        <p:spPr>
          <a:xfrm flipH="1">
            <a:off x="17547336" y="3154680"/>
            <a:ext cx="978408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2" name="Connector 1151"/>
          <p:cNvCxnSpPr/>
          <p:nvPr/>
        </p:nvCxnSpPr>
        <p:spPr>
          <a:xfrm>
            <a:off x="18525744" y="3154680"/>
            <a:ext cx="173736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3" name="Connector 1152"/>
          <p:cNvCxnSpPr/>
          <p:nvPr/>
        </p:nvCxnSpPr>
        <p:spPr>
          <a:xfrm>
            <a:off x="18525744" y="3154680"/>
            <a:ext cx="978408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4" name="Connector 1153"/>
          <p:cNvCxnSpPr/>
          <p:nvPr/>
        </p:nvCxnSpPr>
        <p:spPr>
          <a:xfrm>
            <a:off x="18525744" y="3154680"/>
            <a:ext cx="1783080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5" name="Connector 1154"/>
          <p:cNvCxnSpPr/>
          <p:nvPr/>
        </p:nvCxnSpPr>
        <p:spPr>
          <a:xfrm>
            <a:off x="18525744" y="3154680"/>
            <a:ext cx="2587752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6" name="Connector 1155"/>
          <p:cNvCxnSpPr/>
          <p:nvPr/>
        </p:nvCxnSpPr>
        <p:spPr>
          <a:xfrm flipH="1">
            <a:off x="868680" y="3154680"/>
            <a:ext cx="18827496" cy="4480560"/>
          </a:xfrm>
          <a:prstGeom prst="line">
            <a:avLst/>
          </a:prstGeom>
          <a:ln w="27432">
            <a:solidFill>
              <a:srgbClr val="D64B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7" name="Connector 1156"/>
          <p:cNvCxnSpPr/>
          <p:nvPr/>
        </p:nvCxnSpPr>
        <p:spPr>
          <a:xfrm flipH="1">
            <a:off x="1673352" y="3154680"/>
            <a:ext cx="18022824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8" name="Connector 1157"/>
          <p:cNvCxnSpPr/>
          <p:nvPr/>
        </p:nvCxnSpPr>
        <p:spPr>
          <a:xfrm flipH="1">
            <a:off x="2478024" y="3154680"/>
            <a:ext cx="17218152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9" name="Connector 1158"/>
          <p:cNvCxnSpPr/>
          <p:nvPr/>
        </p:nvCxnSpPr>
        <p:spPr>
          <a:xfrm flipH="1">
            <a:off x="3282696" y="3154680"/>
            <a:ext cx="16413480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0" name="Connector 1159"/>
          <p:cNvCxnSpPr/>
          <p:nvPr/>
        </p:nvCxnSpPr>
        <p:spPr>
          <a:xfrm flipH="1">
            <a:off x="4434840" y="3154680"/>
            <a:ext cx="15261336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1" name="Connector 1160"/>
          <p:cNvCxnSpPr/>
          <p:nvPr/>
        </p:nvCxnSpPr>
        <p:spPr>
          <a:xfrm flipH="1">
            <a:off x="5239512" y="3154680"/>
            <a:ext cx="14456664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2" name="Connector 1161"/>
          <p:cNvCxnSpPr/>
          <p:nvPr/>
        </p:nvCxnSpPr>
        <p:spPr>
          <a:xfrm flipH="1">
            <a:off x="6044184" y="3154680"/>
            <a:ext cx="13651992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3" name="Connector 1162"/>
          <p:cNvCxnSpPr/>
          <p:nvPr/>
        </p:nvCxnSpPr>
        <p:spPr>
          <a:xfrm flipH="1">
            <a:off x="6848856" y="3154680"/>
            <a:ext cx="12847320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4" name="Connector 1163"/>
          <p:cNvCxnSpPr/>
          <p:nvPr/>
        </p:nvCxnSpPr>
        <p:spPr>
          <a:xfrm flipH="1">
            <a:off x="8001000" y="3154680"/>
            <a:ext cx="11695176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5" name="Connector 1164"/>
          <p:cNvCxnSpPr/>
          <p:nvPr/>
        </p:nvCxnSpPr>
        <p:spPr>
          <a:xfrm flipH="1">
            <a:off x="8805672" y="3154680"/>
            <a:ext cx="10890504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6" name="Connector 1165"/>
          <p:cNvCxnSpPr/>
          <p:nvPr/>
        </p:nvCxnSpPr>
        <p:spPr>
          <a:xfrm flipH="1">
            <a:off x="9610344" y="3154680"/>
            <a:ext cx="10085832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7" name="Connector 1166"/>
          <p:cNvCxnSpPr/>
          <p:nvPr/>
        </p:nvCxnSpPr>
        <p:spPr>
          <a:xfrm flipH="1">
            <a:off x="10415016" y="3154680"/>
            <a:ext cx="9281160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8" name="Connector 1167"/>
          <p:cNvCxnSpPr/>
          <p:nvPr/>
        </p:nvCxnSpPr>
        <p:spPr>
          <a:xfrm flipH="1">
            <a:off x="11567160" y="3154680"/>
            <a:ext cx="8129016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9" name="Connector 1168"/>
          <p:cNvCxnSpPr/>
          <p:nvPr/>
        </p:nvCxnSpPr>
        <p:spPr>
          <a:xfrm flipH="1">
            <a:off x="12371832" y="3154680"/>
            <a:ext cx="7324344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0" name="Connector 1169"/>
          <p:cNvCxnSpPr/>
          <p:nvPr/>
        </p:nvCxnSpPr>
        <p:spPr>
          <a:xfrm flipH="1">
            <a:off x="13176504" y="3154680"/>
            <a:ext cx="6519672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1" name="Connector 1170"/>
          <p:cNvCxnSpPr/>
          <p:nvPr/>
        </p:nvCxnSpPr>
        <p:spPr>
          <a:xfrm flipH="1">
            <a:off x="13981176" y="3154680"/>
            <a:ext cx="5715000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2" name="Connector 1171"/>
          <p:cNvCxnSpPr/>
          <p:nvPr/>
        </p:nvCxnSpPr>
        <p:spPr>
          <a:xfrm flipH="1">
            <a:off x="15133320" y="3154680"/>
            <a:ext cx="4562856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3" name="Connector 1172"/>
          <p:cNvCxnSpPr/>
          <p:nvPr/>
        </p:nvCxnSpPr>
        <p:spPr>
          <a:xfrm flipH="1">
            <a:off x="15937992" y="3154680"/>
            <a:ext cx="3758184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4" name="Connector 1173"/>
          <p:cNvCxnSpPr/>
          <p:nvPr/>
        </p:nvCxnSpPr>
        <p:spPr>
          <a:xfrm flipH="1">
            <a:off x="16742663" y="3154680"/>
            <a:ext cx="2953513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5" name="Connector 1174"/>
          <p:cNvCxnSpPr/>
          <p:nvPr/>
        </p:nvCxnSpPr>
        <p:spPr>
          <a:xfrm flipH="1">
            <a:off x="17547336" y="3154680"/>
            <a:ext cx="2148840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6" name="Connector 1175"/>
          <p:cNvCxnSpPr/>
          <p:nvPr/>
        </p:nvCxnSpPr>
        <p:spPr>
          <a:xfrm flipH="1">
            <a:off x="18699480" y="3154680"/>
            <a:ext cx="996696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7" name="Connector 1176"/>
          <p:cNvCxnSpPr/>
          <p:nvPr/>
        </p:nvCxnSpPr>
        <p:spPr>
          <a:xfrm flipH="1">
            <a:off x="19504152" y="3154680"/>
            <a:ext cx="192024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8" name="Connector 1177"/>
          <p:cNvCxnSpPr/>
          <p:nvPr/>
        </p:nvCxnSpPr>
        <p:spPr>
          <a:xfrm>
            <a:off x="19696176" y="3154680"/>
            <a:ext cx="612648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9" name="Connector 1178"/>
          <p:cNvCxnSpPr/>
          <p:nvPr/>
        </p:nvCxnSpPr>
        <p:spPr>
          <a:xfrm>
            <a:off x="19696176" y="3154680"/>
            <a:ext cx="1417320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0" name="Connector 1179"/>
          <p:cNvCxnSpPr/>
          <p:nvPr/>
        </p:nvCxnSpPr>
        <p:spPr>
          <a:xfrm flipH="1">
            <a:off x="868680" y="3154680"/>
            <a:ext cx="18827496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1" name="Connector 1180"/>
          <p:cNvCxnSpPr/>
          <p:nvPr/>
        </p:nvCxnSpPr>
        <p:spPr>
          <a:xfrm flipH="1">
            <a:off x="1673352" y="3154680"/>
            <a:ext cx="18022824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2" name="Connector 1181"/>
          <p:cNvCxnSpPr/>
          <p:nvPr/>
        </p:nvCxnSpPr>
        <p:spPr>
          <a:xfrm flipH="1">
            <a:off x="2478024" y="3154680"/>
            <a:ext cx="17218152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3" name="Connector 1182"/>
          <p:cNvCxnSpPr/>
          <p:nvPr/>
        </p:nvCxnSpPr>
        <p:spPr>
          <a:xfrm flipH="1">
            <a:off x="3282696" y="3154680"/>
            <a:ext cx="16413480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4" name="Connector 1183"/>
          <p:cNvCxnSpPr/>
          <p:nvPr/>
        </p:nvCxnSpPr>
        <p:spPr>
          <a:xfrm flipH="1">
            <a:off x="4434840" y="3154680"/>
            <a:ext cx="15261336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5" name="Connector 1184"/>
          <p:cNvCxnSpPr/>
          <p:nvPr/>
        </p:nvCxnSpPr>
        <p:spPr>
          <a:xfrm flipH="1">
            <a:off x="5239512" y="3154680"/>
            <a:ext cx="14456664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6" name="Connector 1185"/>
          <p:cNvCxnSpPr/>
          <p:nvPr/>
        </p:nvCxnSpPr>
        <p:spPr>
          <a:xfrm flipH="1">
            <a:off x="6044184" y="3154680"/>
            <a:ext cx="13651992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7" name="Connector 1186"/>
          <p:cNvCxnSpPr/>
          <p:nvPr/>
        </p:nvCxnSpPr>
        <p:spPr>
          <a:xfrm flipH="1">
            <a:off x="6848856" y="3154680"/>
            <a:ext cx="12847320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8" name="Connector 1187"/>
          <p:cNvCxnSpPr/>
          <p:nvPr/>
        </p:nvCxnSpPr>
        <p:spPr>
          <a:xfrm flipH="1">
            <a:off x="8001000" y="3154680"/>
            <a:ext cx="11695176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9" name="Connector 1188"/>
          <p:cNvCxnSpPr/>
          <p:nvPr/>
        </p:nvCxnSpPr>
        <p:spPr>
          <a:xfrm flipH="1">
            <a:off x="8805672" y="3154680"/>
            <a:ext cx="10890504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0" name="Connector 1189"/>
          <p:cNvCxnSpPr/>
          <p:nvPr/>
        </p:nvCxnSpPr>
        <p:spPr>
          <a:xfrm flipH="1">
            <a:off x="9610344" y="3154680"/>
            <a:ext cx="10085832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1" name="Connector 1190"/>
          <p:cNvCxnSpPr/>
          <p:nvPr/>
        </p:nvCxnSpPr>
        <p:spPr>
          <a:xfrm flipH="1">
            <a:off x="10415016" y="3154680"/>
            <a:ext cx="9281160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2" name="Connector 1191"/>
          <p:cNvCxnSpPr/>
          <p:nvPr/>
        </p:nvCxnSpPr>
        <p:spPr>
          <a:xfrm flipH="1">
            <a:off x="11567160" y="3154680"/>
            <a:ext cx="8129016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3" name="Connector 1192"/>
          <p:cNvCxnSpPr/>
          <p:nvPr/>
        </p:nvCxnSpPr>
        <p:spPr>
          <a:xfrm flipH="1">
            <a:off x="12371832" y="3154680"/>
            <a:ext cx="7324344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4" name="Connector 1193"/>
          <p:cNvCxnSpPr/>
          <p:nvPr/>
        </p:nvCxnSpPr>
        <p:spPr>
          <a:xfrm flipH="1">
            <a:off x="13176504" y="3154680"/>
            <a:ext cx="6519672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5" name="Connector 1194"/>
          <p:cNvCxnSpPr/>
          <p:nvPr/>
        </p:nvCxnSpPr>
        <p:spPr>
          <a:xfrm flipH="1">
            <a:off x="13981176" y="3154680"/>
            <a:ext cx="5715000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6" name="Connector 1195"/>
          <p:cNvCxnSpPr/>
          <p:nvPr/>
        </p:nvCxnSpPr>
        <p:spPr>
          <a:xfrm flipH="1">
            <a:off x="15133320" y="3154680"/>
            <a:ext cx="4562856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7" name="Connector 1196"/>
          <p:cNvCxnSpPr/>
          <p:nvPr/>
        </p:nvCxnSpPr>
        <p:spPr>
          <a:xfrm flipH="1">
            <a:off x="15937992" y="3154680"/>
            <a:ext cx="3758184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8" name="Connector 1197"/>
          <p:cNvCxnSpPr/>
          <p:nvPr/>
        </p:nvCxnSpPr>
        <p:spPr>
          <a:xfrm flipH="1">
            <a:off x="16742663" y="3154680"/>
            <a:ext cx="2953513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9" name="Connector 1198"/>
          <p:cNvCxnSpPr/>
          <p:nvPr/>
        </p:nvCxnSpPr>
        <p:spPr>
          <a:xfrm flipH="1">
            <a:off x="17547336" y="3154680"/>
            <a:ext cx="2148840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0" name="Connector 1199"/>
          <p:cNvCxnSpPr/>
          <p:nvPr/>
        </p:nvCxnSpPr>
        <p:spPr>
          <a:xfrm flipH="1">
            <a:off x="18699480" y="3154680"/>
            <a:ext cx="996696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1" name="Connector 1200"/>
          <p:cNvCxnSpPr/>
          <p:nvPr/>
        </p:nvCxnSpPr>
        <p:spPr>
          <a:xfrm flipH="1">
            <a:off x="19504152" y="3154680"/>
            <a:ext cx="192024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2" name="Connector 1201"/>
          <p:cNvCxnSpPr/>
          <p:nvPr/>
        </p:nvCxnSpPr>
        <p:spPr>
          <a:xfrm>
            <a:off x="19696176" y="3154680"/>
            <a:ext cx="612648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3" name="Connector 1202"/>
          <p:cNvCxnSpPr/>
          <p:nvPr/>
        </p:nvCxnSpPr>
        <p:spPr>
          <a:xfrm>
            <a:off x="19696176" y="3154680"/>
            <a:ext cx="1417320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4" name="Connector 1203"/>
          <p:cNvCxnSpPr/>
          <p:nvPr/>
        </p:nvCxnSpPr>
        <p:spPr>
          <a:xfrm flipH="1">
            <a:off x="868680" y="3154680"/>
            <a:ext cx="18827496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5" name="Connector 1204"/>
          <p:cNvCxnSpPr/>
          <p:nvPr/>
        </p:nvCxnSpPr>
        <p:spPr>
          <a:xfrm flipH="1">
            <a:off x="1673352" y="3154680"/>
            <a:ext cx="18022824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6" name="Connector 1205"/>
          <p:cNvCxnSpPr/>
          <p:nvPr/>
        </p:nvCxnSpPr>
        <p:spPr>
          <a:xfrm flipH="1">
            <a:off x="2478024" y="3154680"/>
            <a:ext cx="17218152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7" name="Connector 1206"/>
          <p:cNvCxnSpPr/>
          <p:nvPr/>
        </p:nvCxnSpPr>
        <p:spPr>
          <a:xfrm flipH="1">
            <a:off x="3282696" y="3154680"/>
            <a:ext cx="16413480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8" name="Connector 1207"/>
          <p:cNvCxnSpPr/>
          <p:nvPr/>
        </p:nvCxnSpPr>
        <p:spPr>
          <a:xfrm flipH="1">
            <a:off x="4434840" y="3154680"/>
            <a:ext cx="15261336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9" name="Connector 1208"/>
          <p:cNvCxnSpPr/>
          <p:nvPr/>
        </p:nvCxnSpPr>
        <p:spPr>
          <a:xfrm flipH="1">
            <a:off x="5239512" y="3154680"/>
            <a:ext cx="14456664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0" name="Connector 1209"/>
          <p:cNvCxnSpPr/>
          <p:nvPr/>
        </p:nvCxnSpPr>
        <p:spPr>
          <a:xfrm flipH="1">
            <a:off x="6044184" y="3154680"/>
            <a:ext cx="13651992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1" name="Connector 1210"/>
          <p:cNvCxnSpPr/>
          <p:nvPr/>
        </p:nvCxnSpPr>
        <p:spPr>
          <a:xfrm flipH="1">
            <a:off x="6848856" y="3154680"/>
            <a:ext cx="12847320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2" name="Connector 1211"/>
          <p:cNvCxnSpPr/>
          <p:nvPr/>
        </p:nvCxnSpPr>
        <p:spPr>
          <a:xfrm flipH="1">
            <a:off x="8001000" y="3154680"/>
            <a:ext cx="11695176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3" name="Connector 1212"/>
          <p:cNvCxnSpPr/>
          <p:nvPr/>
        </p:nvCxnSpPr>
        <p:spPr>
          <a:xfrm flipH="1">
            <a:off x="8805672" y="3154680"/>
            <a:ext cx="10890504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4" name="Connector 1213"/>
          <p:cNvCxnSpPr/>
          <p:nvPr/>
        </p:nvCxnSpPr>
        <p:spPr>
          <a:xfrm flipH="1">
            <a:off x="9610344" y="3154680"/>
            <a:ext cx="10085832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5" name="Connector 1214"/>
          <p:cNvCxnSpPr/>
          <p:nvPr/>
        </p:nvCxnSpPr>
        <p:spPr>
          <a:xfrm flipH="1">
            <a:off x="10415016" y="3154680"/>
            <a:ext cx="9281160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6" name="Connector 1215"/>
          <p:cNvCxnSpPr/>
          <p:nvPr/>
        </p:nvCxnSpPr>
        <p:spPr>
          <a:xfrm flipH="1">
            <a:off x="11567160" y="3154680"/>
            <a:ext cx="8129016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7" name="Connector 1216"/>
          <p:cNvCxnSpPr/>
          <p:nvPr/>
        </p:nvCxnSpPr>
        <p:spPr>
          <a:xfrm flipH="1">
            <a:off x="12371832" y="3154680"/>
            <a:ext cx="7324344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8" name="Connector 1217"/>
          <p:cNvCxnSpPr/>
          <p:nvPr/>
        </p:nvCxnSpPr>
        <p:spPr>
          <a:xfrm flipH="1">
            <a:off x="13176504" y="3154680"/>
            <a:ext cx="6519672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9" name="Connector 1218"/>
          <p:cNvCxnSpPr/>
          <p:nvPr/>
        </p:nvCxnSpPr>
        <p:spPr>
          <a:xfrm flipH="1">
            <a:off x="13981176" y="3154680"/>
            <a:ext cx="5715000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0" name="Connector 1219"/>
          <p:cNvCxnSpPr/>
          <p:nvPr/>
        </p:nvCxnSpPr>
        <p:spPr>
          <a:xfrm flipH="1">
            <a:off x="15133320" y="3154680"/>
            <a:ext cx="4562856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1" name="Connector 1220"/>
          <p:cNvCxnSpPr/>
          <p:nvPr/>
        </p:nvCxnSpPr>
        <p:spPr>
          <a:xfrm flipH="1">
            <a:off x="15937992" y="3154680"/>
            <a:ext cx="3758184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2" name="Connector 1221"/>
          <p:cNvCxnSpPr/>
          <p:nvPr/>
        </p:nvCxnSpPr>
        <p:spPr>
          <a:xfrm flipH="1">
            <a:off x="16742663" y="3154680"/>
            <a:ext cx="2953513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3" name="Connector 1222"/>
          <p:cNvCxnSpPr/>
          <p:nvPr/>
        </p:nvCxnSpPr>
        <p:spPr>
          <a:xfrm flipH="1">
            <a:off x="17547336" y="3154680"/>
            <a:ext cx="2148840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4" name="Connector 1223"/>
          <p:cNvCxnSpPr/>
          <p:nvPr/>
        </p:nvCxnSpPr>
        <p:spPr>
          <a:xfrm flipH="1">
            <a:off x="18699480" y="3154680"/>
            <a:ext cx="996696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5" name="Connector 1224"/>
          <p:cNvCxnSpPr/>
          <p:nvPr/>
        </p:nvCxnSpPr>
        <p:spPr>
          <a:xfrm flipH="1">
            <a:off x="19504152" y="3154680"/>
            <a:ext cx="192024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6" name="Connector 1225"/>
          <p:cNvCxnSpPr/>
          <p:nvPr/>
        </p:nvCxnSpPr>
        <p:spPr>
          <a:xfrm>
            <a:off x="19696176" y="3154680"/>
            <a:ext cx="612648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7" name="Connector 1226"/>
          <p:cNvCxnSpPr/>
          <p:nvPr/>
        </p:nvCxnSpPr>
        <p:spPr>
          <a:xfrm>
            <a:off x="19696176" y="3154680"/>
            <a:ext cx="1417320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8" name="Connector 1227"/>
          <p:cNvCxnSpPr/>
          <p:nvPr/>
        </p:nvCxnSpPr>
        <p:spPr>
          <a:xfrm flipH="1">
            <a:off x="868680" y="3154680"/>
            <a:ext cx="19997928" cy="4480560"/>
          </a:xfrm>
          <a:prstGeom prst="line">
            <a:avLst/>
          </a:prstGeom>
          <a:ln w="27432">
            <a:solidFill>
              <a:srgbClr val="D64B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9" name="Connector 1228"/>
          <p:cNvCxnSpPr/>
          <p:nvPr/>
        </p:nvCxnSpPr>
        <p:spPr>
          <a:xfrm flipH="1">
            <a:off x="1673352" y="3154680"/>
            <a:ext cx="19193256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0" name="Connector 1229"/>
          <p:cNvCxnSpPr/>
          <p:nvPr/>
        </p:nvCxnSpPr>
        <p:spPr>
          <a:xfrm flipH="1">
            <a:off x="2478024" y="3154680"/>
            <a:ext cx="18388584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1" name="Connector 1230"/>
          <p:cNvCxnSpPr/>
          <p:nvPr/>
        </p:nvCxnSpPr>
        <p:spPr>
          <a:xfrm flipH="1">
            <a:off x="3282696" y="3154680"/>
            <a:ext cx="17583912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2" name="Connector 1231"/>
          <p:cNvCxnSpPr/>
          <p:nvPr/>
        </p:nvCxnSpPr>
        <p:spPr>
          <a:xfrm flipH="1">
            <a:off x="4434840" y="3154680"/>
            <a:ext cx="16431768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3" name="Connector 1232"/>
          <p:cNvCxnSpPr/>
          <p:nvPr/>
        </p:nvCxnSpPr>
        <p:spPr>
          <a:xfrm flipH="1">
            <a:off x="5239512" y="3154680"/>
            <a:ext cx="15627096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4" name="Connector 1233"/>
          <p:cNvCxnSpPr/>
          <p:nvPr/>
        </p:nvCxnSpPr>
        <p:spPr>
          <a:xfrm flipH="1">
            <a:off x="6044184" y="3154680"/>
            <a:ext cx="14822424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5" name="Connector 1234"/>
          <p:cNvCxnSpPr/>
          <p:nvPr/>
        </p:nvCxnSpPr>
        <p:spPr>
          <a:xfrm flipH="1">
            <a:off x="6848856" y="3154680"/>
            <a:ext cx="14017752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6" name="Connector 1235"/>
          <p:cNvCxnSpPr/>
          <p:nvPr/>
        </p:nvCxnSpPr>
        <p:spPr>
          <a:xfrm flipH="1">
            <a:off x="8001000" y="3154680"/>
            <a:ext cx="12865608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7" name="Connector 1236"/>
          <p:cNvCxnSpPr/>
          <p:nvPr/>
        </p:nvCxnSpPr>
        <p:spPr>
          <a:xfrm flipH="1">
            <a:off x="8805672" y="3154680"/>
            <a:ext cx="12060936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8" name="Connector 1237"/>
          <p:cNvCxnSpPr/>
          <p:nvPr/>
        </p:nvCxnSpPr>
        <p:spPr>
          <a:xfrm flipH="1">
            <a:off x="9610344" y="3154680"/>
            <a:ext cx="11256264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9" name="Connector 1238"/>
          <p:cNvCxnSpPr/>
          <p:nvPr/>
        </p:nvCxnSpPr>
        <p:spPr>
          <a:xfrm flipH="1">
            <a:off x="10415016" y="3154680"/>
            <a:ext cx="10451592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0" name="Connector 1239"/>
          <p:cNvCxnSpPr/>
          <p:nvPr/>
        </p:nvCxnSpPr>
        <p:spPr>
          <a:xfrm flipH="1">
            <a:off x="11567160" y="3154680"/>
            <a:ext cx="9299448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1" name="Connector 1240"/>
          <p:cNvCxnSpPr/>
          <p:nvPr/>
        </p:nvCxnSpPr>
        <p:spPr>
          <a:xfrm flipH="1">
            <a:off x="12371832" y="3154680"/>
            <a:ext cx="8494776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2" name="Connector 1241"/>
          <p:cNvCxnSpPr/>
          <p:nvPr/>
        </p:nvCxnSpPr>
        <p:spPr>
          <a:xfrm flipH="1">
            <a:off x="13176504" y="3154680"/>
            <a:ext cx="7690104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3" name="Connector 1242"/>
          <p:cNvCxnSpPr/>
          <p:nvPr/>
        </p:nvCxnSpPr>
        <p:spPr>
          <a:xfrm flipH="1">
            <a:off x="13981176" y="3154680"/>
            <a:ext cx="6885432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4" name="Connector 1243"/>
          <p:cNvCxnSpPr/>
          <p:nvPr/>
        </p:nvCxnSpPr>
        <p:spPr>
          <a:xfrm flipH="1">
            <a:off x="15133320" y="3154680"/>
            <a:ext cx="5733288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5" name="Connector 1244"/>
          <p:cNvCxnSpPr/>
          <p:nvPr/>
        </p:nvCxnSpPr>
        <p:spPr>
          <a:xfrm flipH="1">
            <a:off x="15937992" y="3154680"/>
            <a:ext cx="4928616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6" name="Connector 1245"/>
          <p:cNvCxnSpPr/>
          <p:nvPr/>
        </p:nvCxnSpPr>
        <p:spPr>
          <a:xfrm flipH="1">
            <a:off x="16742663" y="3154680"/>
            <a:ext cx="4123945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7" name="Connector 1246"/>
          <p:cNvCxnSpPr/>
          <p:nvPr/>
        </p:nvCxnSpPr>
        <p:spPr>
          <a:xfrm flipH="1">
            <a:off x="17547336" y="3154680"/>
            <a:ext cx="3319272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8" name="Connector 1247"/>
          <p:cNvCxnSpPr/>
          <p:nvPr/>
        </p:nvCxnSpPr>
        <p:spPr>
          <a:xfrm flipH="1">
            <a:off x="18699480" y="3154680"/>
            <a:ext cx="2167128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9" name="Connector 1248"/>
          <p:cNvCxnSpPr/>
          <p:nvPr/>
        </p:nvCxnSpPr>
        <p:spPr>
          <a:xfrm flipH="1">
            <a:off x="19504152" y="3154680"/>
            <a:ext cx="1362456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0" name="Connector 1249"/>
          <p:cNvCxnSpPr/>
          <p:nvPr/>
        </p:nvCxnSpPr>
        <p:spPr>
          <a:xfrm flipH="1">
            <a:off x="20308824" y="3154680"/>
            <a:ext cx="557784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1" name="Connector 1250"/>
          <p:cNvCxnSpPr/>
          <p:nvPr/>
        </p:nvCxnSpPr>
        <p:spPr>
          <a:xfrm>
            <a:off x="20866608" y="3154680"/>
            <a:ext cx="246888" cy="44805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2" name="Connector 1251"/>
          <p:cNvCxnSpPr/>
          <p:nvPr/>
        </p:nvCxnSpPr>
        <p:spPr>
          <a:xfrm flipH="1">
            <a:off x="868680" y="3154680"/>
            <a:ext cx="19997928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3" name="Connector 1252"/>
          <p:cNvCxnSpPr/>
          <p:nvPr/>
        </p:nvCxnSpPr>
        <p:spPr>
          <a:xfrm flipH="1">
            <a:off x="1673352" y="3154680"/>
            <a:ext cx="19193256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4" name="Connector 1253"/>
          <p:cNvCxnSpPr/>
          <p:nvPr/>
        </p:nvCxnSpPr>
        <p:spPr>
          <a:xfrm flipH="1">
            <a:off x="2478024" y="3154680"/>
            <a:ext cx="18388584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5" name="Connector 1254"/>
          <p:cNvCxnSpPr/>
          <p:nvPr/>
        </p:nvCxnSpPr>
        <p:spPr>
          <a:xfrm flipH="1">
            <a:off x="3282696" y="3154680"/>
            <a:ext cx="17583912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6" name="Connector 1255"/>
          <p:cNvCxnSpPr/>
          <p:nvPr/>
        </p:nvCxnSpPr>
        <p:spPr>
          <a:xfrm flipH="1">
            <a:off x="4434840" y="3154680"/>
            <a:ext cx="16431768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7" name="Connector 1256"/>
          <p:cNvCxnSpPr/>
          <p:nvPr/>
        </p:nvCxnSpPr>
        <p:spPr>
          <a:xfrm flipH="1">
            <a:off x="5239512" y="3154680"/>
            <a:ext cx="15627096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8" name="Connector 1257"/>
          <p:cNvCxnSpPr/>
          <p:nvPr/>
        </p:nvCxnSpPr>
        <p:spPr>
          <a:xfrm flipH="1">
            <a:off x="6044184" y="3154680"/>
            <a:ext cx="14822424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9" name="Connector 1258"/>
          <p:cNvCxnSpPr/>
          <p:nvPr/>
        </p:nvCxnSpPr>
        <p:spPr>
          <a:xfrm flipH="1">
            <a:off x="6848856" y="3154680"/>
            <a:ext cx="14017752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0" name="Connector 1259"/>
          <p:cNvCxnSpPr/>
          <p:nvPr/>
        </p:nvCxnSpPr>
        <p:spPr>
          <a:xfrm flipH="1">
            <a:off x="8001000" y="3154680"/>
            <a:ext cx="12865608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1" name="Connector 1260"/>
          <p:cNvCxnSpPr/>
          <p:nvPr/>
        </p:nvCxnSpPr>
        <p:spPr>
          <a:xfrm flipH="1">
            <a:off x="8805672" y="3154680"/>
            <a:ext cx="12060936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2" name="Connector 1261"/>
          <p:cNvCxnSpPr/>
          <p:nvPr/>
        </p:nvCxnSpPr>
        <p:spPr>
          <a:xfrm flipH="1">
            <a:off x="9610344" y="3154680"/>
            <a:ext cx="11256264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3" name="Connector 1262"/>
          <p:cNvCxnSpPr/>
          <p:nvPr/>
        </p:nvCxnSpPr>
        <p:spPr>
          <a:xfrm flipH="1">
            <a:off x="10415016" y="3154680"/>
            <a:ext cx="10451592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4" name="Connector 1263"/>
          <p:cNvCxnSpPr/>
          <p:nvPr/>
        </p:nvCxnSpPr>
        <p:spPr>
          <a:xfrm flipH="1">
            <a:off x="11567160" y="3154680"/>
            <a:ext cx="9299448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5" name="Connector 1264"/>
          <p:cNvCxnSpPr/>
          <p:nvPr/>
        </p:nvCxnSpPr>
        <p:spPr>
          <a:xfrm flipH="1">
            <a:off x="12371832" y="3154680"/>
            <a:ext cx="8494776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6" name="Connector 1265"/>
          <p:cNvCxnSpPr/>
          <p:nvPr/>
        </p:nvCxnSpPr>
        <p:spPr>
          <a:xfrm flipH="1">
            <a:off x="13176504" y="3154680"/>
            <a:ext cx="7690104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7" name="Connector 1266"/>
          <p:cNvCxnSpPr/>
          <p:nvPr/>
        </p:nvCxnSpPr>
        <p:spPr>
          <a:xfrm flipH="1">
            <a:off x="13981176" y="3154680"/>
            <a:ext cx="6885432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8" name="Connector 1267"/>
          <p:cNvCxnSpPr/>
          <p:nvPr/>
        </p:nvCxnSpPr>
        <p:spPr>
          <a:xfrm flipH="1">
            <a:off x="15133320" y="3154680"/>
            <a:ext cx="5733288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9" name="Connector 1268"/>
          <p:cNvCxnSpPr/>
          <p:nvPr/>
        </p:nvCxnSpPr>
        <p:spPr>
          <a:xfrm flipH="1">
            <a:off x="15937992" y="3154680"/>
            <a:ext cx="4928616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0" name="Connector 1269"/>
          <p:cNvCxnSpPr/>
          <p:nvPr/>
        </p:nvCxnSpPr>
        <p:spPr>
          <a:xfrm flipH="1">
            <a:off x="16742663" y="3154680"/>
            <a:ext cx="4123945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1" name="Connector 1270"/>
          <p:cNvCxnSpPr/>
          <p:nvPr/>
        </p:nvCxnSpPr>
        <p:spPr>
          <a:xfrm flipH="1">
            <a:off x="17547336" y="3154680"/>
            <a:ext cx="3319272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2" name="Connector 1271"/>
          <p:cNvCxnSpPr/>
          <p:nvPr/>
        </p:nvCxnSpPr>
        <p:spPr>
          <a:xfrm flipH="1">
            <a:off x="18699480" y="3154680"/>
            <a:ext cx="2167128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3" name="Connector 1272"/>
          <p:cNvCxnSpPr/>
          <p:nvPr/>
        </p:nvCxnSpPr>
        <p:spPr>
          <a:xfrm flipH="1">
            <a:off x="19504152" y="3154680"/>
            <a:ext cx="1362456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4" name="Connector 1273"/>
          <p:cNvCxnSpPr/>
          <p:nvPr/>
        </p:nvCxnSpPr>
        <p:spPr>
          <a:xfrm flipH="1">
            <a:off x="20308824" y="3154680"/>
            <a:ext cx="557784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5" name="Connector 1274"/>
          <p:cNvCxnSpPr/>
          <p:nvPr/>
        </p:nvCxnSpPr>
        <p:spPr>
          <a:xfrm>
            <a:off x="20866608" y="3154680"/>
            <a:ext cx="246888" cy="60807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6" name="Connector 1275"/>
          <p:cNvCxnSpPr/>
          <p:nvPr/>
        </p:nvCxnSpPr>
        <p:spPr>
          <a:xfrm flipH="1">
            <a:off x="868680" y="3154680"/>
            <a:ext cx="19997928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7" name="Connector 1276"/>
          <p:cNvCxnSpPr/>
          <p:nvPr/>
        </p:nvCxnSpPr>
        <p:spPr>
          <a:xfrm flipH="1">
            <a:off x="1673352" y="3154680"/>
            <a:ext cx="19193256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8" name="Connector 1277"/>
          <p:cNvCxnSpPr/>
          <p:nvPr/>
        </p:nvCxnSpPr>
        <p:spPr>
          <a:xfrm flipH="1">
            <a:off x="2478024" y="3154680"/>
            <a:ext cx="18388584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9" name="Connector 1278"/>
          <p:cNvCxnSpPr/>
          <p:nvPr/>
        </p:nvCxnSpPr>
        <p:spPr>
          <a:xfrm flipH="1">
            <a:off x="3282696" y="3154680"/>
            <a:ext cx="17583912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0" name="Connector 1279"/>
          <p:cNvCxnSpPr/>
          <p:nvPr/>
        </p:nvCxnSpPr>
        <p:spPr>
          <a:xfrm flipH="1">
            <a:off x="4434840" y="3154680"/>
            <a:ext cx="16431768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1" name="Connector 1280"/>
          <p:cNvCxnSpPr/>
          <p:nvPr/>
        </p:nvCxnSpPr>
        <p:spPr>
          <a:xfrm flipH="1">
            <a:off x="5239512" y="3154680"/>
            <a:ext cx="15627096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2" name="Connector 1281"/>
          <p:cNvCxnSpPr/>
          <p:nvPr/>
        </p:nvCxnSpPr>
        <p:spPr>
          <a:xfrm flipH="1">
            <a:off x="6044184" y="3154680"/>
            <a:ext cx="14822424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3" name="Connector 1282"/>
          <p:cNvCxnSpPr/>
          <p:nvPr/>
        </p:nvCxnSpPr>
        <p:spPr>
          <a:xfrm flipH="1">
            <a:off x="6848856" y="3154680"/>
            <a:ext cx="14017752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4" name="Connector 1283"/>
          <p:cNvCxnSpPr/>
          <p:nvPr/>
        </p:nvCxnSpPr>
        <p:spPr>
          <a:xfrm flipH="1">
            <a:off x="8001000" y="3154680"/>
            <a:ext cx="12865608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5" name="Connector 1284"/>
          <p:cNvCxnSpPr/>
          <p:nvPr/>
        </p:nvCxnSpPr>
        <p:spPr>
          <a:xfrm flipH="1">
            <a:off x="8805672" y="3154680"/>
            <a:ext cx="12060936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6" name="Connector 1285"/>
          <p:cNvCxnSpPr/>
          <p:nvPr/>
        </p:nvCxnSpPr>
        <p:spPr>
          <a:xfrm flipH="1">
            <a:off x="9610344" y="3154680"/>
            <a:ext cx="11256264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7" name="Connector 1286"/>
          <p:cNvCxnSpPr/>
          <p:nvPr/>
        </p:nvCxnSpPr>
        <p:spPr>
          <a:xfrm flipH="1">
            <a:off x="10415016" y="3154680"/>
            <a:ext cx="10451592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8" name="Connector 1287"/>
          <p:cNvCxnSpPr/>
          <p:nvPr/>
        </p:nvCxnSpPr>
        <p:spPr>
          <a:xfrm flipH="1">
            <a:off x="11567160" y="3154680"/>
            <a:ext cx="9299448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9" name="Connector 1288"/>
          <p:cNvCxnSpPr/>
          <p:nvPr/>
        </p:nvCxnSpPr>
        <p:spPr>
          <a:xfrm flipH="1">
            <a:off x="12371832" y="3154680"/>
            <a:ext cx="8494776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0" name="Connector 1289"/>
          <p:cNvCxnSpPr/>
          <p:nvPr/>
        </p:nvCxnSpPr>
        <p:spPr>
          <a:xfrm flipH="1">
            <a:off x="13176504" y="3154680"/>
            <a:ext cx="7690104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1" name="Connector 1290"/>
          <p:cNvCxnSpPr/>
          <p:nvPr/>
        </p:nvCxnSpPr>
        <p:spPr>
          <a:xfrm flipH="1">
            <a:off x="13981176" y="3154680"/>
            <a:ext cx="6885432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2" name="Connector 1291"/>
          <p:cNvCxnSpPr/>
          <p:nvPr/>
        </p:nvCxnSpPr>
        <p:spPr>
          <a:xfrm flipH="1">
            <a:off x="15133320" y="3154680"/>
            <a:ext cx="5733288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3" name="Connector 1292"/>
          <p:cNvCxnSpPr/>
          <p:nvPr/>
        </p:nvCxnSpPr>
        <p:spPr>
          <a:xfrm flipH="1">
            <a:off x="15937992" y="3154680"/>
            <a:ext cx="4928616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4" name="Connector 1293"/>
          <p:cNvCxnSpPr/>
          <p:nvPr/>
        </p:nvCxnSpPr>
        <p:spPr>
          <a:xfrm flipH="1">
            <a:off x="16742663" y="3154680"/>
            <a:ext cx="4123945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5" name="Connector 1294"/>
          <p:cNvCxnSpPr/>
          <p:nvPr/>
        </p:nvCxnSpPr>
        <p:spPr>
          <a:xfrm flipH="1">
            <a:off x="17547336" y="3154680"/>
            <a:ext cx="3319272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6" name="Connector 1295"/>
          <p:cNvCxnSpPr/>
          <p:nvPr/>
        </p:nvCxnSpPr>
        <p:spPr>
          <a:xfrm flipH="1">
            <a:off x="18699480" y="3154680"/>
            <a:ext cx="2167128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7" name="Connector 1296"/>
          <p:cNvCxnSpPr/>
          <p:nvPr/>
        </p:nvCxnSpPr>
        <p:spPr>
          <a:xfrm flipH="1">
            <a:off x="19504152" y="3154680"/>
            <a:ext cx="1362456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8" name="Connector 1297"/>
          <p:cNvCxnSpPr/>
          <p:nvPr/>
        </p:nvCxnSpPr>
        <p:spPr>
          <a:xfrm flipH="1">
            <a:off x="20308824" y="3154680"/>
            <a:ext cx="557784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9" name="Connector 1298"/>
          <p:cNvCxnSpPr/>
          <p:nvPr/>
        </p:nvCxnSpPr>
        <p:spPr>
          <a:xfrm>
            <a:off x="20866608" y="3154680"/>
            <a:ext cx="246888" cy="7680960"/>
          </a:xfrm>
          <a:prstGeom prst="line">
            <a:avLst/>
          </a:prstGeom>
          <a:ln w="4572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0" name="Rectangle 1299"/>
          <p:cNvSpPr/>
          <p:nvPr/>
        </p:nvSpPr>
        <p:spPr>
          <a:xfrm>
            <a:off x="502920" y="2468880"/>
            <a:ext cx="1033271" cy="685800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1" name="TextBox 1300"/>
          <p:cNvSpPr txBox="1"/>
          <p:nvPr/>
        </p:nvSpPr>
        <p:spPr>
          <a:xfrm>
            <a:off x="-9038844" y="254203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NVSwitch</a:t>
            </a:r>
          </a:p>
        </p:txBody>
      </p:sp>
      <p:sp>
        <p:nvSpPr>
          <p:cNvPr id="1302" name="TextBox 1301"/>
          <p:cNvSpPr txBox="1"/>
          <p:nvPr/>
        </p:nvSpPr>
        <p:spPr>
          <a:xfrm>
            <a:off x="-9038844" y="272491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NV-C0-S0</a:t>
            </a:r>
          </a:p>
        </p:txBody>
      </p:sp>
      <p:sp>
        <p:nvSpPr>
          <p:cNvPr id="1303" name="Rectangle 1302"/>
          <p:cNvSpPr/>
          <p:nvPr/>
        </p:nvSpPr>
        <p:spPr>
          <a:xfrm>
            <a:off x="1673352" y="2468880"/>
            <a:ext cx="1033271" cy="685800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4" name="TextBox 1303"/>
          <p:cNvSpPr txBox="1"/>
          <p:nvPr/>
        </p:nvSpPr>
        <p:spPr>
          <a:xfrm>
            <a:off x="-7868412" y="254203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NVSwitch</a:t>
            </a:r>
          </a:p>
        </p:txBody>
      </p:sp>
      <p:sp>
        <p:nvSpPr>
          <p:cNvPr id="1305" name="TextBox 1304"/>
          <p:cNvSpPr txBox="1"/>
          <p:nvPr/>
        </p:nvSpPr>
        <p:spPr>
          <a:xfrm>
            <a:off x="-7868412" y="272491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NV-C0-S1</a:t>
            </a:r>
          </a:p>
        </p:txBody>
      </p:sp>
      <p:sp>
        <p:nvSpPr>
          <p:cNvPr id="1306" name="Rectangle 1305"/>
          <p:cNvSpPr/>
          <p:nvPr/>
        </p:nvSpPr>
        <p:spPr>
          <a:xfrm>
            <a:off x="2843784" y="2468880"/>
            <a:ext cx="1033271" cy="685800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7" name="TextBox 1306"/>
          <p:cNvSpPr txBox="1"/>
          <p:nvPr/>
        </p:nvSpPr>
        <p:spPr>
          <a:xfrm>
            <a:off x="-6697980" y="254203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NVSwitch</a:t>
            </a:r>
          </a:p>
        </p:txBody>
      </p:sp>
      <p:sp>
        <p:nvSpPr>
          <p:cNvPr id="1308" name="TextBox 1307"/>
          <p:cNvSpPr txBox="1"/>
          <p:nvPr/>
        </p:nvSpPr>
        <p:spPr>
          <a:xfrm>
            <a:off x="-6697980" y="272491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NV-C0-S2</a:t>
            </a:r>
          </a:p>
        </p:txBody>
      </p:sp>
      <p:sp>
        <p:nvSpPr>
          <p:cNvPr id="1309" name="Rectangle 1308"/>
          <p:cNvSpPr/>
          <p:nvPr/>
        </p:nvSpPr>
        <p:spPr>
          <a:xfrm>
            <a:off x="4014215" y="2468880"/>
            <a:ext cx="1033271" cy="685800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0" name="TextBox 1309"/>
          <p:cNvSpPr txBox="1"/>
          <p:nvPr/>
        </p:nvSpPr>
        <p:spPr>
          <a:xfrm>
            <a:off x="-5527548" y="254203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NVSwitch</a:t>
            </a:r>
          </a:p>
        </p:txBody>
      </p:sp>
      <p:sp>
        <p:nvSpPr>
          <p:cNvPr id="1311" name="TextBox 1310"/>
          <p:cNvSpPr txBox="1"/>
          <p:nvPr/>
        </p:nvSpPr>
        <p:spPr>
          <a:xfrm>
            <a:off x="-5527548" y="272491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NV-C0-S3</a:t>
            </a:r>
          </a:p>
        </p:txBody>
      </p:sp>
      <p:sp>
        <p:nvSpPr>
          <p:cNvPr id="1312" name="Rectangle 1311"/>
          <p:cNvSpPr/>
          <p:nvPr/>
        </p:nvSpPr>
        <p:spPr>
          <a:xfrm>
            <a:off x="5184648" y="2468880"/>
            <a:ext cx="1033271" cy="685800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3" name="TextBox 1312"/>
          <p:cNvSpPr txBox="1"/>
          <p:nvPr/>
        </p:nvSpPr>
        <p:spPr>
          <a:xfrm>
            <a:off x="-4357116" y="254203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NVSwitch</a:t>
            </a:r>
          </a:p>
        </p:txBody>
      </p:sp>
      <p:sp>
        <p:nvSpPr>
          <p:cNvPr id="1314" name="TextBox 1313"/>
          <p:cNvSpPr txBox="1"/>
          <p:nvPr/>
        </p:nvSpPr>
        <p:spPr>
          <a:xfrm>
            <a:off x="-4357116" y="272491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NV-C0-S4</a:t>
            </a:r>
          </a:p>
        </p:txBody>
      </p:sp>
      <p:sp>
        <p:nvSpPr>
          <p:cNvPr id="1315" name="Rectangle 1314"/>
          <p:cNvSpPr/>
          <p:nvPr/>
        </p:nvSpPr>
        <p:spPr>
          <a:xfrm>
            <a:off x="6355080" y="2468880"/>
            <a:ext cx="1033271" cy="685800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6" name="TextBox 1315"/>
          <p:cNvSpPr txBox="1"/>
          <p:nvPr/>
        </p:nvSpPr>
        <p:spPr>
          <a:xfrm>
            <a:off x="-3186684" y="254203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NVSwitch</a:t>
            </a:r>
          </a:p>
        </p:txBody>
      </p:sp>
      <p:sp>
        <p:nvSpPr>
          <p:cNvPr id="1317" name="TextBox 1316"/>
          <p:cNvSpPr txBox="1"/>
          <p:nvPr/>
        </p:nvSpPr>
        <p:spPr>
          <a:xfrm>
            <a:off x="-3186684" y="272491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NV-C0-S5</a:t>
            </a:r>
          </a:p>
        </p:txBody>
      </p:sp>
      <p:sp>
        <p:nvSpPr>
          <p:cNvPr id="1318" name="Rectangle 1317"/>
          <p:cNvSpPr/>
          <p:nvPr/>
        </p:nvSpPr>
        <p:spPr>
          <a:xfrm>
            <a:off x="7525512" y="2468880"/>
            <a:ext cx="1033271" cy="685800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9" name="TextBox 1318"/>
          <p:cNvSpPr txBox="1"/>
          <p:nvPr/>
        </p:nvSpPr>
        <p:spPr>
          <a:xfrm>
            <a:off x="-2016252" y="254203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NVSwitch</a:t>
            </a:r>
          </a:p>
        </p:txBody>
      </p:sp>
      <p:sp>
        <p:nvSpPr>
          <p:cNvPr id="1320" name="TextBox 1319"/>
          <p:cNvSpPr txBox="1"/>
          <p:nvPr/>
        </p:nvSpPr>
        <p:spPr>
          <a:xfrm>
            <a:off x="-2016252" y="272491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NV-C0-S6</a:t>
            </a:r>
          </a:p>
        </p:txBody>
      </p:sp>
      <p:sp>
        <p:nvSpPr>
          <p:cNvPr id="1321" name="Rectangle 1320"/>
          <p:cNvSpPr/>
          <p:nvPr/>
        </p:nvSpPr>
        <p:spPr>
          <a:xfrm>
            <a:off x="8695944" y="2468880"/>
            <a:ext cx="1033271" cy="685800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2" name="TextBox 1321"/>
          <p:cNvSpPr txBox="1"/>
          <p:nvPr/>
        </p:nvSpPr>
        <p:spPr>
          <a:xfrm>
            <a:off x="-845820" y="254203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NVSwitch</a:t>
            </a:r>
          </a:p>
        </p:txBody>
      </p:sp>
      <p:sp>
        <p:nvSpPr>
          <p:cNvPr id="1323" name="TextBox 1322"/>
          <p:cNvSpPr txBox="1"/>
          <p:nvPr/>
        </p:nvSpPr>
        <p:spPr>
          <a:xfrm>
            <a:off x="-845820" y="272491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NV-C0-S7</a:t>
            </a:r>
          </a:p>
        </p:txBody>
      </p:sp>
      <p:sp>
        <p:nvSpPr>
          <p:cNvPr id="1324" name="Rectangle 1323"/>
          <p:cNvSpPr/>
          <p:nvPr/>
        </p:nvSpPr>
        <p:spPr>
          <a:xfrm>
            <a:off x="9866376" y="2468880"/>
            <a:ext cx="1033271" cy="685800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5" name="TextBox 1324"/>
          <p:cNvSpPr txBox="1"/>
          <p:nvPr/>
        </p:nvSpPr>
        <p:spPr>
          <a:xfrm>
            <a:off x="324612" y="254203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NVSwitch</a:t>
            </a:r>
          </a:p>
        </p:txBody>
      </p:sp>
      <p:sp>
        <p:nvSpPr>
          <p:cNvPr id="1326" name="TextBox 1325"/>
          <p:cNvSpPr txBox="1"/>
          <p:nvPr/>
        </p:nvSpPr>
        <p:spPr>
          <a:xfrm>
            <a:off x="324612" y="272491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NV-C0-S8</a:t>
            </a:r>
          </a:p>
        </p:txBody>
      </p:sp>
      <p:sp>
        <p:nvSpPr>
          <p:cNvPr id="1327" name="Rectangle 1326"/>
          <p:cNvSpPr/>
          <p:nvPr/>
        </p:nvSpPr>
        <p:spPr>
          <a:xfrm>
            <a:off x="11036808" y="2468880"/>
            <a:ext cx="1033271" cy="685800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8" name="TextBox 1327"/>
          <p:cNvSpPr txBox="1"/>
          <p:nvPr/>
        </p:nvSpPr>
        <p:spPr>
          <a:xfrm>
            <a:off x="1495044" y="254203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NVSwitch</a:t>
            </a:r>
          </a:p>
        </p:txBody>
      </p:sp>
      <p:sp>
        <p:nvSpPr>
          <p:cNvPr id="1329" name="TextBox 1328"/>
          <p:cNvSpPr txBox="1"/>
          <p:nvPr/>
        </p:nvSpPr>
        <p:spPr>
          <a:xfrm>
            <a:off x="1495044" y="272491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NV-C0-S9</a:t>
            </a:r>
          </a:p>
        </p:txBody>
      </p:sp>
      <p:sp>
        <p:nvSpPr>
          <p:cNvPr id="1330" name="Rectangle 1329"/>
          <p:cNvSpPr/>
          <p:nvPr/>
        </p:nvSpPr>
        <p:spPr>
          <a:xfrm>
            <a:off x="12207240" y="2468880"/>
            <a:ext cx="1033271" cy="685800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1" name="TextBox 1330"/>
          <p:cNvSpPr txBox="1"/>
          <p:nvPr/>
        </p:nvSpPr>
        <p:spPr>
          <a:xfrm>
            <a:off x="2665476" y="254203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NVSwitch</a:t>
            </a:r>
          </a:p>
        </p:txBody>
      </p:sp>
      <p:sp>
        <p:nvSpPr>
          <p:cNvPr id="1332" name="TextBox 1331"/>
          <p:cNvSpPr txBox="1"/>
          <p:nvPr/>
        </p:nvSpPr>
        <p:spPr>
          <a:xfrm>
            <a:off x="2665476" y="272491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NV-C0-S10</a:t>
            </a:r>
          </a:p>
        </p:txBody>
      </p:sp>
      <p:sp>
        <p:nvSpPr>
          <p:cNvPr id="1333" name="Rectangle 1332"/>
          <p:cNvSpPr/>
          <p:nvPr/>
        </p:nvSpPr>
        <p:spPr>
          <a:xfrm>
            <a:off x="13377672" y="2468880"/>
            <a:ext cx="1033271" cy="685800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4" name="TextBox 1333"/>
          <p:cNvSpPr txBox="1"/>
          <p:nvPr/>
        </p:nvSpPr>
        <p:spPr>
          <a:xfrm>
            <a:off x="3835908" y="254203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NVSwitch</a:t>
            </a:r>
          </a:p>
        </p:txBody>
      </p:sp>
      <p:sp>
        <p:nvSpPr>
          <p:cNvPr id="1335" name="TextBox 1334"/>
          <p:cNvSpPr txBox="1"/>
          <p:nvPr/>
        </p:nvSpPr>
        <p:spPr>
          <a:xfrm>
            <a:off x="3835908" y="272491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NV-C0-S11</a:t>
            </a:r>
          </a:p>
        </p:txBody>
      </p:sp>
      <p:sp>
        <p:nvSpPr>
          <p:cNvPr id="1336" name="Rectangle 1335"/>
          <p:cNvSpPr/>
          <p:nvPr/>
        </p:nvSpPr>
        <p:spPr>
          <a:xfrm>
            <a:off x="14548104" y="2468880"/>
            <a:ext cx="1033271" cy="685800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7" name="TextBox 1336"/>
          <p:cNvSpPr txBox="1"/>
          <p:nvPr/>
        </p:nvSpPr>
        <p:spPr>
          <a:xfrm>
            <a:off x="5006340" y="254203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NVSwitch</a:t>
            </a:r>
          </a:p>
        </p:txBody>
      </p:sp>
      <p:sp>
        <p:nvSpPr>
          <p:cNvPr id="1338" name="TextBox 1337"/>
          <p:cNvSpPr txBox="1"/>
          <p:nvPr/>
        </p:nvSpPr>
        <p:spPr>
          <a:xfrm>
            <a:off x="5006340" y="272491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NV-C0-S12</a:t>
            </a:r>
          </a:p>
        </p:txBody>
      </p:sp>
      <p:sp>
        <p:nvSpPr>
          <p:cNvPr id="1339" name="Rectangle 1338"/>
          <p:cNvSpPr/>
          <p:nvPr/>
        </p:nvSpPr>
        <p:spPr>
          <a:xfrm>
            <a:off x="15718536" y="2468880"/>
            <a:ext cx="1033271" cy="685800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0" name="TextBox 1339"/>
          <p:cNvSpPr txBox="1"/>
          <p:nvPr/>
        </p:nvSpPr>
        <p:spPr>
          <a:xfrm>
            <a:off x="6176772" y="254203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NVSwitch</a:t>
            </a:r>
          </a:p>
        </p:txBody>
      </p:sp>
      <p:sp>
        <p:nvSpPr>
          <p:cNvPr id="1341" name="TextBox 1340"/>
          <p:cNvSpPr txBox="1"/>
          <p:nvPr/>
        </p:nvSpPr>
        <p:spPr>
          <a:xfrm>
            <a:off x="6176772" y="272491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NV-C0-S13</a:t>
            </a:r>
          </a:p>
        </p:txBody>
      </p:sp>
      <p:sp>
        <p:nvSpPr>
          <p:cNvPr id="1342" name="Rectangle 1341"/>
          <p:cNvSpPr/>
          <p:nvPr/>
        </p:nvSpPr>
        <p:spPr>
          <a:xfrm>
            <a:off x="16888968" y="2468880"/>
            <a:ext cx="1033271" cy="685800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3" name="TextBox 1342"/>
          <p:cNvSpPr txBox="1"/>
          <p:nvPr/>
        </p:nvSpPr>
        <p:spPr>
          <a:xfrm>
            <a:off x="7347204" y="254203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NVSwitch</a:t>
            </a:r>
          </a:p>
        </p:txBody>
      </p:sp>
      <p:sp>
        <p:nvSpPr>
          <p:cNvPr id="1344" name="TextBox 1343"/>
          <p:cNvSpPr txBox="1"/>
          <p:nvPr/>
        </p:nvSpPr>
        <p:spPr>
          <a:xfrm>
            <a:off x="7347204" y="272491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NV-C0-S14</a:t>
            </a:r>
          </a:p>
        </p:txBody>
      </p:sp>
      <p:sp>
        <p:nvSpPr>
          <p:cNvPr id="1345" name="Rectangle 1344"/>
          <p:cNvSpPr/>
          <p:nvPr/>
        </p:nvSpPr>
        <p:spPr>
          <a:xfrm>
            <a:off x="18059400" y="2468880"/>
            <a:ext cx="1033271" cy="685800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6" name="TextBox 1345"/>
          <p:cNvSpPr txBox="1"/>
          <p:nvPr/>
        </p:nvSpPr>
        <p:spPr>
          <a:xfrm>
            <a:off x="8517636" y="254203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NVSwitch</a:t>
            </a:r>
          </a:p>
        </p:txBody>
      </p:sp>
      <p:sp>
        <p:nvSpPr>
          <p:cNvPr id="1347" name="TextBox 1346"/>
          <p:cNvSpPr txBox="1"/>
          <p:nvPr/>
        </p:nvSpPr>
        <p:spPr>
          <a:xfrm>
            <a:off x="8517636" y="272491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NV-C0-S15</a:t>
            </a:r>
          </a:p>
        </p:txBody>
      </p:sp>
      <p:sp>
        <p:nvSpPr>
          <p:cNvPr id="1348" name="Rectangle 1347"/>
          <p:cNvSpPr/>
          <p:nvPr/>
        </p:nvSpPr>
        <p:spPr>
          <a:xfrm>
            <a:off x="19229832" y="2468880"/>
            <a:ext cx="1033271" cy="685800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9" name="TextBox 1348"/>
          <p:cNvSpPr txBox="1"/>
          <p:nvPr/>
        </p:nvSpPr>
        <p:spPr>
          <a:xfrm>
            <a:off x="9688068" y="254203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NVSwitch</a:t>
            </a:r>
          </a:p>
        </p:txBody>
      </p:sp>
      <p:sp>
        <p:nvSpPr>
          <p:cNvPr id="1350" name="TextBox 1349"/>
          <p:cNvSpPr txBox="1"/>
          <p:nvPr/>
        </p:nvSpPr>
        <p:spPr>
          <a:xfrm>
            <a:off x="9688068" y="272491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NV-C0-S16</a:t>
            </a:r>
          </a:p>
        </p:txBody>
      </p:sp>
      <p:sp>
        <p:nvSpPr>
          <p:cNvPr id="1351" name="Rectangle 1350"/>
          <p:cNvSpPr/>
          <p:nvPr/>
        </p:nvSpPr>
        <p:spPr>
          <a:xfrm>
            <a:off x="20400264" y="2468880"/>
            <a:ext cx="1033271" cy="685800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2" name="TextBox 1351"/>
          <p:cNvSpPr txBox="1"/>
          <p:nvPr/>
        </p:nvSpPr>
        <p:spPr>
          <a:xfrm>
            <a:off x="10858500" y="254203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NVSwitch</a:t>
            </a:r>
          </a:p>
        </p:txBody>
      </p:sp>
      <p:sp>
        <p:nvSpPr>
          <p:cNvPr id="1353" name="TextBox 1352"/>
          <p:cNvSpPr txBox="1"/>
          <p:nvPr/>
        </p:nvSpPr>
        <p:spPr>
          <a:xfrm>
            <a:off x="10858500" y="272491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NV-C0-S17</a:t>
            </a:r>
          </a:p>
        </p:txBody>
      </p:sp>
      <p:sp>
        <p:nvSpPr>
          <p:cNvPr id="1354" name="Rectangle 1353"/>
          <p:cNvSpPr/>
          <p:nvPr/>
        </p:nvSpPr>
        <p:spPr>
          <a:xfrm>
            <a:off x="3977639" y="4105656"/>
            <a:ext cx="13990320" cy="85039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5" name="TextBox 1354"/>
          <p:cNvSpPr txBox="1"/>
          <p:nvPr/>
        </p:nvSpPr>
        <p:spPr>
          <a:xfrm>
            <a:off x="914400" y="4178808"/>
            <a:ext cx="20116800" cy="3703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943">
                <a:solidFill>
                  <a:srgbClr val="202020"/>
                </a:solidFill>
                <a:latin typeface="DejaVu Sans"/>
              </a:rPr>
              <a:t>Complete bipartite connection: 72 GPUs x 18 NVSwitch ASICs = 1296 links</a:t>
            </a:r>
          </a:p>
        </p:txBody>
      </p:sp>
      <p:sp>
        <p:nvSpPr>
          <p:cNvPr id="1356" name="TextBox 1355"/>
          <p:cNvSpPr txBox="1"/>
          <p:nvPr/>
        </p:nvSpPr>
        <p:spPr>
          <a:xfrm>
            <a:off x="914400" y="4617720"/>
            <a:ext cx="20116800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655">
                <a:solidFill>
                  <a:srgbClr val="202020"/>
                </a:solidFill>
                <a:latin typeface="DejaVu Sans"/>
              </a:rPr>
              <a:t>Each link: 50 GB/s per direction. Rack 1 has the same connections for ranks r72-r143.</a:t>
            </a:r>
          </a:p>
        </p:txBody>
      </p:sp>
      <p:sp>
        <p:nvSpPr>
          <p:cNvPr id="1357" name="Rectangle 1356"/>
          <p:cNvSpPr/>
          <p:nvPr/>
        </p:nvSpPr>
        <p:spPr>
          <a:xfrm>
            <a:off x="457200" y="6949440"/>
            <a:ext cx="3319272" cy="1344168"/>
          </a:xfrm>
          <a:prstGeom prst="rect">
            <a:avLst/>
          </a:prstGeom>
          <a:solidFill>
            <a:srgbClr val="FFFFFF"/>
          </a:solidFill>
          <a:ln w="9144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8" name="TextBox 1357"/>
          <p:cNvSpPr txBox="1"/>
          <p:nvPr/>
        </p:nvSpPr>
        <p:spPr>
          <a:xfrm>
            <a:off x="-7955279" y="7022592"/>
            <a:ext cx="20116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39">
                <a:solidFill>
                  <a:srgbClr val="202020"/>
                </a:solidFill>
                <a:latin typeface="DejaVu Sans"/>
              </a:rPr>
              <a:t>Compute Tray 0</a:t>
            </a:r>
          </a:p>
        </p:txBody>
      </p:sp>
      <p:sp>
        <p:nvSpPr>
          <p:cNvPr id="1359" name="Rectangle 1358"/>
          <p:cNvSpPr/>
          <p:nvPr/>
        </p:nvSpPr>
        <p:spPr>
          <a:xfrm>
            <a:off x="521207" y="7429500"/>
            <a:ext cx="694944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0" name="TextBox 1359"/>
          <p:cNvSpPr txBox="1"/>
          <p:nvPr/>
        </p:nvSpPr>
        <p:spPr>
          <a:xfrm>
            <a:off x="-9189720" y="750265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1361" name="TextBox 1360"/>
          <p:cNvSpPr txBox="1"/>
          <p:nvPr/>
        </p:nvSpPr>
        <p:spPr>
          <a:xfrm>
            <a:off x="-9189720" y="7685531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r0</a:t>
            </a:r>
          </a:p>
        </p:txBody>
      </p:sp>
      <p:sp>
        <p:nvSpPr>
          <p:cNvPr id="1362" name="Rectangle 1361"/>
          <p:cNvSpPr/>
          <p:nvPr/>
        </p:nvSpPr>
        <p:spPr>
          <a:xfrm>
            <a:off x="1325880" y="7429500"/>
            <a:ext cx="694944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3" name="TextBox 1362"/>
          <p:cNvSpPr txBox="1"/>
          <p:nvPr/>
        </p:nvSpPr>
        <p:spPr>
          <a:xfrm>
            <a:off x="-8385048" y="750265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1364" name="TextBox 1363"/>
          <p:cNvSpPr txBox="1"/>
          <p:nvPr/>
        </p:nvSpPr>
        <p:spPr>
          <a:xfrm>
            <a:off x="-8385048" y="7685531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r1</a:t>
            </a:r>
          </a:p>
        </p:txBody>
      </p:sp>
      <p:sp>
        <p:nvSpPr>
          <p:cNvPr id="1365" name="Rectangle 1364"/>
          <p:cNvSpPr/>
          <p:nvPr/>
        </p:nvSpPr>
        <p:spPr>
          <a:xfrm>
            <a:off x="2130552" y="7429500"/>
            <a:ext cx="694944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6" name="TextBox 1365"/>
          <p:cNvSpPr txBox="1"/>
          <p:nvPr/>
        </p:nvSpPr>
        <p:spPr>
          <a:xfrm>
            <a:off x="-7580375" y="750265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1367" name="TextBox 1366"/>
          <p:cNvSpPr txBox="1"/>
          <p:nvPr/>
        </p:nvSpPr>
        <p:spPr>
          <a:xfrm>
            <a:off x="-7580375" y="7685531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r2</a:t>
            </a:r>
          </a:p>
        </p:txBody>
      </p:sp>
      <p:sp>
        <p:nvSpPr>
          <p:cNvPr id="1368" name="Rectangle 1367"/>
          <p:cNvSpPr/>
          <p:nvPr/>
        </p:nvSpPr>
        <p:spPr>
          <a:xfrm>
            <a:off x="2935224" y="7429500"/>
            <a:ext cx="694944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9" name="TextBox 1368"/>
          <p:cNvSpPr txBox="1"/>
          <p:nvPr/>
        </p:nvSpPr>
        <p:spPr>
          <a:xfrm>
            <a:off x="-6775704" y="750265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1370" name="TextBox 1369"/>
          <p:cNvSpPr txBox="1"/>
          <p:nvPr/>
        </p:nvSpPr>
        <p:spPr>
          <a:xfrm>
            <a:off x="-6775704" y="7685531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r3</a:t>
            </a:r>
          </a:p>
        </p:txBody>
      </p:sp>
      <p:sp>
        <p:nvSpPr>
          <p:cNvPr id="1371" name="Rectangle 1370"/>
          <p:cNvSpPr/>
          <p:nvPr/>
        </p:nvSpPr>
        <p:spPr>
          <a:xfrm>
            <a:off x="4023360" y="6949440"/>
            <a:ext cx="3319272" cy="1344168"/>
          </a:xfrm>
          <a:prstGeom prst="rect">
            <a:avLst/>
          </a:prstGeom>
          <a:solidFill>
            <a:srgbClr val="FFFFFF"/>
          </a:solidFill>
          <a:ln w="9144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2" name="TextBox 1371"/>
          <p:cNvSpPr txBox="1"/>
          <p:nvPr/>
        </p:nvSpPr>
        <p:spPr>
          <a:xfrm>
            <a:off x="-4389120" y="7022592"/>
            <a:ext cx="20116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39">
                <a:solidFill>
                  <a:srgbClr val="202020"/>
                </a:solidFill>
                <a:latin typeface="DejaVu Sans"/>
              </a:rPr>
              <a:t>Compute Tray 1</a:t>
            </a:r>
          </a:p>
        </p:txBody>
      </p:sp>
      <p:sp>
        <p:nvSpPr>
          <p:cNvPr id="1373" name="Rectangle 1372"/>
          <p:cNvSpPr/>
          <p:nvPr/>
        </p:nvSpPr>
        <p:spPr>
          <a:xfrm>
            <a:off x="4087368" y="7429500"/>
            <a:ext cx="694944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4" name="TextBox 1373"/>
          <p:cNvSpPr txBox="1"/>
          <p:nvPr/>
        </p:nvSpPr>
        <p:spPr>
          <a:xfrm>
            <a:off x="-5623560" y="750265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1375" name="TextBox 1374"/>
          <p:cNvSpPr txBox="1"/>
          <p:nvPr/>
        </p:nvSpPr>
        <p:spPr>
          <a:xfrm>
            <a:off x="-5623560" y="7685531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r4</a:t>
            </a:r>
          </a:p>
        </p:txBody>
      </p:sp>
      <p:sp>
        <p:nvSpPr>
          <p:cNvPr id="1376" name="Rectangle 1375"/>
          <p:cNvSpPr/>
          <p:nvPr/>
        </p:nvSpPr>
        <p:spPr>
          <a:xfrm>
            <a:off x="4892040" y="7429500"/>
            <a:ext cx="694944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7" name="TextBox 1376"/>
          <p:cNvSpPr txBox="1"/>
          <p:nvPr/>
        </p:nvSpPr>
        <p:spPr>
          <a:xfrm>
            <a:off x="-4818888" y="750265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1378" name="TextBox 1377"/>
          <p:cNvSpPr txBox="1"/>
          <p:nvPr/>
        </p:nvSpPr>
        <p:spPr>
          <a:xfrm>
            <a:off x="-4818888" y="7685531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r5</a:t>
            </a:r>
          </a:p>
        </p:txBody>
      </p:sp>
      <p:sp>
        <p:nvSpPr>
          <p:cNvPr id="1379" name="Rectangle 1378"/>
          <p:cNvSpPr/>
          <p:nvPr/>
        </p:nvSpPr>
        <p:spPr>
          <a:xfrm>
            <a:off x="5696712" y="7429500"/>
            <a:ext cx="694944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0" name="TextBox 1379"/>
          <p:cNvSpPr txBox="1"/>
          <p:nvPr/>
        </p:nvSpPr>
        <p:spPr>
          <a:xfrm>
            <a:off x="-4014215" y="750265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1381" name="TextBox 1380"/>
          <p:cNvSpPr txBox="1"/>
          <p:nvPr/>
        </p:nvSpPr>
        <p:spPr>
          <a:xfrm>
            <a:off x="-4014215" y="7685531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r6</a:t>
            </a:r>
          </a:p>
        </p:txBody>
      </p:sp>
      <p:sp>
        <p:nvSpPr>
          <p:cNvPr id="1382" name="Rectangle 1381"/>
          <p:cNvSpPr/>
          <p:nvPr/>
        </p:nvSpPr>
        <p:spPr>
          <a:xfrm>
            <a:off x="6501384" y="7429500"/>
            <a:ext cx="694944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3" name="TextBox 1382"/>
          <p:cNvSpPr txBox="1"/>
          <p:nvPr/>
        </p:nvSpPr>
        <p:spPr>
          <a:xfrm>
            <a:off x="-3209544" y="750265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1384" name="TextBox 1383"/>
          <p:cNvSpPr txBox="1"/>
          <p:nvPr/>
        </p:nvSpPr>
        <p:spPr>
          <a:xfrm>
            <a:off x="-3209544" y="7685531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r7</a:t>
            </a:r>
          </a:p>
        </p:txBody>
      </p:sp>
      <p:sp>
        <p:nvSpPr>
          <p:cNvPr id="1385" name="Rectangle 1384"/>
          <p:cNvSpPr/>
          <p:nvPr/>
        </p:nvSpPr>
        <p:spPr>
          <a:xfrm>
            <a:off x="7589520" y="6949440"/>
            <a:ext cx="3319272" cy="1344168"/>
          </a:xfrm>
          <a:prstGeom prst="rect">
            <a:avLst/>
          </a:prstGeom>
          <a:solidFill>
            <a:srgbClr val="FFFFFF"/>
          </a:solidFill>
          <a:ln w="9144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6" name="TextBox 1385"/>
          <p:cNvSpPr txBox="1"/>
          <p:nvPr/>
        </p:nvSpPr>
        <p:spPr>
          <a:xfrm>
            <a:off x="-822960" y="7022592"/>
            <a:ext cx="20116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39">
                <a:solidFill>
                  <a:srgbClr val="202020"/>
                </a:solidFill>
                <a:latin typeface="DejaVu Sans"/>
              </a:rPr>
              <a:t>Compute Tray 2</a:t>
            </a:r>
          </a:p>
        </p:txBody>
      </p:sp>
      <p:sp>
        <p:nvSpPr>
          <p:cNvPr id="1387" name="Rectangle 1386"/>
          <p:cNvSpPr/>
          <p:nvPr/>
        </p:nvSpPr>
        <p:spPr>
          <a:xfrm>
            <a:off x="7653527" y="7429500"/>
            <a:ext cx="694944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8" name="TextBox 1387"/>
          <p:cNvSpPr txBox="1"/>
          <p:nvPr/>
        </p:nvSpPr>
        <p:spPr>
          <a:xfrm>
            <a:off x="-2057400" y="750265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1389" name="TextBox 1388"/>
          <p:cNvSpPr txBox="1"/>
          <p:nvPr/>
        </p:nvSpPr>
        <p:spPr>
          <a:xfrm>
            <a:off x="-2057400" y="7685531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r8</a:t>
            </a:r>
          </a:p>
        </p:txBody>
      </p:sp>
      <p:sp>
        <p:nvSpPr>
          <p:cNvPr id="1390" name="Rectangle 1389"/>
          <p:cNvSpPr/>
          <p:nvPr/>
        </p:nvSpPr>
        <p:spPr>
          <a:xfrm>
            <a:off x="8458200" y="7429500"/>
            <a:ext cx="694944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1" name="TextBox 1390"/>
          <p:cNvSpPr txBox="1"/>
          <p:nvPr/>
        </p:nvSpPr>
        <p:spPr>
          <a:xfrm>
            <a:off x="-1252728" y="750265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1392" name="TextBox 1391"/>
          <p:cNvSpPr txBox="1"/>
          <p:nvPr/>
        </p:nvSpPr>
        <p:spPr>
          <a:xfrm>
            <a:off x="-1252728" y="7685531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r9</a:t>
            </a:r>
          </a:p>
        </p:txBody>
      </p:sp>
      <p:sp>
        <p:nvSpPr>
          <p:cNvPr id="1393" name="Rectangle 1392"/>
          <p:cNvSpPr/>
          <p:nvPr/>
        </p:nvSpPr>
        <p:spPr>
          <a:xfrm>
            <a:off x="9262872" y="7429500"/>
            <a:ext cx="694944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4" name="TextBox 1393"/>
          <p:cNvSpPr txBox="1"/>
          <p:nvPr/>
        </p:nvSpPr>
        <p:spPr>
          <a:xfrm>
            <a:off x="-448056" y="750265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1395" name="TextBox 1394"/>
          <p:cNvSpPr txBox="1"/>
          <p:nvPr/>
        </p:nvSpPr>
        <p:spPr>
          <a:xfrm>
            <a:off x="-448056" y="7685531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r10</a:t>
            </a:r>
          </a:p>
        </p:txBody>
      </p:sp>
      <p:sp>
        <p:nvSpPr>
          <p:cNvPr id="1396" name="Rectangle 1395"/>
          <p:cNvSpPr/>
          <p:nvPr/>
        </p:nvSpPr>
        <p:spPr>
          <a:xfrm>
            <a:off x="10067544" y="7429500"/>
            <a:ext cx="694944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7" name="TextBox 1396"/>
          <p:cNvSpPr txBox="1"/>
          <p:nvPr/>
        </p:nvSpPr>
        <p:spPr>
          <a:xfrm>
            <a:off x="356616" y="750265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1398" name="TextBox 1397"/>
          <p:cNvSpPr txBox="1"/>
          <p:nvPr/>
        </p:nvSpPr>
        <p:spPr>
          <a:xfrm>
            <a:off x="356616" y="7685531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r11</a:t>
            </a:r>
          </a:p>
        </p:txBody>
      </p:sp>
      <p:sp>
        <p:nvSpPr>
          <p:cNvPr id="1399" name="Rectangle 1398"/>
          <p:cNvSpPr/>
          <p:nvPr/>
        </p:nvSpPr>
        <p:spPr>
          <a:xfrm>
            <a:off x="11155680" y="6949440"/>
            <a:ext cx="3319272" cy="1344168"/>
          </a:xfrm>
          <a:prstGeom prst="rect">
            <a:avLst/>
          </a:prstGeom>
          <a:solidFill>
            <a:srgbClr val="FFFFFF"/>
          </a:solidFill>
          <a:ln w="9144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0" name="TextBox 1399"/>
          <p:cNvSpPr txBox="1"/>
          <p:nvPr/>
        </p:nvSpPr>
        <p:spPr>
          <a:xfrm>
            <a:off x="2743200" y="7022592"/>
            <a:ext cx="20116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39">
                <a:solidFill>
                  <a:srgbClr val="202020"/>
                </a:solidFill>
                <a:latin typeface="DejaVu Sans"/>
              </a:rPr>
              <a:t>Compute Tray 3</a:t>
            </a:r>
          </a:p>
        </p:txBody>
      </p:sp>
      <p:sp>
        <p:nvSpPr>
          <p:cNvPr id="1401" name="Rectangle 1400"/>
          <p:cNvSpPr/>
          <p:nvPr/>
        </p:nvSpPr>
        <p:spPr>
          <a:xfrm>
            <a:off x="11219688" y="7429500"/>
            <a:ext cx="694944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2" name="TextBox 1401"/>
          <p:cNvSpPr txBox="1"/>
          <p:nvPr/>
        </p:nvSpPr>
        <p:spPr>
          <a:xfrm>
            <a:off x="1508760" y="750265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1403" name="TextBox 1402"/>
          <p:cNvSpPr txBox="1"/>
          <p:nvPr/>
        </p:nvSpPr>
        <p:spPr>
          <a:xfrm>
            <a:off x="1508760" y="7685531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r12</a:t>
            </a:r>
          </a:p>
        </p:txBody>
      </p:sp>
      <p:sp>
        <p:nvSpPr>
          <p:cNvPr id="1404" name="Rectangle 1403"/>
          <p:cNvSpPr/>
          <p:nvPr/>
        </p:nvSpPr>
        <p:spPr>
          <a:xfrm>
            <a:off x="12024360" y="7429500"/>
            <a:ext cx="694944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5" name="TextBox 1404"/>
          <p:cNvSpPr txBox="1"/>
          <p:nvPr/>
        </p:nvSpPr>
        <p:spPr>
          <a:xfrm>
            <a:off x="2313432" y="750265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1406" name="TextBox 1405"/>
          <p:cNvSpPr txBox="1"/>
          <p:nvPr/>
        </p:nvSpPr>
        <p:spPr>
          <a:xfrm>
            <a:off x="2313432" y="7685531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r13</a:t>
            </a:r>
          </a:p>
        </p:txBody>
      </p:sp>
      <p:sp>
        <p:nvSpPr>
          <p:cNvPr id="1407" name="Rectangle 1406"/>
          <p:cNvSpPr/>
          <p:nvPr/>
        </p:nvSpPr>
        <p:spPr>
          <a:xfrm>
            <a:off x="12829032" y="7429500"/>
            <a:ext cx="694944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8" name="TextBox 1407"/>
          <p:cNvSpPr txBox="1"/>
          <p:nvPr/>
        </p:nvSpPr>
        <p:spPr>
          <a:xfrm>
            <a:off x="3118104" y="750265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1409" name="TextBox 1408"/>
          <p:cNvSpPr txBox="1"/>
          <p:nvPr/>
        </p:nvSpPr>
        <p:spPr>
          <a:xfrm>
            <a:off x="3118104" y="7685531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r14</a:t>
            </a:r>
          </a:p>
        </p:txBody>
      </p:sp>
      <p:sp>
        <p:nvSpPr>
          <p:cNvPr id="1410" name="Rectangle 1409"/>
          <p:cNvSpPr/>
          <p:nvPr/>
        </p:nvSpPr>
        <p:spPr>
          <a:xfrm>
            <a:off x="13633704" y="7429500"/>
            <a:ext cx="694944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1" name="TextBox 1410"/>
          <p:cNvSpPr txBox="1"/>
          <p:nvPr/>
        </p:nvSpPr>
        <p:spPr>
          <a:xfrm>
            <a:off x="3922776" y="750265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1412" name="TextBox 1411"/>
          <p:cNvSpPr txBox="1"/>
          <p:nvPr/>
        </p:nvSpPr>
        <p:spPr>
          <a:xfrm>
            <a:off x="3922776" y="7685531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r15</a:t>
            </a:r>
          </a:p>
        </p:txBody>
      </p:sp>
      <p:sp>
        <p:nvSpPr>
          <p:cNvPr id="1413" name="Rectangle 1412"/>
          <p:cNvSpPr/>
          <p:nvPr/>
        </p:nvSpPr>
        <p:spPr>
          <a:xfrm>
            <a:off x="14721840" y="6949440"/>
            <a:ext cx="3319272" cy="1344168"/>
          </a:xfrm>
          <a:prstGeom prst="rect">
            <a:avLst/>
          </a:prstGeom>
          <a:solidFill>
            <a:srgbClr val="FFFFFF"/>
          </a:solidFill>
          <a:ln w="9144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4" name="TextBox 1413"/>
          <p:cNvSpPr txBox="1"/>
          <p:nvPr/>
        </p:nvSpPr>
        <p:spPr>
          <a:xfrm>
            <a:off x="6309360" y="7022592"/>
            <a:ext cx="20116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39">
                <a:solidFill>
                  <a:srgbClr val="202020"/>
                </a:solidFill>
                <a:latin typeface="DejaVu Sans"/>
              </a:rPr>
              <a:t>Compute Tray 4</a:t>
            </a:r>
          </a:p>
        </p:txBody>
      </p:sp>
      <p:sp>
        <p:nvSpPr>
          <p:cNvPr id="1415" name="Rectangle 1414"/>
          <p:cNvSpPr/>
          <p:nvPr/>
        </p:nvSpPr>
        <p:spPr>
          <a:xfrm>
            <a:off x="14785848" y="7429500"/>
            <a:ext cx="694944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6" name="TextBox 1415"/>
          <p:cNvSpPr txBox="1"/>
          <p:nvPr/>
        </p:nvSpPr>
        <p:spPr>
          <a:xfrm>
            <a:off x="5074920" y="750265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1417" name="TextBox 1416"/>
          <p:cNvSpPr txBox="1"/>
          <p:nvPr/>
        </p:nvSpPr>
        <p:spPr>
          <a:xfrm>
            <a:off x="5074920" y="7685531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r16</a:t>
            </a:r>
          </a:p>
        </p:txBody>
      </p:sp>
      <p:sp>
        <p:nvSpPr>
          <p:cNvPr id="1418" name="Rectangle 1417"/>
          <p:cNvSpPr/>
          <p:nvPr/>
        </p:nvSpPr>
        <p:spPr>
          <a:xfrm>
            <a:off x="15590520" y="7429500"/>
            <a:ext cx="694944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9" name="TextBox 1418"/>
          <p:cNvSpPr txBox="1"/>
          <p:nvPr/>
        </p:nvSpPr>
        <p:spPr>
          <a:xfrm>
            <a:off x="5879592" y="750265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1420" name="TextBox 1419"/>
          <p:cNvSpPr txBox="1"/>
          <p:nvPr/>
        </p:nvSpPr>
        <p:spPr>
          <a:xfrm>
            <a:off x="5879592" y="7685531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r17</a:t>
            </a:r>
          </a:p>
        </p:txBody>
      </p:sp>
      <p:sp>
        <p:nvSpPr>
          <p:cNvPr id="1421" name="Rectangle 1420"/>
          <p:cNvSpPr/>
          <p:nvPr/>
        </p:nvSpPr>
        <p:spPr>
          <a:xfrm>
            <a:off x="16395192" y="7429500"/>
            <a:ext cx="694944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2" name="TextBox 1421"/>
          <p:cNvSpPr txBox="1"/>
          <p:nvPr/>
        </p:nvSpPr>
        <p:spPr>
          <a:xfrm>
            <a:off x="6684264" y="750265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1423" name="TextBox 1422"/>
          <p:cNvSpPr txBox="1"/>
          <p:nvPr/>
        </p:nvSpPr>
        <p:spPr>
          <a:xfrm>
            <a:off x="6684264" y="7685531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r18</a:t>
            </a:r>
          </a:p>
        </p:txBody>
      </p:sp>
      <p:sp>
        <p:nvSpPr>
          <p:cNvPr id="1424" name="Rectangle 1423"/>
          <p:cNvSpPr/>
          <p:nvPr/>
        </p:nvSpPr>
        <p:spPr>
          <a:xfrm>
            <a:off x="17199864" y="7429500"/>
            <a:ext cx="694944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5" name="TextBox 1424"/>
          <p:cNvSpPr txBox="1"/>
          <p:nvPr/>
        </p:nvSpPr>
        <p:spPr>
          <a:xfrm>
            <a:off x="7488936" y="750265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1426" name="TextBox 1425"/>
          <p:cNvSpPr txBox="1"/>
          <p:nvPr/>
        </p:nvSpPr>
        <p:spPr>
          <a:xfrm>
            <a:off x="7488936" y="7685531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r19</a:t>
            </a:r>
          </a:p>
        </p:txBody>
      </p:sp>
      <p:sp>
        <p:nvSpPr>
          <p:cNvPr id="1427" name="Rectangle 1426"/>
          <p:cNvSpPr/>
          <p:nvPr/>
        </p:nvSpPr>
        <p:spPr>
          <a:xfrm>
            <a:off x="18288000" y="6949440"/>
            <a:ext cx="3319272" cy="1344168"/>
          </a:xfrm>
          <a:prstGeom prst="rect">
            <a:avLst/>
          </a:prstGeom>
          <a:solidFill>
            <a:srgbClr val="FFFFFF"/>
          </a:solidFill>
          <a:ln w="9144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8" name="TextBox 1427"/>
          <p:cNvSpPr txBox="1"/>
          <p:nvPr/>
        </p:nvSpPr>
        <p:spPr>
          <a:xfrm>
            <a:off x="9875520" y="7022592"/>
            <a:ext cx="20116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39">
                <a:solidFill>
                  <a:srgbClr val="202020"/>
                </a:solidFill>
                <a:latin typeface="DejaVu Sans"/>
              </a:rPr>
              <a:t>Compute Tray 5</a:t>
            </a:r>
          </a:p>
        </p:txBody>
      </p:sp>
      <p:sp>
        <p:nvSpPr>
          <p:cNvPr id="1429" name="Rectangle 1428"/>
          <p:cNvSpPr/>
          <p:nvPr/>
        </p:nvSpPr>
        <p:spPr>
          <a:xfrm>
            <a:off x="18352008" y="7429500"/>
            <a:ext cx="694944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0" name="TextBox 1429"/>
          <p:cNvSpPr txBox="1"/>
          <p:nvPr/>
        </p:nvSpPr>
        <p:spPr>
          <a:xfrm>
            <a:off x="8641080" y="750265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1431" name="TextBox 1430"/>
          <p:cNvSpPr txBox="1"/>
          <p:nvPr/>
        </p:nvSpPr>
        <p:spPr>
          <a:xfrm>
            <a:off x="8641080" y="7685531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r20</a:t>
            </a:r>
          </a:p>
        </p:txBody>
      </p:sp>
      <p:sp>
        <p:nvSpPr>
          <p:cNvPr id="1432" name="Rectangle 1431"/>
          <p:cNvSpPr/>
          <p:nvPr/>
        </p:nvSpPr>
        <p:spPr>
          <a:xfrm>
            <a:off x="19156680" y="7429500"/>
            <a:ext cx="694944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3" name="TextBox 1432"/>
          <p:cNvSpPr txBox="1"/>
          <p:nvPr/>
        </p:nvSpPr>
        <p:spPr>
          <a:xfrm>
            <a:off x="9445752" y="750265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1434" name="TextBox 1433"/>
          <p:cNvSpPr txBox="1"/>
          <p:nvPr/>
        </p:nvSpPr>
        <p:spPr>
          <a:xfrm>
            <a:off x="9445752" y="7685531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r21</a:t>
            </a:r>
          </a:p>
        </p:txBody>
      </p:sp>
      <p:sp>
        <p:nvSpPr>
          <p:cNvPr id="1435" name="Rectangle 1434"/>
          <p:cNvSpPr/>
          <p:nvPr/>
        </p:nvSpPr>
        <p:spPr>
          <a:xfrm>
            <a:off x="19961352" y="7429500"/>
            <a:ext cx="694944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6" name="TextBox 1435"/>
          <p:cNvSpPr txBox="1"/>
          <p:nvPr/>
        </p:nvSpPr>
        <p:spPr>
          <a:xfrm>
            <a:off x="10250424" y="750265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1437" name="TextBox 1436"/>
          <p:cNvSpPr txBox="1"/>
          <p:nvPr/>
        </p:nvSpPr>
        <p:spPr>
          <a:xfrm>
            <a:off x="10250424" y="7685531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r22</a:t>
            </a:r>
          </a:p>
        </p:txBody>
      </p:sp>
      <p:sp>
        <p:nvSpPr>
          <p:cNvPr id="1438" name="Rectangle 1437"/>
          <p:cNvSpPr/>
          <p:nvPr/>
        </p:nvSpPr>
        <p:spPr>
          <a:xfrm>
            <a:off x="20766024" y="7429500"/>
            <a:ext cx="694944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9" name="TextBox 1438"/>
          <p:cNvSpPr txBox="1"/>
          <p:nvPr/>
        </p:nvSpPr>
        <p:spPr>
          <a:xfrm>
            <a:off x="11055096" y="750265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1440" name="TextBox 1439"/>
          <p:cNvSpPr txBox="1"/>
          <p:nvPr/>
        </p:nvSpPr>
        <p:spPr>
          <a:xfrm>
            <a:off x="11055096" y="7685531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r23</a:t>
            </a:r>
          </a:p>
        </p:txBody>
      </p:sp>
      <p:sp>
        <p:nvSpPr>
          <p:cNvPr id="1441" name="Rectangle 1440"/>
          <p:cNvSpPr/>
          <p:nvPr/>
        </p:nvSpPr>
        <p:spPr>
          <a:xfrm>
            <a:off x="457200" y="8549640"/>
            <a:ext cx="3319272" cy="1344168"/>
          </a:xfrm>
          <a:prstGeom prst="rect">
            <a:avLst/>
          </a:prstGeom>
          <a:solidFill>
            <a:srgbClr val="FFFFFF"/>
          </a:solidFill>
          <a:ln w="9144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2" name="TextBox 1441"/>
          <p:cNvSpPr txBox="1"/>
          <p:nvPr/>
        </p:nvSpPr>
        <p:spPr>
          <a:xfrm>
            <a:off x="-7955279" y="8622792"/>
            <a:ext cx="20116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39">
                <a:solidFill>
                  <a:srgbClr val="202020"/>
                </a:solidFill>
                <a:latin typeface="DejaVu Sans"/>
              </a:rPr>
              <a:t>Compute Tray 6</a:t>
            </a:r>
          </a:p>
        </p:txBody>
      </p:sp>
      <p:sp>
        <p:nvSpPr>
          <p:cNvPr id="1443" name="Rectangle 1442"/>
          <p:cNvSpPr/>
          <p:nvPr/>
        </p:nvSpPr>
        <p:spPr>
          <a:xfrm>
            <a:off x="521207" y="9029700"/>
            <a:ext cx="694944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4" name="TextBox 1443"/>
          <p:cNvSpPr txBox="1"/>
          <p:nvPr/>
        </p:nvSpPr>
        <p:spPr>
          <a:xfrm>
            <a:off x="-9189720" y="910285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1445" name="TextBox 1444"/>
          <p:cNvSpPr txBox="1"/>
          <p:nvPr/>
        </p:nvSpPr>
        <p:spPr>
          <a:xfrm>
            <a:off x="-9189720" y="928573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r24</a:t>
            </a:r>
          </a:p>
        </p:txBody>
      </p:sp>
      <p:sp>
        <p:nvSpPr>
          <p:cNvPr id="1446" name="Rectangle 1445"/>
          <p:cNvSpPr/>
          <p:nvPr/>
        </p:nvSpPr>
        <p:spPr>
          <a:xfrm>
            <a:off x="1325880" y="9029700"/>
            <a:ext cx="694944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7" name="TextBox 1446"/>
          <p:cNvSpPr txBox="1"/>
          <p:nvPr/>
        </p:nvSpPr>
        <p:spPr>
          <a:xfrm>
            <a:off x="-8385048" y="910285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1448" name="TextBox 1447"/>
          <p:cNvSpPr txBox="1"/>
          <p:nvPr/>
        </p:nvSpPr>
        <p:spPr>
          <a:xfrm>
            <a:off x="-8385048" y="928573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r25</a:t>
            </a:r>
          </a:p>
        </p:txBody>
      </p:sp>
      <p:sp>
        <p:nvSpPr>
          <p:cNvPr id="1449" name="Rectangle 1448"/>
          <p:cNvSpPr/>
          <p:nvPr/>
        </p:nvSpPr>
        <p:spPr>
          <a:xfrm>
            <a:off x="2130552" y="9029700"/>
            <a:ext cx="694944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0" name="TextBox 1449"/>
          <p:cNvSpPr txBox="1"/>
          <p:nvPr/>
        </p:nvSpPr>
        <p:spPr>
          <a:xfrm>
            <a:off x="-7580375" y="910285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1451" name="TextBox 1450"/>
          <p:cNvSpPr txBox="1"/>
          <p:nvPr/>
        </p:nvSpPr>
        <p:spPr>
          <a:xfrm>
            <a:off x="-7580375" y="928573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r26</a:t>
            </a:r>
          </a:p>
        </p:txBody>
      </p:sp>
      <p:sp>
        <p:nvSpPr>
          <p:cNvPr id="1452" name="Rectangle 1451"/>
          <p:cNvSpPr/>
          <p:nvPr/>
        </p:nvSpPr>
        <p:spPr>
          <a:xfrm>
            <a:off x="2935224" y="9029700"/>
            <a:ext cx="694944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3" name="TextBox 1452"/>
          <p:cNvSpPr txBox="1"/>
          <p:nvPr/>
        </p:nvSpPr>
        <p:spPr>
          <a:xfrm>
            <a:off x="-6775704" y="910285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1454" name="TextBox 1453"/>
          <p:cNvSpPr txBox="1"/>
          <p:nvPr/>
        </p:nvSpPr>
        <p:spPr>
          <a:xfrm>
            <a:off x="-6775704" y="928573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r27</a:t>
            </a:r>
          </a:p>
        </p:txBody>
      </p:sp>
      <p:sp>
        <p:nvSpPr>
          <p:cNvPr id="1455" name="Rectangle 1454"/>
          <p:cNvSpPr/>
          <p:nvPr/>
        </p:nvSpPr>
        <p:spPr>
          <a:xfrm>
            <a:off x="4023360" y="8549640"/>
            <a:ext cx="3319272" cy="1344168"/>
          </a:xfrm>
          <a:prstGeom prst="rect">
            <a:avLst/>
          </a:prstGeom>
          <a:solidFill>
            <a:srgbClr val="FFFFFF"/>
          </a:solidFill>
          <a:ln w="9144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6" name="TextBox 1455"/>
          <p:cNvSpPr txBox="1"/>
          <p:nvPr/>
        </p:nvSpPr>
        <p:spPr>
          <a:xfrm>
            <a:off x="-4389120" y="8622792"/>
            <a:ext cx="20116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39">
                <a:solidFill>
                  <a:srgbClr val="202020"/>
                </a:solidFill>
                <a:latin typeface="DejaVu Sans"/>
              </a:rPr>
              <a:t>Compute Tray 7</a:t>
            </a:r>
          </a:p>
        </p:txBody>
      </p:sp>
      <p:sp>
        <p:nvSpPr>
          <p:cNvPr id="1457" name="Rectangle 1456"/>
          <p:cNvSpPr/>
          <p:nvPr/>
        </p:nvSpPr>
        <p:spPr>
          <a:xfrm>
            <a:off x="4087368" y="9029700"/>
            <a:ext cx="694944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8" name="TextBox 1457"/>
          <p:cNvSpPr txBox="1"/>
          <p:nvPr/>
        </p:nvSpPr>
        <p:spPr>
          <a:xfrm>
            <a:off x="-5623560" y="910285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1459" name="TextBox 1458"/>
          <p:cNvSpPr txBox="1"/>
          <p:nvPr/>
        </p:nvSpPr>
        <p:spPr>
          <a:xfrm>
            <a:off x="-5623560" y="928573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r28</a:t>
            </a:r>
          </a:p>
        </p:txBody>
      </p:sp>
      <p:sp>
        <p:nvSpPr>
          <p:cNvPr id="1460" name="Rectangle 1459"/>
          <p:cNvSpPr/>
          <p:nvPr/>
        </p:nvSpPr>
        <p:spPr>
          <a:xfrm>
            <a:off x="4892040" y="9029700"/>
            <a:ext cx="694944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1" name="TextBox 1460"/>
          <p:cNvSpPr txBox="1"/>
          <p:nvPr/>
        </p:nvSpPr>
        <p:spPr>
          <a:xfrm>
            <a:off x="-4818888" y="910285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1462" name="TextBox 1461"/>
          <p:cNvSpPr txBox="1"/>
          <p:nvPr/>
        </p:nvSpPr>
        <p:spPr>
          <a:xfrm>
            <a:off x="-4818888" y="928573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r29</a:t>
            </a:r>
          </a:p>
        </p:txBody>
      </p:sp>
      <p:sp>
        <p:nvSpPr>
          <p:cNvPr id="1463" name="Rectangle 1462"/>
          <p:cNvSpPr/>
          <p:nvPr/>
        </p:nvSpPr>
        <p:spPr>
          <a:xfrm>
            <a:off x="5696712" y="9029700"/>
            <a:ext cx="694944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4" name="TextBox 1463"/>
          <p:cNvSpPr txBox="1"/>
          <p:nvPr/>
        </p:nvSpPr>
        <p:spPr>
          <a:xfrm>
            <a:off x="-4014215" y="910285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1465" name="TextBox 1464"/>
          <p:cNvSpPr txBox="1"/>
          <p:nvPr/>
        </p:nvSpPr>
        <p:spPr>
          <a:xfrm>
            <a:off x="-4014215" y="928573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r30</a:t>
            </a:r>
          </a:p>
        </p:txBody>
      </p:sp>
      <p:sp>
        <p:nvSpPr>
          <p:cNvPr id="1466" name="Rectangle 1465"/>
          <p:cNvSpPr/>
          <p:nvPr/>
        </p:nvSpPr>
        <p:spPr>
          <a:xfrm>
            <a:off x="6501384" y="9029700"/>
            <a:ext cx="694944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7" name="TextBox 1466"/>
          <p:cNvSpPr txBox="1"/>
          <p:nvPr/>
        </p:nvSpPr>
        <p:spPr>
          <a:xfrm>
            <a:off x="-3209544" y="910285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1468" name="TextBox 1467"/>
          <p:cNvSpPr txBox="1"/>
          <p:nvPr/>
        </p:nvSpPr>
        <p:spPr>
          <a:xfrm>
            <a:off x="-3209544" y="928573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r31</a:t>
            </a:r>
          </a:p>
        </p:txBody>
      </p:sp>
      <p:sp>
        <p:nvSpPr>
          <p:cNvPr id="1469" name="Rectangle 1468"/>
          <p:cNvSpPr/>
          <p:nvPr/>
        </p:nvSpPr>
        <p:spPr>
          <a:xfrm>
            <a:off x="7589520" y="8549640"/>
            <a:ext cx="3319272" cy="1344168"/>
          </a:xfrm>
          <a:prstGeom prst="rect">
            <a:avLst/>
          </a:prstGeom>
          <a:solidFill>
            <a:srgbClr val="FFFFFF"/>
          </a:solidFill>
          <a:ln w="9144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0" name="TextBox 1469"/>
          <p:cNvSpPr txBox="1"/>
          <p:nvPr/>
        </p:nvSpPr>
        <p:spPr>
          <a:xfrm>
            <a:off x="-822960" y="8622792"/>
            <a:ext cx="20116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39">
                <a:solidFill>
                  <a:srgbClr val="202020"/>
                </a:solidFill>
                <a:latin typeface="DejaVu Sans"/>
              </a:rPr>
              <a:t>Compute Tray 8</a:t>
            </a:r>
          </a:p>
        </p:txBody>
      </p:sp>
      <p:sp>
        <p:nvSpPr>
          <p:cNvPr id="1471" name="Rectangle 1470"/>
          <p:cNvSpPr/>
          <p:nvPr/>
        </p:nvSpPr>
        <p:spPr>
          <a:xfrm>
            <a:off x="7653527" y="9029700"/>
            <a:ext cx="694944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2" name="TextBox 1471"/>
          <p:cNvSpPr txBox="1"/>
          <p:nvPr/>
        </p:nvSpPr>
        <p:spPr>
          <a:xfrm>
            <a:off x="-2057400" y="910285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1473" name="TextBox 1472"/>
          <p:cNvSpPr txBox="1"/>
          <p:nvPr/>
        </p:nvSpPr>
        <p:spPr>
          <a:xfrm>
            <a:off x="-2057400" y="928573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r32</a:t>
            </a:r>
          </a:p>
        </p:txBody>
      </p:sp>
      <p:sp>
        <p:nvSpPr>
          <p:cNvPr id="1474" name="Rectangle 1473"/>
          <p:cNvSpPr/>
          <p:nvPr/>
        </p:nvSpPr>
        <p:spPr>
          <a:xfrm>
            <a:off x="8458200" y="9029700"/>
            <a:ext cx="694944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5" name="TextBox 1474"/>
          <p:cNvSpPr txBox="1"/>
          <p:nvPr/>
        </p:nvSpPr>
        <p:spPr>
          <a:xfrm>
            <a:off x="-1252728" y="910285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1476" name="TextBox 1475"/>
          <p:cNvSpPr txBox="1"/>
          <p:nvPr/>
        </p:nvSpPr>
        <p:spPr>
          <a:xfrm>
            <a:off x="-1252728" y="928573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r33</a:t>
            </a:r>
          </a:p>
        </p:txBody>
      </p:sp>
      <p:sp>
        <p:nvSpPr>
          <p:cNvPr id="1477" name="Rectangle 1476"/>
          <p:cNvSpPr/>
          <p:nvPr/>
        </p:nvSpPr>
        <p:spPr>
          <a:xfrm>
            <a:off x="9262872" y="9029700"/>
            <a:ext cx="694944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8" name="TextBox 1477"/>
          <p:cNvSpPr txBox="1"/>
          <p:nvPr/>
        </p:nvSpPr>
        <p:spPr>
          <a:xfrm>
            <a:off x="-448056" y="910285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1479" name="TextBox 1478"/>
          <p:cNvSpPr txBox="1"/>
          <p:nvPr/>
        </p:nvSpPr>
        <p:spPr>
          <a:xfrm>
            <a:off x="-448056" y="928573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r34</a:t>
            </a:r>
          </a:p>
        </p:txBody>
      </p:sp>
      <p:sp>
        <p:nvSpPr>
          <p:cNvPr id="1480" name="Rectangle 1479"/>
          <p:cNvSpPr/>
          <p:nvPr/>
        </p:nvSpPr>
        <p:spPr>
          <a:xfrm>
            <a:off x="10067544" y="9029700"/>
            <a:ext cx="694944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1" name="TextBox 1480"/>
          <p:cNvSpPr txBox="1"/>
          <p:nvPr/>
        </p:nvSpPr>
        <p:spPr>
          <a:xfrm>
            <a:off x="356616" y="910285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1482" name="TextBox 1481"/>
          <p:cNvSpPr txBox="1"/>
          <p:nvPr/>
        </p:nvSpPr>
        <p:spPr>
          <a:xfrm>
            <a:off x="356616" y="928573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r35</a:t>
            </a:r>
          </a:p>
        </p:txBody>
      </p:sp>
      <p:sp>
        <p:nvSpPr>
          <p:cNvPr id="1483" name="Rectangle 1482"/>
          <p:cNvSpPr/>
          <p:nvPr/>
        </p:nvSpPr>
        <p:spPr>
          <a:xfrm>
            <a:off x="11155680" y="8549640"/>
            <a:ext cx="3319272" cy="1344168"/>
          </a:xfrm>
          <a:prstGeom prst="rect">
            <a:avLst/>
          </a:prstGeom>
          <a:solidFill>
            <a:srgbClr val="FFFFFF"/>
          </a:solidFill>
          <a:ln w="9144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4" name="TextBox 1483"/>
          <p:cNvSpPr txBox="1"/>
          <p:nvPr/>
        </p:nvSpPr>
        <p:spPr>
          <a:xfrm>
            <a:off x="2743200" y="8622792"/>
            <a:ext cx="20116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39">
                <a:solidFill>
                  <a:srgbClr val="202020"/>
                </a:solidFill>
                <a:latin typeface="DejaVu Sans"/>
              </a:rPr>
              <a:t>Compute Tray 9</a:t>
            </a:r>
          </a:p>
        </p:txBody>
      </p:sp>
      <p:sp>
        <p:nvSpPr>
          <p:cNvPr id="1485" name="Rectangle 1484"/>
          <p:cNvSpPr/>
          <p:nvPr/>
        </p:nvSpPr>
        <p:spPr>
          <a:xfrm>
            <a:off x="11219688" y="9029700"/>
            <a:ext cx="694944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6" name="TextBox 1485"/>
          <p:cNvSpPr txBox="1"/>
          <p:nvPr/>
        </p:nvSpPr>
        <p:spPr>
          <a:xfrm>
            <a:off x="1508760" y="910285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1487" name="TextBox 1486"/>
          <p:cNvSpPr txBox="1"/>
          <p:nvPr/>
        </p:nvSpPr>
        <p:spPr>
          <a:xfrm>
            <a:off x="1508760" y="928573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r36</a:t>
            </a:r>
          </a:p>
        </p:txBody>
      </p:sp>
      <p:sp>
        <p:nvSpPr>
          <p:cNvPr id="1488" name="Rectangle 1487"/>
          <p:cNvSpPr/>
          <p:nvPr/>
        </p:nvSpPr>
        <p:spPr>
          <a:xfrm>
            <a:off x="12024360" y="9029700"/>
            <a:ext cx="694944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9" name="TextBox 1488"/>
          <p:cNvSpPr txBox="1"/>
          <p:nvPr/>
        </p:nvSpPr>
        <p:spPr>
          <a:xfrm>
            <a:off x="2313432" y="910285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1490" name="TextBox 1489"/>
          <p:cNvSpPr txBox="1"/>
          <p:nvPr/>
        </p:nvSpPr>
        <p:spPr>
          <a:xfrm>
            <a:off x="2313432" y="928573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r37</a:t>
            </a:r>
          </a:p>
        </p:txBody>
      </p:sp>
      <p:sp>
        <p:nvSpPr>
          <p:cNvPr id="1491" name="Rectangle 1490"/>
          <p:cNvSpPr/>
          <p:nvPr/>
        </p:nvSpPr>
        <p:spPr>
          <a:xfrm>
            <a:off x="12829032" y="9029700"/>
            <a:ext cx="694944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2" name="TextBox 1491"/>
          <p:cNvSpPr txBox="1"/>
          <p:nvPr/>
        </p:nvSpPr>
        <p:spPr>
          <a:xfrm>
            <a:off x="3118104" y="910285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1493" name="TextBox 1492"/>
          <p:cNvSpPr txBox="1"/>
          <p:nvPr/>
        </p:nvSpPr>
        <p:spPr>
          <a:xfrm>
            <a:off x="3118104" y="928573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r38</a:t>
            </a:r>
          </a:p>
        </p:txBody>
      </p:sp>
      <p:sp>
        <p:nvSpPr>
          <p:cNvPr id="1494" name="Rectangle 1493"/>
          <p:cNvSpPr/>
          <p:nvPr/>
        </p:nvSpPr>
        <p:spPr>
          <a:xfrm>
            <a:off x="13633704" y="9029700"/>
            <a:ext cx="694944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5" name="TextBox 1494"/>
          <p:cNvSpPr txBox="1"/>
          <p:nvPr/>
        </p:nvSpPr>
        <p:spPr>
          <a:xfrm>
            <a:off x="3922776" y="910285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1496" name="TextBox 1495"/>
          <p:cNvSpPr txBox="1"/>
          <p:nvPr/>
        </p:nvSpPr>
        <p:spPr>
          <a:xfrm>
            <a:off x="3922776" y="928573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r39</a:t>
            </a:r>
          </a:p>
        </p:txBody>
      </p:sp>
      <p:sp>
        <p:nvSpPr>
          <p:cNvPr id="1497" name="Rectangle 1496"/>
          <p:cNvSpPr/>
          <p:nvPr/>
        </p:nvSpPr>
        <p:spPr>
          <a:xfrm>
            <a:off x="14721840" y="8549640"/>
            <a:ext cx="3319272" cy="1344168"/>
          </a:xfrm>
          <a:prstGeom prst="rect">
            <a:avLst/>
          </a:prstGeom>
          <a:solidFill>
            <a:srgbClr val="FFFFFF"/>
          </a:solidFill>
          <a:ln w="9144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8" name="TextBox 1497"/>
          <p:cNvSpPr txBox="1"/>
          <p:nvPr/>
        </p:nvSpPr>
        <p:spPr>
          <a:xfrm>
            <a:off x="6309360" y="8622792"/>
            <a:ext cx="20116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39">
                <a:solidFill>
                  <a:srgbClr val="202020"/>
                </a:solidFill>
                <a:latin typeface="DejaVu Sans"/>
              </a:rPr>
              <a:t>Compute Tray 10</a:t>
            </a:r>
          </a:p>
        </p:txBody>
      </p:sp>
      <p:sp>
        <p:nvSpPr>
          <p:cNvPr id="1499" name="Rectangle 1498"/>
          <p:cNvSpPr/>
          <p:nvPr/>
        </p:nvSpPr>
        <p:spPr>
          <a:xfrm>
            <a:off x="14785848" y="9029700"/>
            <a:ext cx="694944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0" name="TextBox 1499"/>
          <p:cNvSpPr txBox="1"/>
          <p:nvPr/>
        </p:nvSpPr>
        <p:spPr>
          <a:xfrm>
            <a:off x="5074920" y="910285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1501" name="TextBox 1500"/>
          <p:cNvSpPr txBox="1"/>
          <p:nvPr/>
        </p:nvSpPr>
        <p:spPr>
          <a:xfrm>
            <a:off x="5074920" y="928573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r40</a:t>
            </a:r>
          </a:p>
        </p:txBody>
      </p:sp>
      <p:sp>
        <p:nvSpPr>
          <p:cNvPr id="1502" name="Rectangle 1501"/>
          <p:cNvSpPr/>
          <p:nvPr/>
        </p:nvSpPr>
        <p:spPr>
          <a:xfrm>
            <a:off x="15590520" y="9029700"/>
            <a:ext cx="694944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3" name="TextBox 1502"/>
          <p:cNvSpPr txBox="1"/>
          <p:nvPr/>
        </p:nvSpPr>
        <p:spPr>
          <a:xfrm>
            <a:off x="5879592" y="910285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1504" name="TextBox 1503"/>
          <p:cNvSpPr txBox="1"/>
          <p:nvPr/>
        </p:nvSpPr>
        <p:spPr>
          <a:xfrm>
            <a:off x="5879592" y="928573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r41</a:t>
            </a:r>
          </a:p>
        </p:txBody>
      </p:sp>
      <p:sp>
        <p:nvSpPr>
          <p:cNvPr id="1505" name="Rectangle 1504"/>
          <p:cNvSpPr/>
          <p:nvPr/>
        </p:nvSpPr>
        <p:spPr>
          <a:xfrm>
            <a:off x="16395192" y="9029700"/>
            <a:ext cx="694944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6" name="TextBox 1505"/>
          <p:cNvSpPr txBox="1"/>
          <p:nvPr/>
        </p:nvSpPr>
        <p:spPr>
          <a:xfrm>
            <a:off x="6684264" y="910285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1507" name="TextBox 1506"/>
          <p:cNvSpPr txBox="1"/>
          <p:nvPr/>
        </p:nvSpPr>
        <p:spPr>
          <a:xfrm>
            <a:off x="6684264" y="928573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r42</a:t>
            </a:r>
          </a:p>
        </p:txBody>
      </p:sp>
      <p:sp>
        <p:nvSpPr>
          <p:cNvPr id="1508" name="Rectangle 1507"/>
          <p:cNvSpPr/>
          <p:nvPr/>
        </p:nvSpPr>
        <p:spPr>
          <a:xfrm>
            <a:off x="17199864" y="9029700"/>
            <a:ext cx="694944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9" name="TextBox 1508"/>
          <p:cNvSpPr txBox="1"/>
          <p:nvPr/>
        </p:nvSpPr>
        <p:spPr>
          <a:xfrm>
            <a:off x="7488936" y="910285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1510" name="TextBox 1509"/>
          <p:cNvSpPr txBox="1"/>
          <p:nvPr/>
        </p:nvSpPr>
        <p:spPr>
          <a:xfrm>
            <a:off x="7488936" y="928573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r43</a:t>
            </a:r>
          </a:p>
        </p:txBody>
      </p:sp>
      <p:sp>
        <p:nvSpPr>
          <p:cNvPr id="1511" name="Rectangle 1510"/>
          <p:cNvSpPr/>
          <p:nvPr/>
        </p:nvSpPr>
        <p:spPr>
          <a:xfrm>
            <a:off x="18288000" y="8549640"/>
            <a:ext cx="3319272" cy="1344168"/>
          </a:xfrm>
          <a:prstGeom prst="rect">
            <a:avLst/>
          </a:prstGeom>
          <a:solidFill>
            <a:srgbClr val="FFFFFF"/>
          </a:solidFill>
          <a:ln w="9144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2" name="TextBox 1511"/>
          <p:cNvSpPr txBox="1"/>
          <p:nvPr/>
        </p:nvSpPr>
        <p:spPr>
          <a:xfrm>
            <a:off x="9875520" y="8622792"/>
            <a:ext cx="20116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39">
                <a:solidFill>
                  <a:srgbClr val="202020"/>
                </a:solidFill>
                <a:latin typeface="DejaVu Sans"/>
              </a:rPr>
              <a:t>Compute Tray 11</a:t>
            </a:r>
          </a:p>
        </p:txBody>
      </p:sp>
      <p:sp>
        <p:nvSpPr>
          <p:cNvPr id="1513" name="Rectangle 1512"/>
          <p:cNvSpPr/>
          <p:nvPr/>
        </p:nvSpPr>
        <p:spPr>
          <a:xfrm>
            <a:off x="18352008" y="9029700"/>
            <a:ext cx="694944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4" name="TextBox 1513"/>
          <p:cNvSpPr txBox="1"/>
          <p:nvPr/>
        </p:nvSpPr>
        <p:spPr>
          <a:xfrm>
            <a:off x="8641080" y="910285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1515" name="TextBox 1514"/>
          <p:cNvSpPr txBox="1"/>
          <p:nvPr/>
        </p:nvSpPr>
        <p:spPr>
          <a:xfrm>
            <a:off x="8641080" y="928573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r44</a:t>
            </a:r>
          </a:p>
        </p:txBody>
      </p:sp>
      <p:sp>
        <p:nvSpPr>
          <p:cNvPr id="1516" name="Rectangle 1515"/>
          <p:cNvSpPr/>
          <p:nvPr/>
        </p:nvSpPr>
        <p:spPr>
          <a:xfrm>
            <a:off x="19156680" y="9029700"/>
            <a:ext cx="694944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7" name="TextBox 1516"/>
          <p:cNvSpPr txBox="1"/>
          <p:nvPr/>
        </p:nvSpPr>
        <p:spPr>
          <a:xfrm>
            <a:off x="9445752" y="910285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1518" name="TextBox 1517"/>
          <p:cNvSpPr txBox="1"/>
          <p:nvPr/>
        </p:nvSpPr>
        <p:spPr>
          <a:xfrm>
            <a:off x="9445752" y="928573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r45</a:t>
            </a:r>
          </a:p>
        </p:txBody>
      </p:sp>
      <p:sp>
        <p:nvSpPr>
          <p:cNvPr id="1519" name="Rectangle 1518"/>
          <p:cNvSpPr/>
          <p:nvPr/>
        </p:nvSpPr>
        <p:spPr>
          <a:xfrm>
            <a:off x="19961352" y="9029700"/>
            <a:ext cx="694944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0" name="TextBox 1519"/>
          <p:cNvSpPr txBox="1"/>
          <p:nvPr/>
        </p:nvSpPr>
        <p:spPr>
          <a:xfrm>
            <a:off x="10250424" y="910285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1521" name="TextBox 1520"/>
          <p:cNvSpPr txBox="1"/>
          <p:nvPr/>
        </p:nvSpPr>
        <p:spPr>
          <a:xfrm>
            <a:off x="10250424" y="928573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r46</a:t>
            </a:r>
          </a:p>
        </p:txBody>
      </p:sp>
      <p:sp>
        <p:nvSpPr>
          <p:cNvPr id="1522" name="Rectangle 1521"/>
          <p:cNvSpPr/>
          <p:nvPr/>
        </p:nvSpPr>
        <p:spPr>
          <a:xfrm>
            <a:off x="20766024" y="9029700"/>
            <a:ext cx="694944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3" name="TextBox 1522"/>
          <p:cNvSpPr txBox="1"/>
          <p:nvPr/>
        </p:nvSpPr>
        <p:spPr>
          <a:xfrm>
            <a:off x="11055096" y="910285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1524" name="TextBox 1523"/>
          <p:cNvSpPr txBox="1"/>
          <p:nvPr/>
        </p:nvSpPr>
        <p:spPr>
          <a:xfrm>
            <a:off x="11055096" y="928573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r47</a:t>
            </a:r>
          </a:p>
        </p:txBody>
      </p:sp>
      <p:sp>
        <p:nvSpPr>
          <p:cNvPr id="1525" name="Rectangle 1524"/>
          <p:cNvSpPr/>
          <p:nvPr/>
        </p:nvSpPr>
        <p:spPr>
          <a:xfrm>
            <a:off x="457200" y="10149840"/>
            <a:ext cx="3319272" cy="1344168"/>
          </a:xfrm>
          <a:prstGeom prst="rect">
            <a:avLst/>
          </a:prstGeom>
          <a:solidFill>
            <a:srgbClr val="FFFFFF"/>
          </a:solidFill>
          <a:ln w="9144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6" name="TextBox 1525"/>
          <p:cNvSpPr txBox="1"/>
          <p:nvPr/>
        </p:nvSpPr>
        <p:spPr>
          <a:xfrm>
            <a:off x="-7955279" y="10222992"/>
            <a:ext cx="20116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39">
                <a:solidFill>
                  <a:srgbClr val="202020"/>
                </a:solidFill>
                <a:latin typeface="DejaVu Sans"/>
              </a:rPr>
              <a:t>Compute Tray 12</a:t>
            </a:r>
          </a:p>
        </p:txBody>
      </p:sp>
      <p:sp>
        <p:nvSpPr>
          <p:cNvPr id="1527" name="Rectangle 1526"/>
          <p:cNvSpPr/>
          <p:nvPr/>
        </p:nvSpPr>
        <p:spPr>
          <a:xfrm>
            <a:off x="521207" y="10629900"/>
            <a:ext cx="694944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8" name="TextBox 1527"/>
          <p:cNvSpPr txBox="1"/>
          <p:nvPr/>
        </p:nvSpPr>
        <p:spPr>
          <a:xfrm>
            <a:off x="-9189720" y="1070305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1529" name="TextBox 1528"/>
          <p:cNvSpPr txBox="1"/>
          <p:nvPr/>
        </p:nvSpPr>
        <p:spPr>
          <a:xfrm>
            <a:off x="-9189720" y="1088593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r48</a:t>
            </a:r>
          </a:p>
        </p:txBody>
      </p:sp>
      <p:sp>
        <p:nvSpPr>
          <p:cNvPr id="1530" name="Rectangle 1529"/>
          <p:cNvSpPr/>
          <p:nvPr/>
        </p:nvSpPr>
        <p:spPr>
          <a:xfrm>
            <a:off x="1325880" y="10629900"/>
            <a:ext cx="694944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1" name="TextBox 1530"/>
          <p:cNvSpPr txBox="1"/>
          <p:nvPr/>
        </p:nvSpPr>
        <p:spPr>
          <a:xfrm>
            <a:off x="-8385048" y="1070305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1532" name="TextBox 1531"/>
          <p:cNvSpPr txBox="1"/>
          <p:nvPr/>
        </p:nvSpPr>
        <p:spPr>
          <a:xfrm>
            <a:off x="-8385048" y="1088593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r49</a:t>
            </a:r>
          </a:p>
        </p:txBody>
      </p:sp>
      <p:sp>
        <p:nvSpPr>
          <p:cNvPr id="1533" name="Rectangle 1532"/>
          <p:cNvSpPr/>
          <p:nvPr/>
        </p:nvSpPr>
        <p:spPr>
          <a:xfrm>
            <a:off x="2130552" y="10629900"/>
            <a:ext cx="694944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4" name="TextBox 1533"/>
          <p:cNvSpPr txBox="1"/>
          <p:nvPr/>
        </p:nvSpPr>
        <p:spPr>
          <a:xfrm>
            <a:off x="-7580375" y="1070305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1535" name="TextBox 1534"/>
          <p:cNvSpPr txBox="1"/>
          <p:nvPr/>
        </p:nvSpPr>
        <p:spPr>
          <a:xfrm>
            <a:off x="-7580375" y="1088593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r50</a:t>
            </a:r>
          </a:p>
        </p:txBody>
      </p:sp>
      <p:sp>
        <p:nvSpPr>
          <p:cNvPr id="1536" name="Rectangle 1535"/>
          <p:cNvSpPr/>
          <p:nvPr/>
        </p:nvSpPr>
        <p:spPr>
          <a:xfrm>
            <a:off x="2935224" y="10629900"/>
            <a:ext cx="694944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" name="TextBox 1536"/>
          <p:cNvSpPr txBox="1"/>
          <p:nvPr/>
        </p:nvSpPr>
        <p:spPr>
          <a:xfrm>
            <a:off x="-6775704" y="1070305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1538" name="TextBox 1537"/>
          <p:cNvSpPr txBox="1"/>
          <p:nvPr/>
        </p:nvSpPr>
        <p:spPr>
          <a:xfrm>
            <a:off x="-6775704" y="1088593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r51</a:t>
            </a:r>
          </a:p>
        </p:txBody>
      </p:sp>
      <p:sp>
        <p:nvSpPr>
          <p:cNvPr id="1539" name="Rectangle 1538"/>
          <p:cNvSpPr/>
          <p:nvPr/>
        </p:nvSpPr>
        <p:spPr>
          <a:xfrm>
            <a:off x="4023360" y="10149840"/>
            <a:ext cx="3319272" cy="1344168"/>
          </a:xfrm>
          <a:prstGeom prst="rect">
            <a:avLst/>
          </a:prstGeom>
          <a:solidFill>
            <a:srgbClr val="FFFFFF"/>
          </a:solidFill>
          <a:ln w="9144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" name="TextBox 1539"/>
          <p:cNvSpPr txBox="1"/>
          <p:nvPr/>
        </p:nvSpPr>
        <p:spPr>
          <a:xfrm>
            <a:off x="-4389120" y="10222992"/>
            <a:ext cx="20116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39">
                <a:solidFill>
                  <a:srgbClr val="202020"/>
                </a:solidFill>
                <a:latin typeface="DejaVu Sans"/>
              </a:rPr>
              <a:t>Compute Tray 13</a:t>
            </a:r>
          </a:p>
        </p:txBody>
      </p:sp>
      <p:sp>
        <p:nvSpPr>
          <p:cNvPr id="1541" name="Rectangle 1540"/>
          <p:cNvSpPr/>
          <p:nvPr/>
        </p:nvSpPr>
        <p:spPr>
          <a:xfrm>
            <a:off x="4087368" y="10629900"/>
            <a:ext cx="694944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2" name="TextBox 1541"/>
          <p:cNvSpPr txBox="1"/>
          <p:nvPr/>
        </p:nvSpPr>
        <p:spPr>
          <a:xfrm>
            <a:off x="-5623560" y="1070305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1543" name="TextBox 1542"/>
          <p:cNvSpPr txBox="1"/>
          <p:nvPr/>
        </p:nvSpPr>
        <p:spPr>
          <a:xfrm>
            <a:off x="-5623560" y="1088593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r52</a:t>
            </a:r>
          </a:p>
        </p:txBody>
      </p:sp>
      <p:sp>
        <p:nvSpPr>
          <p:cNvPr id="1544" name="Rectangle 1543"/>
          <p:cNvSpPr/>
          <p:nvPr/>
        </p:nvSpPr>
        <p:spPr>
          <a:xfrm>
            <a:off x="4892040" y="10629900"/>
            <a:ext cx="694944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5" name="TextBox 1544"/>
          <p:cNvSpPr txBox="1"/>
          <p:nvPr/>
        </p:nvSpPr>
        <p:spPr>
          <a:xfrm>
            <a:off x="-4818888" y="1070305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1546" name="TextBox 1545"/>
          <p:cNvSpPr txBox="1"/>
          <p:nvPr/>
        </p:nvSpPr>
        <p:spPr>
          <a:xfrm>
            <a:off x="-4818888" y="1088593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r53</a:t>
            </a:r>
          </a:p>
        </p:txBody>
      </p:sp>
      <p:sp>
        <p:nvSpPr>
          <p:cNvPr id="1547" name="Rectangle 1546"/>
          <p:cNvSpPr/>
          <p:nvPr/>
        </p:nvSpPr>
        <p:spPr>
          <a:xfrm>
            <a:off x="5696712" y="10629900"/>
            <a:ext cx="694944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8" name="TextBox 1547"/>
          <p:cNvSpPr txBox="1"/>
          <p:nvPr/>
        </p:nvSpPr>
        <p:spPr>
          <a:xfrm>
            <a:off x="-4014215" y="1070305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1549" name="TextBox 1548"/>
          <p:cNvSpPr txBox="1"/>
          <p:nvPr/>
        </p:nvSpPr>
        <p:spPr>
          <a:xfrm>
            <a:off x="-4014215" y="1088593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r54</a:t>
            </a:r>
          </a:p>
        </p:txBody>
      </p:sp>
      <p:sp>
        <p:nvSpPr>
          <p:cNvPr id="1550" name="Rectangle 1549"/>
          <p:cNvSpPr/>
          <p:nvPr/>
        </p:nvSpPr>
        <p:spPr>
          <a:xfrm>
            <a:off x="6501384" y="10629900"/>
            <a:ext cx="694944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1" name="TextBox 1550"/>
          <p:cNvSpPr txBox="1"/>
          <p:nvPr/>
        </p:nvSpPr>
        <p:spPr>
          <a:xfrm>
            <a:off x="-3209544" y="1070305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1552" name="TextBox 1551"/>
          <p:cNvSpPr txBox="1"/>
          <p:nvPr/>
        </p:nvSpPr>
        <p:spPr>
          <a:xfrm>
            <a:off x="-3209544" y="1088593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r55</a:t>
            </a:r>
          </a:p>
        </p:txBody>
      </p:sp>
      <p:sp>
        <p:nvSpPr>
          <p:cNvPr id="1553" name="Rectangle 1552"/>
          <p:cNvSpPr/>
          <p:nvPr/>
        </p:nvSpPr>
        <p:spPr>
          <a:xfrm>
            <a:off x="7589520" y="10149840"/>
            <a:ext cx="3319272" cy="1344168"/>
          </a:xfrm>
          <a:prstGeom prst="rect">
            <a:avLst/>
          </a:prstGeom>
          <a:solidFill>
            <a:srgbClr val="FFFFFF"/>
          </a:solidFill>
          <a:ln w="9144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4" name="TextBox 1553"/>
          <p:cNvSpPr txBox="1"/>
          <p:nvPr/>
        </p:nvSpPr>
        <p:spPr>
          <a:xfrm>
            <a:off x="-822960" y="10222992"/>
            <a:ext cx="20116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39">
                <a:solidFill>
                  <a:srgbClr val="202020"/>
                </a:solidFill>
                <a:latin typeface="DejaVu Sans"/>
              </a:rPr>
              <a:t>Compute Tray 14</a:t>
            </a:r>
          </a:p>
        </p:txBody>
      </p:sp>
      <p:sp>
        <p:nvSpPr>
          <p:cNvPr id="1555" name="Rectangle 1554"/>
          <p:cNvSpPr/>
          <p:nvPr/>
        </p:nvSpPr>
        <p:spPr>
          <a:xfrm>
            <a:off x="7653527" y="10629900"/>
            <a:ext cx="694944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6" name="TextBox 1555"/>
          <p:cNvSpPr txBox="1"/>
          <p:nvPr/>
        </p:nvSpPr>
        <p:spPr>
          <a:xfrm>
            <a:off x="-2057400" y="1070305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1557" name="TextBox 1556"/>
          <p:cNvSpPr txBox="1"/>
          <p:nvPr/>
        </p:nvSpPr>
        <p:spPr>
          <a:xfrm>
            <a:off x="-2057400" y="1088593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r56</a:t>
            </a:r>
          </a:p>
        </p:txBody>
      </p:sp>
      <p:sp>
        <p:nvSpPr>
          <p:cNvPr id="1558" name="Rectangle 1557"/>
          <p:cNvSpPr/>
          <p:nvPr/>
        </p:nvSpPr>
        <p:spPr>
          <a:xfrm>
            <a:off x="8458200" y="10629900"/>
            <a:ext cx="694944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9" name="TextBox 1558"/>
          <p:cNvSpPr txBox="1"/>
          <p:nvPr/>
        </p:nvSpPr>
        <p:spPr>
          <a:xfrm>
            <a:off x="-1252728" y="1070305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1560" name="TextBox 1559"/>
          <p:cNvSpPr txBox="1"/>
          <p:nvPr/>
        </p:nvSpPr>
        <p:spPr>
          <a:xfrm>
            <a:off x="-1252728" y="1088593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r57</a:t>
            </a:r>
          </a:p>
        </p:txBody>
      </p:sp>
      <p:sp>
        <p:nvSpPr>
          <p:cNvPr id="1561" name="Rectangle 1560"/>
          <p:cNvSpPr/>
          <p:nvPr/>
        </p:nvSpPr>
        <p:spPr>
          <a:xfrm>
            <a:off x="9262872" y="10629900"/>
            <a:ext cx="694944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2" name="TextBox 1561"/>
          <p:cNvSpPr txBox="1"/>
          <p:nvPr/>
        </p:nvSpPr>
        <p:spPr>
          <a:xfrm>
            <a:off x="-448056" y="1070305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1563" name="TextBox 1562"/>
          <p:cNvSpPr txBox="1"/>
          <p:nvPr/>
        </p:nvSpPr>
        <p:spPr>
          <a:xfrm>
            <a:off x="-448056" y="1088593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r58</a:t>
            </a:r>
          </a:p>
        </p:txBody>
      </p:sp>
      <p:sp>
        <p:nvSpPr>
          <p:cNvPr id="1564" name="Rectangle 1563"/>
          <p:cNvSpPr/>
          <p:nvPr/>
        </p:nvSpPr>
        <p:spPr>
          <a:xfrm>
            <a:off x="10067544" y="10629900"/>
            <a:ext cx="694944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5" name="TextBox 1564"/>
          <p:cNvSpPr txBox="1"/>
          <p:nvPr/>
        </p:nvSpPr>
        <p:spPr>
          <a:xfrm>
            <a:off x="356616" y="1070305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1566" name="TextBox 1565"/>
          <p:cNvSpPr txBox="1"/>
          <p:nvPr/>
        </p:nvSpPr>
        <p:spPr>
          <a:xfrm>
            <a:off x="356616" y="1088593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r59</a:t>
            </a:r>
          </a:p>
        </p:txBody>
      </p:sp>
      <p:sp>
        <p:nvSpPr>
          <p:cNvPr id="1567" name="Rectangle 1566"/>
          <p:cNvSpPr/>
          <p:nvPr/>
        </p:nvSpPr>
        <p:spPr>
          <a:xfrm>
            <a:off x="11155680" y="10149840"/>
            <a:ext cx="3319272" cy="1344168"/>
          </a:xfrm>
          <a:prstGeom prst="rect">
            <a:avLst/>
          </a:prstGeom>
          <a:solidFill>
            <a:srgbClr val="FFFFFF"/>
          </a:solidFill>
          <a:ln w="9144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8" name="TextBox 1567"/>
          <p:cNvSpPr txBox="1"/>
          <p:nvPr/>
        </p:nvSpPr>
        <p:spPr>
          <a:xfrm>
            <a:off x="2743200" y="10222992"/>
            <a:ext cx="20116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39">
                <a:solidFill>
                  <a:srgbClr val="202020"/>
                </a:solidFill>
                <a:latin typeface="DejaVu Sans"/>
              </a:rPr>
              <a:t>Compute Tray 15</a:t>
            </a:r>
          </a:p>
        </p:txBody>
      </p:sp>
      <p:sp>
        <p:nvSpPr>
          <p:cNvPr id="1569" name="Rectangle 1568"/>
          <p:cNvSpPr/>
          <p:nvPr/>
        </p:nvSpPr>
        <p:spPr>
          <a:xfrm>
            <a:off x="11219688" y="10629900"/>
            <a:ext cx="694944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0" name="TextBox 1569"/>
          <p:cNvSpPr txBox="1"/>
          <p:nvPr/>
        </p:nvSpPr>
        <p:spPr>
          <a:xfrm>
            <a:off x="1508760" y="1070305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1571" name="TextBox 1570"/>
          <p:cNvSpPr txBox="1"/>
          <p:nvPr/>
        </p:nvSpPr>
        <p:spPr>
          <a:xfrm>
            <a:off x="1508760" y="1088593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r60</a:t>
            </a:r>
          </a:p>
        </p:txBody>
      </p:sp>
      <p:sp>
        <p:nvSpPr>
          <p:cNvPr id="1572" name="Rectangle 1571"/>
          <p:cNvSpPr/>
          <p:nvPr/>
        </p:nvSpPr>
        <p:spPr>
          <a:xfrm>
            <a:off x="12024360" y="10629900"/>
            <a:ext cx="694944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3" name="TextBox 1572"/>
          <p:cNvSpPr txBox="1"/>
          <p:nvPr/>
        </p:nvSpPr>
        <p:spPr>
          <a:xfrm>
            <a:off x="2313432" y="1070305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1574" name="TextBox 1573"/>
          <p:cNvSpPr txBox="1"/>
          <p:nvPr/>
        </p:nvSpPr>
        <p:spPr>
          <a:xfrm>
            <a:off x="2313432" y="1088593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r61</a:t>
            </a:r>
          </a:p>
        </p:txBody>
      </p:sp>
      <p:sp>
        <p:nvSpPr>
          <p:cNvPr id="1575" name="Rectangle 1574"/>
          <p:cNvSpPr/>
          <p:nvPr/>
        </p:nvSpPr>
        <p:spPr>
          <a:xfrm>
            <a:off x="12829032" y="10629900"/>
            <a:ext cx="694944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6" name="TextBox 1575"/>
          <p:cNvSpPr txBox="1"/>
          <p:nvPr/>
        </p:nvSpPr>
        <p:spPr>
          <a:xfrm>
            <a:off x="3118104" y="1070305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1577" name="TextBox 1576"/>
          <p:cNvSpPr txBox="1"/>
          <p:nvPr/>
        </p:nvSpPr>
        <p:spPr>
          <a:xfrm>
            <a:off x="3118104" y="1088593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r62</a:t>
            </a:r>
          </a:p>
        </p:txBody>
      </p:sp>
      <p:sp>
        <p:nvSpPr>
          <p:cNvPr id="1578" name="Rectangle 1577"/>
          <p:cNvSpPr/>
          <p:nvPr/>
        </p:nvSpPr>
        <p:spPr>
          <a:xfrm>
            <a:off x="13633704" y="10629900"/>
            <a:ext cx="694944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9" name="TextBox 1578"/>
          <p:cNvSpPr txBox="1"/>
          <p:nvPr/>
        </p:nvSpPr>
        <p:spPr>
          <a:xfrm>
            <a:off x="3922776" y="1070305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1580" name="TextBox 1579"/>
          <p:cNvSpPr txBox="1"/>
          <p:nvPr/>
        </p:nvSpPr>
        <p:spPr>
          <a:xfrm>
            <a:off x="3922776" y="1088593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r63</a:t>
            </a:r>
          </a:p>
        </p:txBody>
      </p:sp>
      <p:sp>
        <p:nvSpPr>
          <p:cNvPr id="1581" name="Rectangle 1580"/>
          <p:cNvSpPr/>
          <p:nvPr/>
        </p:nvSpPr>
        <p:spPr>
          <a:xfrm>
            <a:off x="14721840" y="10149840"/>
            <a:ext cx="3319272" cy="1344168"/>
          </a:xfrm>
          <a:prstGeom prst="rect">
            <a:avLst/>
          </a:prstGeom>
          <a:solidFill>
            <a:srgbClr val="FFFFFF"/>
          </a:solidFill>
          <a:ln w="9144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2" name="TextBox 1581"/>
          <p:cNvSpPr txBox="1"/>
          <p:nvPr/>
        </p:nvSpPr>
        <p:spPr>
          <a:xfrm>
            <a:off x="6309360" y="10222992"/>
            <a:ext cx="20116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39">
                <a:solidFill>
                  <a:srgbClr val="202020"/>
                </a:solidFill>
                <a:latin typeface="DejaVu Sans"/>
              </a:rPr>
              <a:t>Compute Tray 16</a:t>
            </a:r>
          </a:p>
        </p:txBody>
      </p:sp>
      <p:sp>
        <p:nvSpPr>
          <p:cNvPr id="1583" name="Rectangle 1582"/>
          <p:cNvSpPr/>
          <p:nvPr/>
        </p:nvSpPr>
        <p:spPr>
          <a:xfrm>
            <a:off x="14785848" y="10629900"/>
            <a:ext cx="694944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4" name="TextBox 1583"/>
          <p:cNvSpPr txBox="1"/>
          <p:nvPr/>
        </p:nvSpPr>
        <p:spPr>
          <a:xfrm>
            <a:off x="5074920" y="1070305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1585" name="TextBox 1584"/>
          <p:cNvSpPr txBox="1"/>
          <p:nvPr/>
        </p:nvSpPr>
        <p:spPr>
          <a:xfrm>
            <a:off x="5074920" y="1088593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r64</a:t>
            </a:r>
          </a:p>
        </p:txBody>
      </p:sp>
      <p:sp>
        <p:nvSpPr>
          <p:cNvPr id="1586" name="Rectangle 1585"/>
          <p:cNvSpPr/>
          <p:nvPr/>
        </p:nvSpPr>
        <p:spPr>
          <a:xfrm>
            <a:off x="15590520" y="10629900"/>
            <a:ext cx="694944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7" name="TextBox 1586"/>
          <p:cNvSpPr txBox="1"/>
          <p:nvPr/>
        </p:nvSpPr>
        <p:spPr>
          <a:xfrm>
            <a:off x="5879592" y="1070305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1588" name="TextBox 1587"/>
          <p:cNvSpPr txBox="1"/>
          <p:nvPr/>
        </p:nvSpPr>
        <p:spPr>
          <a:xfrm>
            <a:off x="5879592" y="1088593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r65</a:t>
            </a:r>
          </a:p>
        </p:txBody>
      </p:sp>
      <p:sp>
        <p:nvSpPr>
          <p:cNvPr id="1589" name="Rectangle 1588"/>
          <p:cNvSpPr/>
          <p:nvPr/>
        </p:nvSpPr>
        <p:spPr>
          <a:xfrm>
            <a:off x="16395192" y="10629900"/>
            <a:ext cx="694944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0" name="TextBox 1589"/>
          <p:cNvSpPr txBox="1"/>
          <p:nvPr/>
        </p:nvSpPr>
        <p:spPr>
          <a:xfrm>
            <a:off x="6684264" y="1070305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1591" name="TextBox 1590"/>
          <p:cNvSpPr txBox="1"/>
          <p:nvPr/>
        </p:nvSpPr>
        <p:spPr>
          <a:xfrm>
            <a:off x="6684264" y="1088593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r66</a:t>
            </a:r>
          </a:p>
        </p:txBody>
      </p:sp>
      <p:sp>
        <p:nvSpPr>
          <p:cNvPr id="1592" name="Rectangle 1591"/>
          <p:cNvSpPr/>
          <p:nvPr/>
        </p:nvSpPr>
        <p:spPr>
          <a:xfrm>
            <a:off x="17199864" y="10629900"/>
            <a:ext cx="694944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3" name="TextBox 1592"/>
          <p:cNvSpPr txBox="1"/>
          <p:nvPr/>
        </p:nvSpPr>
        <p:spPr>
          <a:xfrm>
            <a:off x="7488936" y="1070305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1594" name="TextBox 1593"/>
          <p:cNvSpPr txBox="1"/>
          <p:nvPr/>
        </p:nvSpPr>
        <p:spPr>
          <a:xfrm>
            <a:off x="7488936" y="1088593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r67</a:t>
            </a:r>
          </a:p>
        </p:txBody>
      </p:sp>
      <p:sp>
        <p:nvSpPr>
          <p:cNvPr id="1595" name="Rectangle 1594"/>
          <p:cNvSpPr/>
          <p:nvPr/>
        </p:nvSpPr>
        <p:spPr>
          <a:xfrm>
            <a:off x="18288000" y="10149840"/>
            <a:ext cx="3319272" cy="1344168"/>
          </a:xfrm>
          <a:prstGeom prst="rect">
            <a:avLst/>
          </a:prstGeom>
          <a:solidFill>
            <a:srgbClr val="FFFFFF"/>
          </a:solidFill>
          <a:ln w="9144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6" name="TextBox 1595"/>
          <p:cNvSpPr txBox="1"/>
          <p:nvPr/>
        </p:nvSpPr>
        <p:spPr>
          <a:xfrm>
            <a:off x="9875520" y="10222992"/>
            <a:ext cx="20116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39">
                <a:solidFill>
                  <a:srgbClr val="202020"/>
                </a:solidFill>
                <a:latin typeface="DejaVu Sans"/>
              </a:rPr>
              <a:t>Compute Tray 17</a:t>
            </a:r>
          </a:p>
        </p:txBody>
      </p:sp>
      <p:sp>
        <p:nvSpPr>
          <p:cNvPr id="1597" name="Rectangle 1596"/>
          <p:cNvSpPr/>
          <p:nvPr/>
        </p:nvSpPr>
        <p:spPr>
          <a:xfrm>
            <a:off x="18352008" y="10629900"/>
            <a:ext cx="694944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8" name="TextBox 1597"/>
          <p:cNvSpPr txBox="1"/>
          <p:nvPr/>
        </p:nvSpPr>
        <p:spPr>
          <a:xfrm>
            <a:off x="8641080" y="1070305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1599" name="TextBox 1598"/>
          <p:cNvSpPr txBox="1"/>
          <p:nvPr/>
        </p:nvSpPr>
        <p:spPr>
          <a:xfrm>
            <a:off x="8641080" y="1088593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r68</a:t>
            </a:r>
          </a:p>
        </p:txBody>
      </p:sp>
      <p:sp>
        <p:nvSpPr>
          <p:cNvPr id="1600" name="Rectangle 1599"/>
          <p:cNvSpPr/>
          <p:nvPr/>
        </p:nvSpPr>
        <p:spPr>
          <a:xfrm>
            <a:off x="19156680" y="10629900"/>
            <a:ext cx="694944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1" name="TextBox 1600"/>
          <p:cNvSpPr txBox="1"/>
          <p:nvPr/>
        </p:nvSpPr>
        <p:spPr>
          <a:xfrm>
            <a:off x="9445752" y="1070305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1602" name="TextBox 1601"/>
          <p:cNvSpPr txBox="1"/>
          <p:nvPr/>
        </p:nvSpPr>
        <p:spPr>
          <a:xfrm>
            <a:off x="9445752" y="1088593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r69</a:t>
            </a:r>
          </a:p>
        </p:txBody>
      </p:sp>
      <p:sp>
        <p:nvSpPr>
          <p:cNvPr id="1603" name="Rectangle 1602"/>
          <p:cNvSpPr/>
          <p:nvPr/>
        </p:nvSpPr>
        <p:spPr>
          <a:xfrm>
            <a:off x="19961352" y="10629900"/>
            <a:ext cx="694944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4" name="TextBox 1603"/>
          <p:cNvSpPr txBox="1"/>
          <p:nvPr/>
        </p:nvSpPr>
        <p:spPr>
          <a:xfrm>
            <a:off x="10250424" y="1070305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1605" name="TextBox 1604"/>
          <p:cNvSpPr txBox="1"/>
          <p:nvPr/>
        </p:nvSpPr>
        <p:spPr>
          <a:xfrm>
            <a:off x="10250424" y="1088593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r70</a:t>
            </a:r>
          </a:p>
        </p:txBody>
      </p:sp>
      <p:sp>
        <p:nvSpPr>
          <p:cNvPr id="1606" name="Rectangle 1605"/>
          <p:cNvSpPr/>
          <p:nvPr/>
        </p:nvSpPr>
        <p:spPr>
          <a:xfrm>
            <a:off x="20766024" y="10629900"/>
            <a:ext cx="694944" cy="50292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7" name="TextBox 1606"/>
          <p:cNvSpPr txBox="1"/>
          <p:nvPr/>
        </p:nvSpPr>
        <p:spPr>
          <a:xfrm>
            <a:off x="11055096" y="1070305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1608" name="TextBox 1607"/>
          <p:cNvSpPr txBox="1"/>
          <p:nvPr/>
        </p:nvSpPr>
        <p:spPr>
          <a:xfrm>
            <a:off x="11055096" y="1088593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r71</a:t>
            </a:r>
          </a:p>
        </p:txBody>
      </p:sp>
      <p:sp>
        <p:nvSpPr>
          <p:cNvPr id="1609" name="TextBox 1608"/>
          <p:cNvSpPr txBox="1"/>
          <p:nvPr/>
        </p:nvSpPr>
        <p:spPr>
          <a:xfrm>
            <a:off x="914400" y="12115800"/>
            <a:ext cx="20116800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655">
                <a:solidFill>
                  <a:srgbClr val="202020"/>
                </a:solidFill>
                <a:latin typeface="DejaVu Sans"/>
              </a:rPr>
              <a:t>No direct GPU-GPU mesh edges, no NVSwitch-NVSwitch links, and no NVLink links between the two racks.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21396960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79">
                <a:solidFill>
                  <a:srgbClr val="202020"/>
                </a:solidFill>
                <a:latin typeface="DejaVu Sans"/>
              </a:rPr>
              <a:t>Compute Tray 0: 4 GPUs, 4 NICs, 4 separate rails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2139696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28">
                <a:solidFill>
                  <a:srgbClr val="202020"/>
                </a:solidFill>
                <a:latin typeface="DejaVu Sans"/>
              </a:rPr>
              <a:t>GPU slot j uses rail j. The GPU-NIC-Leaf path is one logical edge in the input, with 400 Gb/s capacity.</a:t>
            </a:r>
          </a:p>
        </p:txBody>
      </p:sp>
      <p:cxnSp>
        <p:nvCxnSpPr>
          <p:cNvPr id="4" name="Connector 3"/>
          <p:cNvCxnSpPr/>
          <p:nvPr/>
        </p:nvCxnSpPr>
        <p:spPr>
          <a:xfrm flipV="1">
            <a:off x="3291840" y="2468880"/>
            <a:ext cx="0" cy="5303520"/>
          </a:xfrm>
          <a:prstGeom prst="line">
            <a:avLst/>
          </a:prstGeom>
          <a:ln w="36576">
            <a:solidFill>
              <a:srgbClr val="267A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1014984" y="8595360"/>
            <a:ext cx="2276856" cy="2011680"/>
          </a:xfrm>
          <a:prstGeom prst="line">
            <a:avLst/>
          </a:prstGeom>
          <a:ln w="27432">
            <a:solidFill>
              <a:srgbClr val="D64B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2185416" y="8595360"/>
            <a:ext cx="1106424" cy="2011680"/>
          </a:xfrm>
          <a:prstGeom prst="line">
            <a:avLst/>
          </a:prstGeom>
          <a:ln w="27432">
            <a:solidFill>
              <a:srgbClr val="D64B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291840" y="8595360"/>
            <a:ext cx="64008" cy="2011680"/>
          </a:xfrm>
          <a:prstGeom prst="line">
            <a:avLst/>
          </a:prstGeom>
          <a:ln w="27432">
            <a:solidFill>
              <a:srgbClr val="D64B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91840" y="8595360"/>
            <a:ext cx="1234440" cy="2011680"/>
          </a:xfrm>
          <a:prstGeom prst="line">
            <a:avLst/>
          </a:prstGeom>
          <a:ln w="27432">
            <a:solidFill>
              <a:srgbClr val="D64B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91840" y="8595360"/>
            <a:ext cx="2404872" cy="2011680"/>
          </a:xfrm>
          <a:prstGeom prst="line">
            <a:avLst/>
          </a:prstGeom>
          <a:ln w="27432">
            <a:solidFill>
              <a:srgbClr val="D64B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91840" y="8595360"/>
            <a:ext cx="3575304" cy="2011680"/>
          </a:xfrm>
          <a:prstGeom prst="line">
            <a:avLst/>
          </a:prstGeom>
          <a:ln w="27432">
            <a:solidFill>
              <a:srgbClr val="D64B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91840" y="8595360"/>
            <a:ext cx="4745735" cy="2011680"/>
          </a:xfrm>
          <a:prstGeom prst="line">
            <a:avLst/>
          </a:prstGeom>
          <a:ln w="27432">
            <a:solidFill>
              <a:srgbClr val="D64B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91840" y="8595360"/>
            <a:ext cx="5916168" cy="2011680"/>
          </a:xfrm>
          <a:prstGeom prst="line">
            <a:avLst/>
          </a:prstGeom>
          <a:ln w="27432">
            <a:solidFill>
              <a:srgbClr val="D64B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91840" y="8595360"/>
            <a:ext cx="7086600" cy="2011680"/>
          </a:xfrm>
          <a:prstGeom prst="line">
            <a:avLst/>
          </a:prstGeom>
          <a:ln w="27432">
            <a:solidFill>
              <a:srgbClr val="D64B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291840" y="8595360"/>
            <a:ext cx="8257032" cy="2011680"/>
          </a:xfrm>
          <a:prstGeom prst="line">
            <a:avLst/>
          </a:prstGeom>
          <a:ln w="27432">
            <a:solidFill>
              <a:srgbClr val="D64B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291840" y="8595360"/>
            <a:ext cx="9427464" cy="2011680"/>
          </a:xfrm>
          <a:prstGeom prst="line">
            <a:avLst/>
          </a:prstGeom>
          <a:ln w="27432">
            <a:solidFill>
              <a:srgbClr val="D64B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291840" y="8595360"/>
            <a:ext cx="10597896" cy="2011680"/>
          </a:xfrm>
          <a:prstGeom prst="line">
            <a:avLst/>
          </a:prstGeom>
          <a:ln w="27432">
            <a:solidFill>
              <a:srgbClr val="D64B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291840" y="8595360"/>
            <a:ext cx="11768327" cy="2011680"/>
          </a:xfrm>
          <a:prstGeom prst="line">
            <a:avLst/>
          </a:prstGeom>
          <a:ln w="27432">
            <a:solidFill>
              <a:srgbClr val="D64B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291840" y="8595360"/>
            <a:ext cx="12938760" cy="2011680"/>
          </a:xfrm>
          <a:prstGeom prst="line">
            <a:avLst/>
          </a:prstGeom>
          <a:ln w="27432">
            <a:solidFill>
              <a:srgbClr val="D64B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291840" y="8595360"/>
            <a:ext cx="14109192" cy="2011680"/>
          </a:xfrm>
          <a:prstGeom prst="line">
            <a:avLst/>
          </a:prstGeom>
          <a:ln w="27432">
            <a:solidFill>
              <a:srgbClr val="D64B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291840" y="8595360"/>
            <a:ext cx="15279624" cy="2011680"/>
          </a:xfrm>
          <a:prstGeom prst="line">
            <a:avLst/>
          </a:prstGeom>
          <a:ln w="27432">
            <a:solidFill>
              <a:srgbClr val="D64B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291840" y="8595360"/>
            <a:ext cx="16450056" cy="2011680"/>
          </a:xfrm>
          <a:prstGeom prst="line">
            <a:avLst/>
          </a:prstGeom>
          <a:ln w="27432">
            <a:solidFill>
              <a:srgbClr val="D64B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291840" y="8595360"/>
            <a:ext cx="17620488" cy="2011680"/>
          </a:xfrm>
          <a:prstGeom prst="line">
            <a:avLst/>
          </a:prstGeom>
          <a:ln w="27432">
            <a:solidFill>
              <a:srgbClr val="D64B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8412480" y="2468880"/>
            <a:ext cx="0" cy="5303520"/>
          </a:xfrm>
          <a:prstGeom prst="line">
            <a:avLst/>
          </a:prstGeom>
          <a:ln w="9144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1014984" y="8595360"/>
            <a:ext cx="7397496" cy="2011680"/>
          </a:xfrm>
          <a:prstGeom prst="line">
            <a:avLst/>
          </a:prstGeom>
          <a:ln w="5486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2185416" y="8595360"/>
            <a:ext cx="6227064" cy="2011680"/>
          </a:xfrm>
          <a:prstGeom prst="line">
            <a:avLst/>
          </a:prstGeom>
          <a:ln w="5486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3355848" y="8595360"/>
            <a:ext cx="5056632" cy="2011680"/>
          </a:xfrm>
          <a:prstGeom prst="line">
            <a:avLst/>
          </a:prstGeom>
          <a:ln w="5486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4526280" y="8595360"/>
            <a:ext cx="3886200" cy="2011680"/>
          </a:xfrm>
          <a:prstGeom prst="line">
            <a:avLst/>
          </a:prstGeom>
          <a:ln w="5486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5696712" y="8595360"/>
            <a:ext cx="2715768" cy="2011680"/>
          </a:xfrm>
          <a:prstGeom prst="line">
            <a:avLst/>
          </a:prstGeom>
          <a:ln w="5486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6867144" y="8595360"/>
            <a:ext cx="1545336" cy="2011680"/>
          </a:xfrm>
          <a:prstGeom prst="line">
            <a:avLst/>
          </a:prstGeom>
          <a:ln w="5486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8037575" y="8595360"/>
            <a:ext cx="374905" cy="2011680"/>
          </a:xfrm>
          <a:prstGeom prst="line">
            <a:avLst/>
          </a:prstGeom>
          <a:ln w="5486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412480" y="8595360"/>
            <a:ext cx="795528" cy="2011680"/>
          </a:xfrm>
          <a:prstGeom prst="line">
            <a:avLst/>
          </a:prstGeom>
          <a:ln w="5486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412480" y="8595360"/>
            <a:ext cx="1965960" cy="2011680"/>
          </a:xfrm>
          <a:prstGeom prst="line">
            <a:avLst/>
          </a:prstGeom>
          <a:ln w="5486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412480" y="8595360"/>
            <a:ext cx="3136392" cy="2011680"/>
          </a:xfrm>
          <a:prstGeom prst="line">
            <a:avLst/>
          </a:prstGeom>
          <a:ln w="5486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412480" y="8595360"/>
            <a:ext cx="4306824" cy="2011680"/>
          </a:xfrm>
          <a:prstGeom prst="line">
            <a:avLst/>
          </a:prstGeom>
          <a:ln w="5486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412480" y="8595360"/>
            <a:ext cx="5477256" cy="2011680"/>
          </a:xfrm>
          <a:prstGeom prst="line">
            <a:avLst/>
          </a:prstGeom>
          <a:ln w="5486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412480" y="8595360"/>
            <a:ext cx="6647687" cy="2011680"/>
          </a:xfrm>
          <a:prstGeom prst="line">
            <a:avLst/>
          </a:prstGeom>
          <a:ln w="5486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412480" y="8595360"/>
            <a:ext cx="7818120" cy="2011680"/>
          </a:xfrm>
          <a:prstGeom prst="line">
            <a:avLst/>
          </a:prstGeom>
          <a:ln w="5486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412480" y="8595360"/>
            <a:ext cx="8988552" cy="2011680"/>
          </a:xfrm>
          <a:prstGeom prst="line">
            <a:avLst/>
          </a:prstGeom>
          <a:ln w="5486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412480" y="8595360"/>
            <a:ext cx="10158984" cy="2011680"/>
          </a:xfrm>
          <a:prstGeom prst="line">
            <a:avLst/>
          </a:prstGeom>
          <a:ln w="5486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412480" y="8595360"/>
            <a:ext cx="11329416" cy="2011680"/>
          </a:xfrm>
          <a:prstGeom prst="line">
            <a:avLst/>
          </a:prstGeom>
          <a:ln w="5486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412480" y="8595360"/>
            <a:ext cx="12499848" cy="2011680"/>
          </a:xfrm>
          <a:prstGeom prst="line">
            <a:avLst/>
          </a:prstGeom>
          <a:ln w="5486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13533120" y="2468880"/>
            <a:ext cx="0" cy="5303520"/>
          </a:xfrm>
          <a:prstGeom prst="line">
            <a:avLst/>
          </a:prstGeom>
          <a:ln w="9144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1014984" y="8595360"/>
            <a:ext cx="12518136" cy="2011680"/>
          </a:xfrm>
          <a:prstGeom prst="line">
            <a:avLst/>
          </a:prstGeom>
          <a:ln w="5486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2185416" y="8595360"/>
            <a:ext cx="11347704" cy="2011680"/>
          </a:xfrm>
          <a:prstGeom prst="line">
            <a:avLst/>
          </a:prstGeom>
          <a:ln w="5486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3355848" y="8595360"/>
            <a:ext cx="10177272" cy="2011680"/>
          </a:xfrm>
          <a:prstGeom prst="line">
            <a:avLst/>
          </a:prstGeom>
          <a:ln w="5486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>
            <a:off x="4526280" y="8595360"/>
            <a:ext cx="9006840" cy="2011680"/>
          </a:xfrm>
          <a:prstGeom prst="line">
            <a:avLst/>
          </a:prstGeom>
          <a:ln w="5486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5696712" y="8595360"/>
            <a:ext cx="7836408" cy="2011680"/>
          </a:xfrm>
          <a:prstGeom prst="line">
            <a:avLst/>
          </a:prstGeom>
          <a:ln w="5486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>
            <a:off x="6867144" y="8595360"/>
            <a:ext cx="6665976" cy="2011680"/>
          </a:xfrm>
          <a:prstGeom prst="line">
            <a:avLst/>
          </a:prstGeom>
          <a:ln w="5486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8037575" y="8595360"/>
            <a:ext cx="5495545" cy="2011680"/>
          </a:xfrm>
          <a:prstGeom prst="line">
            <a:avLst/>
          </a:prstGeom>
          <a:ln w="5486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9208008" y="8595360"/>
            <a:ext cx="4325112" cy="2011680"/>
          </a:xfrm>
          <a:prstGeom prst="line">
            <a:avLst/>
          </a:prstGeom>
          <a:ln w="5486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10378440" y="8595360"/>
            <a:ext cx="3154680" cy="2011680"/>
          </a:xfrm>
          <a:prstGeom prst="line">
            <a:avLst/>
          </a:prstGeom>
          <a:ln w="5486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11548872" y="8595360"/>
            <a:ext cx="1984248" cy="2011680"/>
          </a:xfrm>
          <a:prstGeom prst="line">
            <a:avLst/>
          </a:prstGeom>
          <a:ln w="5486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>
            <a:off x="12719304" y="8595360"/>
            <a:ext cx="813816" cy="2011680"/>
          </a:xfrm>
          <a:prstGeom prst="line">
            <a:avLst/>
          </a:prstGeom>
          <a:ln w="5486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3533120" y="8595360"/>
            <a:ext cx="356616" cy="2011680"/>
          </a:xfrm>
          <a:prstGeom prst="line">
            <a:avLst/>
          </a:prstGeom>
          <a:ln w="5486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3533120" y="8595360"/>
            <a:ext cx="1527047" cy="2011680"/>
          </a:xfrm>
          <a:prstGeom prst="line">
            <a:avLst/>
          </a:prstGeom>
          <a:ln w="5486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3533120" y="8595360"/>
            <a:ext cx="2697480" cy="2011680"/>
          </a:xfrm>
          <a:prstGeom prst="line">
            <a:avLst/>
          </a:prstGeom>
          <a:ln w="5486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3533120" y="8595360"/>
            <a:ext cx="3867912" cy="2011680"/>
          </a:xfrm>
          <a:prstGeom prst="line">
            <a:avLst/>
          </a:prstGeom>
          <a:ln w="5486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3533120" y="8595360"/>
            <a:ext cx="5038344" cy="2011680"/>
          </a:xfrm>
          <a:prstGeom prst="line">
            <a:avLst/>
          </a:prstGeom>
          <a:ln w="5486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3533120" y="8595360"/>
            <a:ext cx="6208776" cy="2011680"/>
          </a:xfrm>
          <a:prstGeom prst="line">
            <a:avLst/>
          </a:prstGeom>
          <a:ln w="5486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3533120" y="8595360"/>
            <a:ext cx="7379208" cy="2011680"/>
          </a:xfrm>
          <a:prstGeom prst="line">
            <a:avLst/>
          </a:prstGeom>
          <a:ln w="5486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18653760" y="2468880"/>
            <a:ext cx="0" cy="5303520"/>
          </a:xfrm>
          <a:prstGeom prst="line">
            <a:avLst/>
          </a:prstGeom>
          <a:ln w="9144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>
            <a:off x="1014984" y="8595360"/>
            <a:ext cx="17638776" cy="2011680"/>
          </a:xfrm>
          <a:prstGeom prst="line">
            <a:avLst/>
          </a:prstGeom>
          <a:ln w="5486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>
            <a:off x="2185416" y="8595360"/>
            <a:ext cx="16468344" cy="2011680"/>
          </a:xfrm>
          <a:prstGeom prst="line">
            <a:avLst/>
          </a:prstGeom>
          <a:ln w="5486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>
            <a:off x="3355848" y="8595360"/>
            <a:ext cx="15297912" cy="2011680"/>
          </a:xfrm>
          <a:prstGeom prst="line">
            <a:avLst/>
          </a:prstGeom>
          <a:ln w="5486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>
            <a:off x="4526280" y="8595360"/>
            <a:ext cx="14127480" cy="2011680"/>
          </a:xfrm>
          <a:prstGeom prst="line">
            <a:avLst/>
          </a:prstGeom>
          <a:ln w="5486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H="1">
            <a:off x="5696712" y="8595360"/>
            <a:ext cx="12957048" cy="2011680"/>
          </a:xfrm>
          <a:prstGeom prst="line">
            <a:avLst/>
          </a:prstGeom>
          <a:ln w="5486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>
            <a:off x="6867144" y="8595360"/>
            <a:ext cx="11786616" cy="2011680"/>
          </a:xfrm>
          <a:prstGeom prst="line">
            <a:avLst/>
          </a:prstGeom>
          <a:ln w="5486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>
            <a:off x="8037575" y="8595360"/>
            <a:ext cx="10616185" cy="2011680"/>
          </a:xfrm>
          <a:prstGeom prst="line">
            <a:avLst/>
          </a:prstGeom>
          <a:ln w="5486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>
            <a:off x="9208008" y="8595360"/>
            <a:ext cx="9445752" cy="2011680"/>
          </a:xfrm>
          <a:prstGeom prst="line">
            <a:avLst/>
          </a:prstGeom>
          <a:ln w="5486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H="1">
            <a:off x="10378440" y="8595360"/>
            <a:ext cx="8275320" cy="2011680"/>
          </a:xfrm>
          <a:prstGeom prst="line">
            <a:avLst/>
          </a:prstGeom>
          <a:ln w="5486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>
            <a:off x="11548872" y="8595360"/>
            <a:ext cx="7104888" cy="2011680"/>
          </a:xfrm>
          <a:prstGeom prst="line">
            <a:avLst/>
          </a:prstGeom>
          <a:ln w="5486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H="1">
            <a:off x="12719304" y="8595360"/>
            <a:ext cx="5934456" cy="2011680"/>
          </a:xfrm>
          <a:prstGeom prst="line">
            <a:avLst/>
          </a:prstGeom>
          <a:ln w="5486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H="1">
            <a:off x="13889736" y="8595360"/>
            <a:ext cx="4764024" cy="2011680"/>
          </a:xfrm>
          <a:prstGeom prst="line">
            <a:avLst/>
          </a:prstGeom>
          <a:ln w="5486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H="1">
            <a:off x="15060167" y="8595360"/>
            <a:ext cx="3593593" cy="2011680"/>
          </a:xfrm>
          <a:prstGeom prst="line">
            <a:avLst/>
          </a:prstGeom>
          <a:ln w="5486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H="1">
            <a:off x="16230600" y="8595360"/>
            <a:ext cx="2423160" cy="2011680"/>
          </a:xfrm>
          <a:prstGeom prst="line">
            <a:avLst/>
          </a:prstGeom>
          <a:ln w="5486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H="1">
            <a:off x="17401032" y="8595360"/>
            <a:ext cx="1252728" cy="2011680"/>
          </a:xfrm>
          <a:prstGeom prst="line">
            <a:avLst/>
          </a:prstGeom>
          <a:ln w="5486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H="1">
            <a:off x="18571464" y="8595360"/>
            <a:ext cx="82296" cy="2011680"/>
          </a:xfrm>
          <a:prstGeom prst="line">
            <a:avLst/>
          </a:prstGeom>
          <a:ln w="5486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18653760" y="8595360"/>
            <a:ext cx="1088136" cy="2011680"/>
          </a:xfrm>
          <a:prstGeom prst="line">
            <a:avLst/>
          </a:prstGeom>
          <a:ln w="5486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18653760" y="8595360"/>
            <a:ext cx="2258568" cy="2011680"/>
          </a:xfrm>
          <a:prstGeom prst="line">
            <a:avLst/>
          </a:prstGeom>
          <a:ln w="5486">
            <a:solidFill>
              <a:srgbClr val="D8D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ectangle 79"/>
          <p:cNvSpPr/>
          <p:nvPr/>
        </p:nvSpPr>
        <p:spPr>
          <a:xfrm>
            <a:off x="2148840" y="1691640"/>
            <a:ext cx="2286000" cy="777240"/>
          </a:xfrm>
          <a:prstGeom prst="rect">
            <a:avLst/>
          </a:prstGeom>
          <a:solidFill>
            <a:srgbClr val="B5DC86"/>
          </a:solidFill>
          <a:ln w="18288">
            <a:solidFill>
              <a:srgbClr val="E58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-6766560" y="1764792"/>
            <a:ext cx="20116800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655">
                <a:solidFill>
                  <a:srgbClr val="202020"/>
                </a:solidFill>
                <a:latin typeface="DejaVu Sans"/>
              </a:rPr>
              <a:t>IB Leaf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-6766560" y="2027681"/>
            <a:ext cx="20116800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655">
                <a:solidFill>
                  <a:srgbClr val="202020"/>
                </a:solidFill>
                <a:latin typeface="DejaVu Sans"/>
              </a:rPr>
              <a:t>Leaf-C0-R0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194560" y="4389120"/>
            <a:ext cx="2194560" cy="914400"/>
          </a:xfrm>
          <a:prstGeom prst="rect">
            <a:avLst/>
          </a:prstGeom>
          <a:solidFill>
            <a:srgbClr val="FFF0DA"/>
          </a:solidFill>
          <a:ln w="18288">
            <a:solidFill>
              <a:srgbClr val="E58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-6766560" y="4462272"/>
            <a:ext cx="2011680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728">
                <a:solidFill>
                  <a:srgbClr val="202020"/>
                </a:solidFill>
                <a:latin typeface="DejaVu Sans"/>
              </a:rPr>
              <a:t>ConnectX-7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-6766560" y="4736592"/>
            <a:ext cx="2011680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728">
                <a:solidFill>
                  <a:srgbClr val="202020"/>
                </a:solidFill>
                <a:latin typeface="DejaVu Sans"/>
              </a:rPr>
              <a:t>400 Gb/s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423160" y="7772400"/>
            <a:ext cx="1737360" cy="82296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-6766560" y="7845552"/>
            <a:ext cx="20116800" cy="3703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943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-6766560" y="8154162"/>
            <a:ext cx="20116800" cy="3703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943">
                <a:solidFill>
                  <a:srgbClr val="202020"/>
                </a:solidFill>
                <a:latin typeface="DejaVu Sans"/>
              </a:rPr>
              <a:t>r0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423160" y="7772400"/>
            <a:ext cx="1737360" cy="822960"/>
          </a:xfrm>
          <a:prstGeom prst="rect">
            <a:avLst/>
          </a:prstGeom>
          <a:solidFill>
            <a:srgbClr val="FFE5D8"/>
          </a:solidFill>
          <a:ln w="18288">
            <a:solidFill>
              <a:srgbClr val="D64B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-6766560" y="7845552"/>
            <a:ext cx="20116800" cy="3703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943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-6766560" y="8154162"/>
            <a:ext cx="20116800" cy="3703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943">
                <a:solidFill>
                  <a:srgbClr val="202020"/>
                </a:solidFill>
                <a:latin typeface="DejaVu Sans"/>
              </a:rPr>
              <a:t>r0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371600" y="3337560"/>
            <a:ext cx="3840480" cy="3200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-6766560" y="3383280"/>
            <a:ext cx="20116800" cy="2880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12">
                <a:solidFill>
                  <a:srgbClr val="E58A24"/>
                </a:solidFill>
                <a:latin typeface="DejaVu Sans"/>
              </a:rPr>
              <a:t>50 GB/s per direction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269480" y="1691640"/>
            <a:ext cx="2286000" cy="777240"/>
          </a:xfrm>
          <a:prstGeom prst="rect">
            <a:avLst/>
          </a:prstGeom>
          <a:solidFill>
            <a:srgbClr val="B5DC86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-1645920" y="1764792"/>
            <a:ext cx="20116800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655">
                <a:solidFill>
                  <a:srgbClr val="202020"/>
                </a:solidFill>
                <a:latin typeface="DejaVu Sans"/>
              </a:rPr>
              <a:t>IB Leaf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-1645920" y="2027681"/>
            <a:ext cx="20116800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655">
                <a:solidFill>
                  <a:srgbClr val="202020"/>
                </a:solidFill>
                <a:latin typeface="DejaVu Sans"/>
              </a:rPr>
              <a:t>Leaf-C0-R1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315200" y="4389120"/>
            <a:ext cx="2194560" cy="914400"/>
          </a:xfrm>
          <a:prstGeom prst="rect">
            <a:avLst/>
          </a:prstGeom>
          <a:solidFill>
            <a:srgbClr val="FFF0DA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-1645920" y="4462272"/>
            <a:ext cx="2011680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728">
                <a:solidFill>
                  <a:srgbClr val="202020"/>
                </a:solidFill>
                <a:latin typeface="DejaVu Sans"/>
              </a:rPr>
              <a:t>ConnectX-7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-1645920" y="4736592"/>
            <a:ext cx="2011680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728">
                <a:solidFill>
                  <a:srgbClr val="202020"/>
                </a:solidFill>
                <a:latin typeface="DejaVu Sans"/>
              </a:rPr>
              <a:t>400 Gb/s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543800" y="7772400"/>
            <a:ext cx="1737360" cy="82296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-1645920" y="7845552"/>
            <a:ext cx="20116800" cy="3703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943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-1645920" y="8154162"/>
            <a:ext cx="20116800" cy="3703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943">
                <a:solidFill>
                  <a:srgbClr val="202020"/>
                </a:solidFill>
                <a:latin typeface="DejaVu Sans"/>
              </a:rPr>
              <a:t>r1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492240" y="3337560"/>
            <a:ext cx="3840480" cy="3200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-1645920" y="3383280"/>
            <a:ext cx="20116800" cy="2880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12">
                <a:solidFill>
                  <a:srgbClr val="447AC3"/>
                </a:solidFill>
                <a:latin typeface="DejaVu Sans"/>
              </a:rPr>
              <a:t>50 GB/s per direction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2390120" y="1691640"/>
            <a:ext cx="2286000" cy="777240"/>
          </a:xfrm>
          <a:prstGeom prst="rect">
            <a:avLst/>
          </a:prstGeom>
          <a:solidFill>
            <a:srgbClr val="B5DC86"/>
          </a:solidFill>
          <a:ln w="18288">
            <a:solidFill>
              <a:srgbClr val="268C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474720" y="1764792"/>
            <a:ext cx="20116800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655">
                <a:solidFill>
                  <a:srgbClr val="202020"/>
                </a:solidFill>
                <a:latin typeface="DejaVu Sans"/>
              </a:rPr>
              <a:t>IB Leaf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474720" y="2027681"/>
            <a:ext cx="20116800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655">
                <a:solidFill>
                  <a:srgbClr val="202020"/>
                </a:solidFill>
                <a:latin typeface="DejaVu Sans"/>
              </a:rPr>
              <a:t>Leaf-C0-R2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2435840" y="4389120"/>
            <a:ext cx="2194560" cy="914400"/>
          </a:xfrm>
          <a:prstGeom prst="rect">
            <a:avLst/>
          </a:prstGeom>
          <a:solidFill>
            <a:srgbClr val="FFF0DA"/>
          </a:solidFill>
          <a:ln w="18288">
            <a:solidFill>
              <a:srgbClr val="268C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474720" y="4462272"/>
            <a:ext cx="2011680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728">
                <a:solidFill>
                  <a:srgbClr val="202020"/>
                </a:solidFill>
                <a:latin typeface="DejaVu Sans"/>
              </a:rPr>
              <a:t>ConnectX-7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474720" y="4736592"/>
            <a:ext cx="2011680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728">
                <a:solidFill>
                  <a:srgbClr val="202020"/>
                </a:solidFill>
                <a:latin typeface="DejaVu Sans"/>
              </a:rPr>
              <a:t>400 Gb/s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2664440" y="7772400"/>
            <a:ext cx="1737360" cy="82296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3474720" y="7845552"/>
            <a:ext cx="20116800" cy="3703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943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474720" y="8154162"/>
            <a:ext cx="20116800" cy="3703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943">
                <a:solidFill>
                  <a:srgbClr val="202020"/>
                </a:solidFill>
                <a:latin typeface="DejaVu Sans"/>
              </a:rPr>
              <a:t>r2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1612880" y="3337560"/>
            <a:ext cx="3840480" cy="3200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474720" y="3383280"/>
            <a:ext cx="20116800" cy="2880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12">
                <a:solidFill>
                  <a:srgbClr val="268C68"/>
                </a:solidFill>
                <a:latin typeface="DejaVu Sans"/>
              </a:rPr>
              <a:t>50 GB/s per direction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7510760" y="1691640"/>
            <a:ext cx="2286000" cy="777240"/>
          </a:xfrm>
          <a:prstGeom prst="rect">
            <a:avLst/>
          </a:prstGeom>
          <a:solidFill>
            <a:srgbClr val="B5DC86"/>
          </a:solidFill>
          <a:ln w="18288">
            <a:solidFill>
              <a:srgbClr val="8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8595360" y="1764792"/>
            <a:ext cx="20116800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655">
                <a:solidFill>
                  <a:srgbClr val="202020"/>
                </a:solidFill>
                <a:latin typeface="DejaVu Sans"/>
              </a:rPr>
              <a:t>IB Leaf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595360" y="2027681"/>
            <a:ext cx="20116800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655">
                <a:solidFill>
                  <a:srgbClr val="202020"/>
                </a:solidFill>
                <a:latin typeface="DejaVu Sans"/>
              </a:rPr>
              <a:t>Leaf-C0-R3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7556480" y="4389120"/>
            <a:ext cx="2194560" cy="914400"/>
          </a:xfrm>
          <a:prstGeom prst="rect">
            <a:avLst/>
          </a:prstGeom>
          <a:solidFill>
            <a:srgbClr val="FFF0DA"/>
          </a:solidFill>
          <a:ln w="18288">
            <a:solidFill>
              <a:srgbClr val="8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8595360" y="4462272"/>
            <a:ext cx="2011680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728">
                <a:solidFill>
                  <a:srgbClr val="202020"/>
                </a:solidFill>
                <a:latin typeface="DejaVu Sans"/>
              </a:rPr>
              <a:t>ConnectX-7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595360" y="4736592"/>
            <a:ext cx="2011680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728">
                <a:solidFill>
                  <a:srgbClr val="202020"/>
                </a:solidFill>
                <a:latin typeface="DejaVu Sans"/>
              </a:rPr>
              <a:t>400 Gb/s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7785080" y="7772400"/>
            <a:ext cx="1737360" cy="822960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8595360" y="7845552"/>
            <a:ext cx="20116800" cy="3703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943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595360" y="8154162"/>
            <a:ext cx="20116800" cy="3703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943">
                <a:solidFill>
                  <a:srgbClr val="202020"/>
                </a:solidFill>
                <a:latin typeface="DejaVu Sans"/>
              </a:rPr>
              <a:t>r3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16733520" y="3337560"/>
            <a:ext cx="3840480" cy="3200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8595360" y="3383280"/>
            <a:ext cx="20116800" cy="2880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12">
                <a:solidFill>
                  <a:srgbClr val="8062AC"/>
                </a:solidFill>
                <a:latin typeface="DejaVu Sans"/>
              </a:rPr>
              <a:t>50 GB/s per direction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502920" y="10607040"/>
            <a:ext cx="1033271" cy="658368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-9038844" y="1068019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NVSwitch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-9038844" y="1086307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NV-C0-S0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673352" y="10607040"/>
            <a:ext cx="1033271" cy="658368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-7868412" y="1068019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NVSwitch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-7868412" y="1086307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NV-C0-S1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2843784" y="10607040"/>
            <a:ext cx="1033271" cy="658368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-6697980" y="1068019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NVSwitch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-6697980" y="1086307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NV-C0-S2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4014215" y="10607040"/>
            <a:ext cx="1033271" cy="658368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-5527548" y="1068019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NVSwitch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-5527548" y="1086307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NV-C0-S3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5184648" y="10607040"/>
            <a:ext cx="1033271" cy="658368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-4357116" y="1068019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NVSwitch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-4357116" y="1086307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NV-C0-S4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6355080" y="10607040"/>
            <a:ext cx="1033271" cy="658368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-3186684" y="1068019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NVSwitch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-3186684" y="1086307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NV-C0-S5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7525512" y="10607040"/>
            <a:ext cx="1033271" cy="658368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-2016252" y="1068019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NVSwitch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-2016252" y="1086307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NV-C0-S6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8695944" y="10607040"/>
            <a:ext cx="1033271" cy="658368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-845820" y="1068019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NVSwitch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-845820" y="1086307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NV-C0-S7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9866376" y="10607040"/>
            <a:ext cx="1033271" cy="658368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324612" y="1068019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NVSwitch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324612" y="1086307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NV-C0-S8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11036808" y="10607040"/>
            <a:ext cx="1033271" cy="658368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1495044" y="1068019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NVSwitch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495044" y="1086307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NV-C0-S9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12207240" y="10607040"/>
            <a:ext cx="1033271" cy="658368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2665476" y="1068019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NVSwitch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2665476" y="1086307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NV-C0-S10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13377672" y="10607040"/>
            <a:ext cx="1033271" cy="658368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3835908" y="1068019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NVSwitch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3835908" y="1086307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NV-C0-S11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14548104" y="10607040"/>
            <a:ext cx="1033271" cy="658368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5006340" y="1068019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NVSwitch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5006340" y="1086307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NV-C0-S12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15718536" y="10607040"/>
            <a:ext cx="1033271" cy="658368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6176772" y="1068019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NVSwitch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176772" y="1086307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NV-C0-S13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16888968" y="10607040"/>
            <a:ext cx="1033271" cy="658368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7347204" y="1068019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NVSwitch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7347204" y="1086307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NV-C0-S14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18059400" y="10607040"/>
            <a:ext cx="1033271" cy="658368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8517636" y="1068019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NVSwitch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8517636" y="1086307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NV-C0-S15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19229832" y="10607040"/>
            <a:ext cx="1033271" cy="658368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9688068" y="1068019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NVSwitch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9688068" y="1086307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NV-C0-S16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20400264" y="10607040"/>
            <a:ext cx="1033271" cy="658368"/>
          </a:xfrm>
          <a:prstGeom prst="rect">
            <a:avLst/>
          </a:prstGeom>
          <a:solidFill>
            <a:srgbClr val="B5DC86"/>
          </a:solidFill>
          <a:ln w="18288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10858500" y="1068019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NVSwitch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10858500" y="10863072"/>
            <a:ext cx="20116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2">
                <a:solidFill>
                  <a:srgbClr val="202020"/>
                </a:solidFill>
                <a:latin typeface="DejaVu Sans"/>
              </a:rPr>
              <a:t>NV-C0-S17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5074920" y="7040880"/>
            <a:ext cx="11795760" cy="438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914400" y="7132320"/>
            <a:ext cx="20116800" cy="3566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872">
                <a:solidFill>
                  <a:srgbClr val="202020"/>
                </a:solidFill>
                <a:latin typeface="DejaVu Sans"/>
              </a:rPr>
              <a:t>Each GPU has one NVLink to EACH of the 18 NVSwitch ASICs below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914400" y="12024360"/>
            <a:ext cx="2011680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728">
                <a:solidFill>
                  <a:srgbClr val="202020"/>
                </a:solidFill>
                <a:latin typeface="DejaVu Sans"/>
              </a:rPr>
              <a:t>18 x 50 = 900 GB/s NVLink per direction per GPU. Compute NIC: 1 x 50 GB/s per direction per GPU.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21396960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79">
                <a:solidFill>
                  <a:srgbClr val="202020"/>
                </a:solidFill>
                <a:latin typeface="DejaVu Sans"/>
              </a:rPr>
              <a:t>Inter-rack Clos: all 4 rails, all 8 Leaves, all 9 shared Spines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2139696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28">
                <a:solidFill>
                  <a:srgbClr val="202020"/>
                </a:solidFill>
                <a:latin typeface="DejaVu Sans"/>
              </a:rPr>
              <a:t>This 144-GPU contest instance populates 2 racks of the reference multi-rail topology.</a:t>
            </a:r>
          </a:p>
        </p:txBody>
      </p:sp>
      <p:cxnSp>
        <p:nvCxnSpPr>
          <p:cNvPr id="4" name="Connector 3"/>
          <p:cNvCxnSpPr/>
          <p:nvPr/>
        </p:nvCxnSpPr>
        <p:spPr>
          <a:xfrm flipH="1" flipV="1">
            <a:off x="768096" y="2971800"/>
            <a:ext cx="219456" cy="5715000"/>
          </a:xfrm>
          <a:prstGeom prst="line">
            <a:avLst/>
          </a:prstGeom>
          <a:ln w="18288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1170432" y="2971800"/>
            <a:ext cx="1911096" cy="5715000"/>
          </a:xfrm>
          <a:prstGeom prst="line">
            <a:avLst/>
          </a:prstGeom>
          <a:ln w="18288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1353312" y="2971800"/>
            <a:ext cx="4041648" cy="5715000"/>
          </a:xfrm>
          <a:prstGeom prst="line">
            <a:avLst/>
          </a:prstGeom>
          <a:ln w="18288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1536192" y="2971800"/>
            <a:ext cx="6172200" cy="5715000"/>
          </a:xfrm>
          <a:prstGeom prst="line">
            <a:avLst/>
          </a:prstGeom>
          <a:ln w="18288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719072" y="2971800"/>
            <a:ext cx="8302752" cy="5715000"/>
          </a:xfrm>
          <a:prstGeom prst="line">
            <a:avLst/>
          </a:prstGeom>
          <a:ln w="18288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901952" y="2971800"/>
            <a:ext cx="10433304" cy="5715000"/>
          </a:xfrm>
          <a:prstGeom prst="line">
            <a:avLst/>
          </a:prstGeom>
          <a:ln w="18288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2084831" y="2971800"/>
            <a:ext cx="12563857" cy="5715000"/>
          </a:xfrm>
          <a:prstGeom prst="line">
            <a:avLst/>
          </a:prstGeom>
          <a:ln w="18288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267712" y="2971800"/>
            <a:ext cx="14694408" cy="5715000"/>
          </a:xfrm>
          <a:prstGeom prst="line">
            <a:avLst/>
          </a:prstGeom>
          <a:ln w="18288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2450592" y="2971800"/>
            <a:ext cx="16824960" cy="5715000"/>
          </a:xfrm>
          <a:prstGeom prst="line">
            <a:avLst/>
          </a:prstGeom>
          <a:ln w="18288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 flipV="1">
            <a:off x="950976" y="2971800"/>
            <a:ext cx="2368296" cy="5715000"/>
          </a:xfrm>
          <a:prstGeom prst="line">
            <a:avLst/>
          </a:prstGeom>
          <a:ln w="18288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 flipV="1">
            <a:off x="3264408" y="2971800"/>
            <a:ext cx="237744" cy="5715000"/>
          </a:xfrm>
          <a:prstGeom prst="line">
            <a:avLst/>
          </a:prstGeom>
          <a:ln w="18288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3685032" y="2971800"/>
            <a:ext cx="1892808" cy="5715000"/>
          </a:xfrm>
          <a:prstGeom prst="line">
            <a:avLst/>
          </a:prstGeom>
          <a:ln w="18288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3867912" y="2971800"/>
            <a:ext cx="4023360" cy="5715000"/>
          </a:xfrm>
          <a:prstGeom prst="line">
            <a:avLst/>
          </a:prstGeom>
          <a:ln w="18288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4050791" y="2971800"/>
            <a:ext cx="6153913" cy="5715000"/>
          </a:xfrm>
          <a:prstGeom prst="line">
            <a:avLst/>
          </a:prstGeom>
          <a:ln w="18288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4233672" y="2971800"/>
            <a:ext cx="8284464" cy="5715000"/>
          </a:xfrm>
          <a:prstGeom prst="line">
            <a:avLst/>
          </a:prstGeom>
          <a:ln w="18288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4416552" y="2971800"/>
            <a:ext cx="10415015" cy="5715000"/>
          </a:xfrm>
          <a:prstGeom prst="line">
            <a:avLst/>
          </a:prstGeom>
          <a:ln w="18288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4599432" y="2971800"/>
            <a:ext cx="12545568" cy="5715000"/>
          </a:xfrm>
          <a:prstGeom prst="line">
            <a:avLst/>
          </a:prstGeom>
          <a:ln w="18288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4782312" y="2971800"/>
            <a:ext cx="14676120" cy="5715000"/>
          </a:xfrm>
          <a:prstGeom prst="line">
            <a:avLst/>
          </a:prstGeom>
          <a:ln w="18288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 flipV="1">
            <a:off x="1133856" y="2971800"/>
            <a:ext cx="5202936" cy="5715000"/>
          </a:xfrm>
          <a:prstGeom prst="line">
            <a:avLst/>
          </a:prstGeom>
          <a:ln w="18288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3447288" y="2971800"/>
            <a:ext cx="3072384" cy="5715000"/>
          </a:xfrm>
          <a:prstGeom prst="line">
            <a:avLst/>
          </a:prstGeom>
          <a:ln w="18288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5760720" y="2971800"/>
            <a:ext cx="941832" cy="5715000"/>
          </a:xfrm>
          <a:prstGeom prst="line">
            <a:avLst/>
          </a:prstGeom>
          <a:ln w="18288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6885432" y="2971800"/>
            <a:ext cx="1188720" cy="5715000"/>
          </a:xfrm>
          <a:prstGeom prst="line">
            <a:avLst/>
          </a:prstGeom>
          <a:ln w="18288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7068312" y="2971800"/>
            <a:ext cx="3319272" cy="5715000"/>
          </a:xfrm>
          <a:prstGeom prst="line">
            <a:avLst/>
          </a:prstGeom>
          <a:ln w="18288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7251192" y="2971800"/>
            <a:ext cx="5449824" cy="5715000"/>
          </a:xfrm>
          <a:prstGeom prst="line">
            <a:avLst/>
          </a:prstGeom>
          <a:ln w="18288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7434072" y="2971800"/>
            <a:ext cx="7580376" cy="5715000"/>
          </a:xfrm>
          <a:prstGeom prst="line">
            <a:avLst/>
          </a:prstGeom>
          <a:ln w="18288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7616952" y="2971800"/>
            <a:ext cx="9710928" cy="5715000"/>
          </a:xfrm>
          <a:prstGeom prst="line">
            <a:avLst/>
          </a:prstGeom>
          <a:ln w="18288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7799831" y="2971800"/>
            <a:ext cx="11841481" cy="5715000"/>
          </a:xfrm>
          <a:prstGeom prst="line">
            <a:avLst/>
          </a:prstGeom>
          <a:ln w="18288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1316736" y="2971800"/>
            <a:ext cx="7351776" cy="5715000"/>
          </a:xfrm>
          <a:prstGeom prst="line">
            <a:avLst/>
          </a:prstGeom>
          <a:ln w="18288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3630168" y="2971800"/>
            <a:ext cx="5221224" cy="5715000"/>
          </a:xfrm>
          <a:prstGeom prst="line">
            <a:avLst/>
          </a:prstGeom>
          <a:ln w="18288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 flipV="1">
            <a:off x="5943600" y="2971800"/>
            <a:ext cx="3090672" cy="5715000"/>
          </a:xfrm>
          <a:prstGeom prst="line">
            <a:avLst/>
          </a:prstGeom>
          <a:ln w="18288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 flipV="1">
            <a:off x="8257031" y="2971800"/>
            <a:ext cx="960121" cy="5715000"/>
          </a:xfrm>
          <a:prstGeom prst="line">
            <a:avLst/>
          </a:prstGeom>
          <a:ln w="18288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9400032" y="2971800"/>
            <a:ext cx="1170432" cy="5715000"/>
          </a:xfrm>
          <a:prstGeom prst="line">
            <a:avLst/>
          </a:prstGeom>
          <a:ln w="18288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9582912" y="2971800"/>
            <a:ext cx="3300984" cy="5715000"/>
          </a:xfrm>
          <a:prstGeom prst="line">
            <a:avLst/>
          </a:prstGeom>
          <a:ln w="18288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9765792" y="2971800"/>
            <a:ext cx="5431536" cy="5715000"/>
          </a:xfrm>
          <a:prstGeom prst="line">
            <a:avLst/>
          </a:prstGeom>
          <a:ln w="18288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9948672" y="2971800"/>
            <a:ext cx="7562088" cy="5715000"/>
          </a:xfrm>
          <a:prstGeom prst="line">
            <a:avLst/>
          </a:prstGeom>
          <a:ln w="18288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10131552" y="2971800"/>
            <a:ext cx="9692640" cy="5715000"/>
          </a:xfrm>
          <a:prstGeom prst="line">
            <a:avLst/>
          </a:prstGeom>
          <a:ln w="18288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 flipV="1">
            <a:off x="1499616" y="2971800"/>
            <a:ext cx="10186416" cy="5715000"/>
          </a:xfrm>
          <a:prstGeom prst="line">
            <a:avLst/>
          </a:prstGeom>
          <a:ln w="18288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 flipV="1">
            <a:off x="3813048" y="2971800"/>
            <a:ext cx="8055864" cy="5715000"/>
          </a:xfrm>
          <a:prstGeom prst="line">
            <a:avLst/>
          </a:prstGeom>
          <a:ln w="18288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 flipV="1">
            <a:off x="6126480" y="2971800"/>
            <a:ext cx="5925312" cy="5715000"/>
          </a:xfrm>
          <a:prstGeom prst="line">
            <a:avLst/>
          </a:prstGeom>
          <a:ln w="18288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 flipV="1">
            <a:off x="8439912" y="2971800"/>
            <a:ext cx="3794760" cy="5715000"/>
          </a:xfrm>
          <a:prstGeom prst="line">
            <a:avLst/>
          </a:prstGeom>
          <a:ln w="18288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 flipV="1">
            <a:off x="10753344" y="2971800"/>
            <a:ext cx="1664208" cy="5715000"/>
          </a:xfrm>
          <a:prstGeom prst="line">
            <a:avLst/>
          </a:prstGeom>
          <a:ln w="18288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2600432" y="2971800"/>
            <a:ext cx="466344" cy="5715000"/>
          </a:xfrm>
          <a:prstGeom prst="line">
            <a:avLst/>
          </a:prstGeom>
          <a:ln w="18288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12783312" y="2971800"/>
            <a:ext cx="2596896" cy="5715000"/>
          </a:xfrm>
          <a:prstGeom prst="line">
            <a:avLst/>
          </a:prstGeom>
          <a:ln w="18288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12966192" y="2971800"/>
            <a:ext cx="4727448" cy="5715000"/>
          </a:xfrm>
          <a:prstGeom prst="line">
            <a:avLst/>
          </a:prstGeom>
          <a:ln w="18288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13149072" y="2971800"/>
            <a:ext cx="6858000" cy="5715000"/>
          </a:xfrm>
          <a:prstGeom prst="line">
            <a:avLst/>
          </a:prstGeom>
          <a:ln w="18288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 flipV="1">
            <a:off x="1682496" y="2971800"/>
            <a:ext cx="12335256" cy="5715000"/>
          </a:xfrm>
          <a:prstGeom prst="line">
            <a:avLst/>
          </a:prstGeom>
          <a:ln w="18288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 flipV="1">
            <a:off x="3995928" y="2971800"/>
            <a:ext cx="10204704" cy="5715000"/>
          </a:xfrm>
          <a:prstGeom prst="line">
            <a:avLst/>
          </a:prstGeom>
          <a:ln w="18288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 flipV="1">
            <a:off x="6309360" y="2971800"/>
            <a:ext cx="8074152" cy="5715000"/>
          </a:xfrm>
          <a:prstGeom prst="line">
            <a:avLst/>
          </a:prstGeom>
          <a:ln w="18288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 flipV="1">
            <a:off x="8622792" y="2971800"/>
            <a:ext cx="5943600" cy="5715000"/>
          </a:xfrm>
          <a:prstGeom prst="line">
            <a:avLst/>
          </a:prstGeom>
          <a:ln w="18288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 flipV="1">
            <a:off x="10936224" y="2971800"/>
            <a:ext cx="3813048" cy="5715000"/>
          </a:xfrm>
          <a:prstGeom prst="line">
            <a:avLst/>
          </a:prstGeom>
          <a:ln w="18288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 flipV="1">
            <a:off x="13249656" y="2971800"/>
            <a:ext cx="1682495" cy="5715000"/>
          </a:xfrm>
          <a:prstGeom prst="line">
            <a:avLst/>
          </a:prstGeom>
          <a:ln w="18288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15115032" y="2971800"/>
            <a:ext cx="448056" cy="5715000"/>
          </a:xfrm>
          <a:prstGeom prst="line">
            <a:avLst/>
          </a:prstGeom>
          <a:ln w="18288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15297912" y="2971800"/>
            <a:ext cx="2578608" cy="5715000"/>
          </a:xfrm>
          <a:prstGeom prst="line">
            <a:avLst/>
          </a:prstGeom>
          <a:ln w="18288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15480792" y="2971800"/>
            <a:ext cx="4709160" cy="5715000"/>
          </a:xfrm>
          <a:prstGeom prst="line">
            <a:avLst/>
          </a:prstGeom>
          <a:ln w="18288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H="1" flipV="1">
            <a:off x="1865376" y="2971800"/>
            <a:ext cx="15169896" cy="5715000"/>
          </a:xfrm>
          <a:prstGeom prst="line">
            <a:avLst/>
          </a:prstGeom>
          <a:ln w="18288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H="1" flipV="1">
            <a:off x="4178808" y="2971800"/>
            <a:ext cx="13039344" cy="5715000"/>
          </a:xfrm>
          <a:prstGeom prst="line">
            <a:avLst/>
          </a:prstGeom>
          <a:ln w="18288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 flipV="1">
            <a:off x="6492240" y="2971800"/>
            <a:ext cx="10908792" cy="5715000"/>
          </a:xfrm>
          <a:prstGeom prst="line">
            <a:avLst/>
          </a:prstGeom>
          <a:ln w="18288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 flipV="1">
            <a:off x="8805672" y="2971800"/>
            <a:ext cx="8778240" cy="5715000"/>
          </a:xfrm>
          <a:prstGeom prst="line">
            <a:avLst/>
          </a:prstGeom>
          <a:ln w="18288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 flipV="1">
            <a:off x="11119104" y="2971800"/>
            <a:ext cx="6647688" cy="5715000"/>
          </a:xfrm>
          <a:prstGeom prst="line">
            <a:avLst/>
          </a:prstGeom>
          <a:ln w="18288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 flipV="1">
            <a:off x="13432536" y="2971800"/>
            <a:ext cx="4517136" cy="5715000"/>
          </a:xfrm>
          <a:prstGeom prst="line">
            <a:avLst/>
          </a:prstGeom>
          <a:ln w="18288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 flipV="1">
            <a:off x="15745967" y="2971800"/>
            <a:ext cx="2386585" cy="5715000"/>
          </a:xfrm>
          <a:prstGeom prst="line">
            <a:avLst/>
          </a:prstGeom>
          <a:ln w="18288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 flipV="1">
            <a:off x="18059400" y="2971800"/>
            <a:ext cx="256032" cy="5715000"/>
          </a:xfrm>
          <a:prstGeom prst="line">
            <a:avLst/>
          </a:prstGeom>
          <a:ln w="18288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18498312" y="2971800"/>
            <a:ext cx="1874520" cy="5715000"/>
          </a:xfrm>
          <a:prstGeom prst="line">
            <a:avLst/>
          </a:prstGeom>
          <a:ln w="18288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 flipV="1">
            <a:off x="2048256" y="2971800"/>
            <a:ext cx="17318736" cy="5715000"/>
          </a:xfrm>
          <a:prstGeom prst="line">
            <a:avLst/>
          </a:prstGeom>
          <a:ln w="18288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 flipV="1">
            <a:off x="4361688" y="2971800"/>
            <a:ext cx="15188184" cy="5715000"/>
          </a:xfrm>
          <a:prstGeom prst="line">
            <a:avLst/>
          </a:prstGeom>
          <a:ln w="18288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 flipV="1">
            <a:off x="6675120" y="2971800"/>
            <a:ext cx="13057632" cy="5715000"/>
          </a:xfrm>
          <a:prstGeom prst="line">
            <a:avLst/>
          </a:prstGeom>
          <a:ln w="18288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H="1" flipV="1">
            <a:off x="8988552" y="2971800"/>
            <a:ext cx="10927080" cy="5715000"/>
          </a:xfrm>
          <a:prstGeom prst="line">
            <a:avLst/>
          </a:prstGeom>
          <a:ln w="18288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 flipV="1">
            <a:off x="11301984" y="2971800"/>
            <a:ext cx="8796528" cy="5715000"/>
          </a:xfrm>
          <a:prstGeom prst="line">
            <a:avLst/>
          </a:prstGeom>
          <a:ln w="18288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H="1" flipV="1">
            <a:off x="13615416" y="2971800"/>
            <a:ext cx="6665976" cy="5715000"/>
          </a:xfrm>
          <a:prstGeom prst="line">
            <a:avLst/>
          </a:prstGeom>
          <a:ln w="18288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H="1" flipV="1">
            <a:off x="15928848" y="2971800"/>
            <a:ext cx="4535424" cy="5715000"/>
          </a:xfrm>
          <a:prstGeom prst="line">
            <a:avLst/>
          </a:prstGeom>
          <a:ln w="18288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H="1" flipV="1">
            <a:off x="18242280" y="2971800"/>
            <a:ext cx="2404872" cy="5715000"/>
          </a:xfrm>
          <a:prstGeom prst="line">
            <a:avLst/>
          </a:prstGeom>
          <a:ln w="18288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H="1" flipV="1">
            <a:off x="20555712" y="2971800"/>
            <a:ext cx="274320" cy="5715000"/>
          </a:xfrm>
          <a:prstGeom prst="line">
            <a:avLst/>
          </a:prstGeom>
          <a:ln w="18288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ectangle 75"/>
          <p:cNvSpPr/>
          <p:nvPr/>
        </p:nvSpPr>
        <p:spPr>
          <a:xfrm>
            <a:off x="548640" y="2286000"/>
            <a:ext cx="1929384" cy="685800"/>
          </a:xfrm>
          <a:prstGeom prst="rect">
            <a:avLst/>
          </a:prstGeom>
          <a:solidFill>
            <a:srgbClr val="B5DC86"/>
          </a:solidFill>
          <a:ln w="18288">
            <a:solidFill>
              <a:srgbClr val="AA4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-8545068" y="2359152"/>
            <a:ext cx="20116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39">
                <a:solidFill>
                  <a:srgbClr val="202020"/>
                </a:solidFill>
                <a:latin typeface="DejaVu Sans"/>
              </a:rPr>
              <a:t>IB Spine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-8545068" y="2587752"/>
            <a:ext cx="20116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39">
                <a:solidFill>
                  <a:srgbClr val="202020"/>
                </a:solidFill>
                <a:latin typeface="DejaVu Sans"/>
              </a:rPr>
              <a:t>L2-P0-S0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862072" y="2286000"/>
            <a:ext cx="1929384" cy="685800"/>
          </a:xfrm>
          <a:prstGeom prst="rect">
            <a:avLst/>
          </a:prstGeom>
          <a:solidFill>
            <a:srgbClr val="B5DC86"/>
          </a:solidFill>
          <a:ln w="18288">
            <a:solidFill>
              <a:srgbClr val="AA4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-6231636" y="2359152"/>
            <a:ext cx="20116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39">
                <a:solidFill>
                  <a:srgbClr val="202020"/>
                </a:solidFill>
                <a:latin typeface="DejaVu Sans"/>
              </a:rPr>
              <a:t>IB Spine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-6231636" y="2587752"/>
            <a:ext cx="20116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39">
                <a:solidFill>
                  <a:srgbClr val="202020"/>
                </a:solidFill>
                <a:latin typeface="DejaVu Sans"/>
              </a:rPr>
              <a:t>L2-P0-S1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175504" y="2286000"/>
            <a:ext cx="1929384" cy="685800"/>
          </a:xfrm>
          <a:prstGeom prst="rect">
            <a:avLst/>
          </a:prstGeom>
          <a:solidFill>
            <a:srgbClr val="B5DC86"/>
          </a:solidFill>
          <a:ln w="18288">
            <a:solidFill>
              <a:srgbClr val="AA4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-3918204" y="2359152"/>
            <a:ext cx="20116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39">
                <a:solidFill>
                  <a:srgbClr val="202020"/>
                </a:solidFill>
                <a:latin typeface="DejaVu Sans"/>
              </a:rPr>
              <a:t>IB Spine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-3918204" y="2587752"/>
            <a:ext cx="20116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39">
                <a:solidFill>
                  <a:srgbClr val="202020"/>
                </a:solidFill>
                <a:latin typeface="DejaVu Sans"/>
              </a:rPr>
              <a:t>L2-P0-S2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488936" y="2286000"/>
            <a:ext cx="1929384" cy="685800"/>
          </a:xfrm>
          <a:prstGeom prst="rect">
            <a:avLst/>
          </a:prstGeom>
          <a:solidFill>
            <a:srgbClr val="B5DC86"/>
          </a:solidFill>
          <a:ln w="18288">
            <a:solidFill>
              <a:srgbClr val="AA4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-1604772" y="2359152"/>
            <a:ext cx="20116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39">
                <a:solidFill>
                  <a:srgbClr val="202020"/>
                </a:solidFill>
                <a:latin typeface="DejaVu Sans"/>
              </a:rPr>
              <a:t>IB Spine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-1604772" y="2587752"/>
            <a:ext cx="20116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39">
                <a:solidFill>
                  <a:srgbClr val="202020"/>
                </a:solidFill>
                <a:latin typeface="DejaVu Sans"/>
              </a:rPr>
              <a:t>L2-P0-S3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802368" y="2286000"/>
            <a:ext cx="1929384" cy="685800"/>
          </a:xfrm>
          <a:prstGeom prst="rect">
            <a:avLst/>
          </a:prstGeom>
          <a:solidFill>
            <a:srgbClr val="B5DC86"/>
          </a:solidFill>
          <a:ln w="18288">
            <a:solidFill>
              <a:srgbClr val="AA4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08660" y="2359152"/>
            <a:ext cx="20116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39">
                <a:solidFill>
                  <a:srgbClr val="202020"/>
                </a:solidFill>
                <a:latin typeface="DejaVu Sans"/>
              </a:rPr>
              <a:t>IB Spine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08660" y="2587752"/>
            <a:ext cx="20116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39">
                <a:solidFill>
                  <a:srgbClr val="202020"/>
                </a:solidFill>
                <a:latin typeface="DejaVu Sans"/>
              </a:rPr>
              <a:t>L2-P0-S4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2115800" y="2286000"/>
            <a:ext cx="1929384" cy="685800"/>
          </a:xfrm>
          <a:prstGeom prst="rect">
            <a:avLst/>
          </a:prstGeom>
          <a:solidFill>
            <a:srgbClr val="B5DC86"/>
          </a:solidFill>
          <a:ln w="18288">
            <a:solidFill>
              <a:srgbClr val="AA4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022092" y="2359152"/>
            <a:ext cx="20116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39">
                <a:solidFill>
                  <a:srgbClr val="202020"/>
                </a:solidFill>
                <a:latin typeface="DejaVu Sans"/>
              </a:rPr>
              <a:t>IB Spine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022092" y="2587752"/>
            <a:ext cx="20116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39">
                <a:solidFill>
                  <a:srgbClr val="202020"/>
                </a:solidFill>
                <a:latin typeface="DejaVu Sans"/>
              </a:rPr>
              <a:t>L2-P0-S5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4429232" y="2286000"/>
            <a:ext cx="1929384" cy="685800"/>
          </a:xfrm>
          <a:prstGeom prst="rect">
            <a:avLst/>
          </a:prstGeom>
          <a:solidFill>
            <a:srgbClr val="B5DC86"/>
          </a:solidFill>
          <a:ln w="18288">
            <a:solidFill>
              <a:srgbClr val="AA4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335524" y="2359152"/>
            <a:ext cx="20116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39">
                <a:solidFill>
                  <a:srgbClr val="202020"/>
                </a:solidFill>
                <a:latin typeface="DejaVu Sans"/>
              </a:rPr>
              <a:t>IB Spine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335524" y="2587752"/>
            <a:ext cx="20116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39">
                <a:solidFill>
                  <a:srgbClr val="202020"/>
                </a:solidFill>
                <a:latin typeface="DejaVu Sans"/>
              </a:rPr>
              <a:t>L2-P0-S6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6742663" y="2286000"/>
            <a:ext cx="1929384" cy="685800"/>
          </a:xfrm>
          <a:prstGeom prst="rect">
            <a:avLst/>
          </a:prstGeom>
          <a:solidFill>
            <a:srgbClr val="B5DC86"/>
          </a:solidFill>
          <a:ln w="18288">
            <a:solidFill>
              <a:srgbClr val="AA4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648956" y="2359152"/>
            <a:ext cx="20116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39">
                <a:solidFill>
                  <a:srgbClr val="202020"/>
                </a:solidFill>
                <a:latin typeface="DejaVu Sans"/>
              </a:rPr>
              <a:t>IB Spine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648956" y="2587752"/>
            <a:ext cx="20116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39">
                <a:solidFill>
                  <a:srgbClr val="202020"/>
                </a:solidFill>
                <a:latin typeface="DejaVu Sans"/>
              </a:rPr>
              <a:t>L2-P0-S7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9056096" y="2286000"/>
            <a:ext cx="1929384" cy="685800"/>
          </a:xfrm>
          <a:prstGeom prst="rect">
            <a:avLst/>
          </a:prstGeom>
          <a:solidFill>
            <a:srgbClr val="B5DC86"/>
          </a:solidFill>
          <a:ln w="18288">
            <a:solidFill>
              <a:srgbClr val="AA4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962388" y="2359152"/>
            <a:ext cx="20116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39">
                <a:solidFill>
                  <a:srgbClr val="202020"/>
                </a:solidFill>
                <a:latin typeface="DejaVu Sans"/>
              </a:rPr>
              <a:t>IB Spine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962388" y="2587752"/>
            <a:ext cx="201168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39">
                <a:solidFill>
                  <a:srgbClr val="202020"/>
                </a:solidFill>
                <a:latin typeface="DejaVu Sans"/>
              </a:rPr>
              <a:t>L2-P0-S8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02920" y="8275320"/>
            <a:ext cx="4983480" cy="2103120"/>
          </a:xfrm>
          <a:prstGeom prst="rect">
            <a:avLst/>
          </a:prstGeom>
          <a:solidFill>
            <a:srgbClr val="FFFFFF"/>
          </a:solidFill>
          <a:ln w="18288">
            <a:solidFill>
              <a:srgbClr val="E58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22960" y="8686800"/>
            <a:ext cx="2103120" cy="822960"/>
          </a:xfrm>
          <a:prstGeom prst="rect">
            <a:avLst/>
          </a:prstGeom>
          <a:solidFill>
            <a:srgbClr val="B5DC86"/>
          </a:solidFill>
          <a:ln w="18288">
            <a:solidFill>
              <a:srgbClr val="E58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-8183879" y="8759952"/>
            <a:ext cx="20116800" cy="2880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12">
                <a:solidFill>
                  <a:srgbClr val="202020"/>
                </a:solidFill>
                <a:latin typeface="DejaVu Sans"/>
              </a:rPr>
              <a:t>IB Leaf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-8183879" y="8999982"/>
            <a:ext cx="20116800" cy="2880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12">
                <a:solidFill>
                  <a:srgbClr val="202020"/>
                </a:solidFill>
                <a:latin typeface="DejaVu Sans"/>
              </a:rPr>
              <a:t>Leaf-C0-R0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154680" y="8686800"/>
            <a:ext cx="2103120" cy="822960"/>
          </a:xfrm>
          <a:prstGeom prst="rect">
            <a:avLst/>
          </a:prstGeom>
          <a:solidFill>
            <a:srgbClr val="B5DC86"/>
          </a:solidFill>
          <a:ln w="18288">
            <a:solidFill>
              <a:srgbClr val="E58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-5852160" y="8759952"/>
            <a:ext cx="20116800" cy="2880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12">
                <a:solidFill>
                  <a:srgbClr val="202020"/>
                </a:solidFill>
                <a:latin typeface="DejaVu Sans"/>
              </a:rPr>
              <a:t>IB Leaf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-5852160" y="8999982"/>
            <a:ext cx="20116800" cy="2880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12">
                <a:solidFill>
                  <a:srgbClr val="202020"/>
                </a:solidFill>
                <a:latin typeface="DejaVu Sans"/>
              </a:rPr>
              <a:t>Leaf-C1-R0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-7068312" y="9875520"/>
            <a:ext cx="2011680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016">
                <a:solidFill>
                  <a:srgbClr val="E58A24"/>
                </a:solidFill>
                <a:latin typeface="DejaVu Sans"/>
              </a:rPr>
              <a:t>Rail 0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852160" y="8275320"/>
            <a:ext cx="4983480" cy="2103120"/>
          </a:xfrm>
          <a:prstGeom prst="rect">
            <a:avLst/>
          </a:prstGeom>
          <a:solidFill>
            <a:srgbClr val="FFFFFF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6172200" y="8686800"/>
            <a:ext cx="2103120" cy="822960"/>
          </a:xfrm>
          <a:prstGeom prst="rect">
            <a:avLst/>
          </a:prstGeom>
          <a:solidFill>
            <a:srgbClr val="B5DC86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-2834640" y="8759952"/>
            <a:ext cx="20116800" cy="2880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12">
                <a:solidFill>
                  <a:srgbClr val="202020"/>
                </a:solidFill>
                <a:latin typeface="DejaVu Sans"/>
              </a:rPr>
              <a:t>IB Leaf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-2834640" y="8999982"/>
            <a:ext cx="20116800" cy="2880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12">
                <a:solidFill>
                  <a:srgbClr val="202020"/>
                </a:solidFill>
                <a:latin typeface="DejaVu Sans"/>
              </a:rPr>
              <a:t>Leaf-C0-R1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503920" y="8686800"/>
            <a:ext cx="2103120" cy="822960"/>
          </a:xfrm>
          <a:prstGeom prst="rect">
            <a:avLst/>
          </a:prstGeom>
          <a:solidFill>
            <a:srgbClr val="B5DC86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-502920" y="8759952"/>
            <a:ext cx="20116800" cy="2880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12">
                <a:solidFill>
                  <a:srgbClr val="202020"/>
                </a:solidFill>
                <a:latin typeface="DejaVu Sans"/>
              </a:rPr>
              <a:t>IB Leaf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-502920" y="8999982"/>
            <a:ext cx="20116800" cy="2880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12">
                <a:solidFill>
                  <a:srgbClr val="202020"/>
                </a:solidFill>
                <a:latin typeface="DejaVu Sans"/>
              </a:rPr>
              <a:t>Leaf-C1-R1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-1719072" y="9875520"/>
            <a:ext cx="2011680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016">
                <a:solidFill>
                  <a:srgbClr val="447AC3"/>
                </a:solidFill>
                <a:latin typeface="DejaVu Sans"/>
              </a:rPr>
              <a:t>Rail 1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1201400" y="8275320"/>
            <a:ext cx="4983480" cy="2103120"/>
          </a:xfrm>
          <a:prstGeom prst="rect">
            <a:avLst/>
          </a:prstGeom>
          <a:solidFill>
            <a:srgbClr val="FFFFFF"/>
          </a:solidFill>
          <a:ln w="18288">
            <a:solidFill>
              <a:srgbClr val="268C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11521440" y="8686800"/>
            <a:ext cx="2103120" cy="822960"/>
          </a:xfrm>
          <a:prstGeom prst="rect">
            <a:avLst/>
          </a:prstGeom>
          <a:solidFill>
            <a:srgbClr val="B5DC86"/>
          </a:solidFill>
          <a:ln w="18288">
            <a:solidFill>
              <a:srgbClr val="268C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2514600" y="8759952"/>
            <a:ext cx="20116800" cy="2880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12">
                <a:solidFill>
                  <a:srgbClr val="202020"/>
                </a:solidFill>
                <a:latin typeface="DejaVu Sans"/>
              </a:rPr>
              <a:t>IB Leaf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514600" y="8999982"/>
            <a:ext cx="20116800" cy="2880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12">
                <a:solidFill>
                  <a:srgbClr val="202020"/>
                </a:solidFill>
                <a:latin typeface="DejaVu Sans"/>
              </a:rPr>
              <a:t>Leaf-C0-R2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3853160" y="8686800"/>
            <a:ext cx="2103120" cy="822960"/>
          </a:xfrm>
          <a:prstGeom prst="rect">
            <a:avLst/>
          </a:prstGeom>
          <a:solidFill>
            <a:srgbClr val="B5DC86"/>
          </a:solidFill>
          <a:ln w="18288">
            <a:solidFill>
              <a:srgbClr val="268C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846320" y="8759952"/>
            <a:ext cx="20116800" cy="2880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12">
                <a:solidFill>
                  <a:srgbClr val="202020"/>
                </a:solidFill>
                <a:latin typeface="DejaVu Sans"/>
              </a:rPr>
              <a:t>IB Leaf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846320" y="8999982"/>
            <a:ext cx="20116800" cy="2880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12">
                <a:solidFill>
                  <a:srgbClr val="202020"/>
                </a:solidFill>
                <a:latin typeface="DejaVu Sans"/>
              </a:rPr>
              <a:t>Leaf-C1-R2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630168" y="9875520"/>
            <a:ext cx="2011680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016">
                <a:solidFill>
                  <a:srgbClr val="268C68"/>
                </a:solidFill>
                <a:latin typeface="DejaVu Sans"/>
              </a:rPr>
              <a:t>Rail 2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16550640" y="8275320"/>
            <a:ext cx="4983480" cy="2103120"/>
          </a:xfrm>
          <a:prstGeom prst="rect">
            <a:avLst/>
          </a:prstGeom>
          <a:solidFill>
            <a:srgbClr val="FFFFFF"/>
          </a:solidFill>
          <a:ln w="18288">
            <a:solidFill>
              <a:srgbClr val="8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16870680" y="8686800"/>
            <a:ext cx="2103120" cy="822960"/>
          </a:xfrm>
          <a:prstGeom prst="rect">
            <a:avLst/>
          </a:prstGeom>
          <a:solidFill>
            <a:srgbClr val="B5DC86"/>
          </a:solidFill>
          <a:ln w="18288">
            <a:solidFill>
              <a:srgbClr val="8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7863840" y="8759952"/>
            <a:ext cx="20116800" cy="2880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12">
                <a:solidFill>
                  <a:srgbClr val="202020"/>
                </a:solidFill>
                <a:latin typeface="DejaVu Sans"/>
              </a:rPr>
              <a:t>IB Leaf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863840" y="8999982"/>
            <a:ext cx="20116800" cy="2880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12">
                <a:solidFill>
                  <a:srgbClr val="202020"/>
                </a:solidFill>
                <a:latin typeface="DejaVu Sans"/>
              </a:rPr>
              <a:t>Leaf-C0-R3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9202400" y="8686800"/>
            <a:ext cx="2103120" cy="822960"/>
          </a:xfrm>
          <a:prstGeom prst="rect">
            <a:avLst/>
          </a:prstGeom>
          <a:solidFill>
            <a:srgbClr val="B5DC86"/>
          </a:solidFill>
          <a:ln w="18288">
            <a:solidFill>
              <a:srgbClr val="8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0195560" y="8759952"/>
            <a:ext cx="20116800" cy="2880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12">
                <a:solidFill>
                  <a:srgbClr val="202020"/>
                </a:solidFill>
                <a:latin typeface="DejaVu Sans"/>
              </a:rPr>
              <a:t>IB Leaf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0195560" y="8999982"/>
            <a:ext cx="20116800" cy="2880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12">
                <a:solidFill>
                  <a:srgbClr val="202020"/>
                </a:solidFill>
                <a:latin typeface="DejaVu Sans"/>
              </a:rPr>
              <a:t>Leaf-C1-R3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979408" y="9875520"/>
            <a:ext cx="2011680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016">
                <a:solidFill>
                  <a:srgbClr val="8062AC"/>
                </a:solidFill>
                <a:latin typeface="DejaVu Sans"/>
              </a:rPr>
              <a:t>Rail 3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10241280" y="5394960"/>
            <a:ext cx="1463040" cy="53035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914400" y="5440680"/>
            <a:ext cx="20116800" cy="4937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592">
                <a:solidFill>
                  <a:srgbClr val="202020"/>
                </a:solidFill>
                <a:latin typeface="DejaVu Sans"/>
              </a:rPr>
              <a:t>Clos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914400" y="10972800"/>
            <a:ext cx="20116800" cy="3566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872">
                <a:solidFill>
                  <a:srgbClr val="202020"/>
                </a:solidFill>
                <a:latin typeface="DejaVu Sans"/>
              </a:rPr>
              <a:t>Each Leaf-Spine edge aggregates 2 x 400 Gb/s links: 100 GB/s per direction.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914400" y="11430000"/>
            <a:ext cx="2011680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728">
                <a:solidFill>
                  <a:srgbClr val="202020"/>
                </a:solidFill>
                <a:latin typeface="DejaVu Sans"/>
              </a:rPr>
              <a:t>Per Leaf: 18 GPU-facing ports x 50 = 900 GB/s; 9 Spine bundles x 100 = 900 GB/s.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914400" y="11887200"/>
            <a:ext cx="20116800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655">
                <a:solidFill>
                  <a:srgbClr val="202020"/>
                </a:solidFill>
                <a:latin typeface="DejaVu Sans"/>
              </a:rPr>
              <a:t>Spines are shared across rails. Cross-rail paths traverse a Spine. No Leaf-Leaf or Spine-Spine edges.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21396960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79">
                <a:solidFill>
                  <a:srgbClr val="202020"/>
                </a:solidFill>
                <a:latin typeface="DejaVu Sans"/>
              </a:rPr>
              <a:t>Every GPU NIC connects to exactly one rail Leaf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2139696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28">
                <a:solidFill>
                  <a:srgbClr val="202020"/>
                </a:solidFill>
                <a:latin typeface="DejaVu Sans"/>
              </a:rPr>
              <a:t>Rank mapping: r = 72 x rack + 4 x tray + slot. Rail = slot = rank modulo 4.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331720"/>
            <a:ext cx="2423160" cy="777240"/>
          </a:xfrm>
          <a:prstGeom prst="rect">
            <a:avLst/>
          </a:prstGeom>
          <a:solidFill>
            <a:srgbClr val="B5DC86"/>
          </a:solidFill>
          <a:ln w="18288">
            <a:solidFill>
              <a:srgbClr val="E58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-8161020" y="2404872"/>
            <a:ext cx="20116800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655">
                <a:solidFill>
                  <a:srgbClr val="202020"/>
                </a:solidFill>
                <a:latin typeface="DejaVu Sans"/>
              </a:rPr>
              <a:t>IB Leaf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-8161020" y="2667762"/>
            <a:ext cx="20116800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655">
                <a:solidFill>
                  <a:srgbClr val="202020"/>
                </a:solidFill>
                <a:latin typeface="DejaVu Sans"/>
              </a:rPr>
              <a:t>Leaf-C0-R0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3108960" y="2148840"/>
            <a:ext cx="548640" cy="566928"/>
          </a:xfrm>
          <a:prstGeom prst="line">
            <a:avLst/>
          </a:prstGeom>
          <a:ln w="13716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3108960" y="2148840"/>
            <a:ext cx="1353312" cy="566928"/>
          </a:xfrm>
          <a:prstGeom prst="line">
            <a:avLst/>
          </a:prstGeom>
          <a:ln w="13716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3108960" y="2148840"/>
            <a:ext cx="2157984" cy="566928"/>
          </a:xfrm>
          <a:prstGeom prst="line">
            <a:avLst/>
          </a:prstGeom>
          <a:ln w="13716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3108960" y="2148840"/>
            <a:ext cx="2962656" cy="566928"/>
          </a:xfrm>
          <a:prstGeom prst="line">
            <a:avLst/>
          </a:prstGeom>
          <a:ln w="13716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3108960" y="2148840"/>
            <a:ext cx="3767328" cy="566928"/>
          </a:xfrm>
          <a:prstGeom prst="line">
            <a:avLst/>
          </a:prstGeom>
          <a:ln w="13716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108960" y="2148840"/>
            <a:ext cx="4572000" cy="566928"/>
          </a:xfrm>
          <a:prstGeom prst="line">
            <a:avLst/>
          </a:prstGeom>
          <a:ln w="13716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3108960" y="2148840"/>
            <a:ext cx="5376672" cy="566928"/>
          </a:xfrm>
          <a:prstGeom prst="line">
            <a:avLst/>
          </a:prstGeom>
          <a:ln w="13716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3108960" y="2148840"/>
            <a:ext cx="6181344" cy="566928"/>
          </a:xfrm>
          <a:prstGeom prst="line">
            <a:avLst/>
          </a:prstGeom>
          <a:ln w="13716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3108960" y="2148840"/>
            <a:ext cx="6986016" cy="566928"/>
          </a:xfrm>
          <a:prstGeom prst="line">
            <a:avLst/>
          </a:prstGeom>
          <a:ln w="13716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108960" y="2715768"/>
            <a:ext cx="548640" cy="301752"/>
          </a:xfrm>
          <a:prstGeom prst="line">
            <a:avLst/>
          </a:prstGeom>
          <a:ln w="13716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108960" y="2715768"/>
            <a:ext cx="1353312" cy="301752"/>
          </a:xfrm>
          <a:prstGeom prst="line">
            <a:avLst/>
          </a:prstGeom>
          <a:ln w="13716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108960" y="2715768"/>
            <a:ext cx="2157984" cy="301752"/>
          </a:xfrm>
          <a:prstGeom prst="line">
            <a:avLst/>
          </a:prstGeom>
          <a:ln w="13716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108960" y="2715768"/>
            <a:ext cx="2962656" cy="301752"/>
          </a:xfrm>
          <a:prstGeom prst="line">
            <a:avLst/>
          </a:prstGeom>
          <a:ln w="13716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108960" y="2715768"/>
            <a:ext cx="3767328" cy="301752"/>
          </a:xfrm>
          <a:prstGeom prst="line">
            <a:avLst/>
          </a:prstGeom>
          <a:ln w="13716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108960" y="2715768"/>
            <a:ext cx="4572000" cy="301752"/>
          </a:xfrm>
          <a:prstGeom prst="line">
            <a:avLst/>
          </a:prstGeom>
          <a:ln w="13716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108960" y="2715768"/>
            <a:ext cx="5376672" cy="301752"/>
          </a:xfrm>
          <a:prstGeom prst="line">
            <a:avLst/>
          </a:prstGeom>
          <a:ln w="13716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108960" y="2715768"/>
            <a:ext cx="6181344" cy="301752"/>
          </a:xfrm>
          <a:prstGeom prst="line">
            <a:avLst/>
          </a:prstGeom>
          <a:ln w="13716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108960" y="2715768"/>
            <a:ext cx="6986016" cy="301752"/>
          </a:xfrm>
          <a:prstGeom prst="line">
            <a:avLst/>
          </a:prstGeom>
          <a:ln w="13716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3314700" y="1911095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-6400800" y="198424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-6400800" y="215569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9372" y="1911095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-5596128" y="198424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-5596128" y="215569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24044" y="1911095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-4791456" y="198424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-4791456" y="215569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28716" y="1911095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-3986784" y="198424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-3986784" y="215569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r12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33388" y="1911095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-3182112" y="198424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-3182112" y="215569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r16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38060" y="1911095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-2377440" y="198424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-2377440" y="215569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r20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42731" y="1911095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-1572768" y="198424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-1572768" y="215569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r24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947404" y="1911095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-768096" y="198424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-768096" y="215569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r28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752076" y="1911095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576" y="198424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576" y="215569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r32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314700" y="277977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-6400800" y="285292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-6400800" y="302437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r36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119372" y="277977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-5596128" y="285292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-5596128" y="302437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r40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924044" y="277977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-4791456" y="285292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-4791456" y="302437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r44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728716" y="277977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-3986784" y="285292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-3986784" y="302437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r48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533388" y="277977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-3182112" y="285292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-3182112" y="302437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r52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338060" y="277977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-2377440" y="285292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-2377440" y="302437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r56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142731" y="277977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-1572768" y="285292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-1572768" y="302437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r60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947404" y="277977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-768096" y="285292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-768096" y="302437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r64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752076" y="277977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6576" y="285292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6576" y="302437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r68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1658600" y="2331720"/>
            <a:ext cx="2423160" cy="777240"/>
          </a:xfrm>
          <a:prstGeom prst="rect">
            <a:avLst/>
          </a:prstGeom>
          <a:solidFill>
            <a:srgbClr val="B5DC86"/>
          </a:solidFill>
          <a:ln w="18288">
            <a:solidFill>
              <a:srgbClr val="E58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811780" y="2404872"/>
            <a:ext cx="20116800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655">
                <a:solidFill>
                  <a:srgbClr val="202020"/>
                </a:solidFill>
                <a:latin typeface="DejaVu Sans"/>
              </a:rPr>
              <a:t>IB Leaf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811780" y="2667762"/>
            <a:ext cx="20116800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655">
                <a:solidFill>
                  <a:srgbClr val="202020"/>
                </a:solidFill>
                <a:latin typeface="DejaVu Sans"/>
              </a:rPr>
              <a:t>Leaf-C1-R0</a:t>
            </a:r>
          </a:p>
        </p:txBody>
      </p:sp>
      <p:cxnSp>
        <p:nvCxnSpPr>
          <p:cNvPr id="82" name="Connector 81"/>
          <p:cNvCxnSpPr/>
          <p:nvPr/>
        </p:nvCxnSpPr>
        <p:spPr>
          <a:xfrm flipV="1">
            <a:off x="14081760" y="2148840"/>
            <a:ext cx="548640" cy="566928"/>
          </a:xfrm>
          <a:prstGeom prst="line">
            <a:avLst/>
          </a:prstGeom>
          <a:ln w="13716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14081760" y="2148840"/>
            <a:ext cx="1353312" cy="566928"/>
          </a:xfrm>
          <a:prstGeom prst="line">
            <a:avLst/>
          </a:prstGeom>
          <a:ln w="13716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14081760" y="2148840"/>
            <a:ext cx="2157984" cy="566928"/>
          </a:xfrm>
          <a:prstGeom prst="line">
            <a:avLst/>
          </a:prstGeom>
          <a:ln w="13716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14081760" y="2148840"/>
            <a:ext cx="2962656" cy="566928"/>
          </a:xfrm>
          <a:prstGeom prst="line">
            <a:avLst/>
          </a:prstGeom>
          <a:ln w="13716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14081760" y="2148840"/>
            <a:ext cx="3767328" cy="566928"/>
          </a:xfrm>
          <a:prstGeom prst="line">
            <a:avLst/>
          </a:prstGeom>
          <a:ln w="13716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14081760" y="2148840"/>
            <a:ext cx="4572000" cy="566928"/>
          </a:xfrm>
          <a:prstGeom prst="line">
            <a:avLst/>
          </a:prstGeom>
          <a:ln w="13716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14081760" y="2148840"/>
            <a:ext cx="5376672" cy="566928"/>
          </a:xfrm>
          <a:prstGeom prst="line">
            <a:avLst/>
          </a:prstGeom>
          <a:ln w="13716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14081760" y="2148840"/>
            <a:ext cx="6181344" cy="566928"/>
          </a:xfrm>
          <a:prstGeom prst="line">
            <a:avLst/>
          </a:prstGeom>
          <a:ln w="13716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14081760" y="2148840"/>
            <a:ext cx="6986016" cy="566928"/>
          </a:xfrm>
          <a:prstGeom prst="line">
            <a:avLst/>
          </a:prstGeom>
          <a:ln w="13716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14081760" y="2715768"/>
            <a:ext cx="548640" cy="301752"/>
          </a:xfrm>
          <a:prstGeom prst="line">
            <a:avLst/>
          </a:prstGeom>
          <a:ln w="13716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14081760" y="2715768"/>
            <a:ext cx="1353312" cy="301752"/>
          </a:xfrm>
          <a:prstGeom prst="line">
            <a:avLst/>
          </a:prstGeom>
          <a:ln w="13716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14081760" y="2715768"/>
            <a:ext cx="2157984" cy="301752"/>
          </a:xfrm>
          <a:prstGeom prst="line">
            <a:avLst/>
          </a:prstGeom>
          <a:ln w="13716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14081760" y="2715768"/>
            <a:ext cx="2962656" cy="301752"/>
          </a:xfrm>
          <a:prstGeom prst="line">
            <a:avLst/>
          </a:prstGeom>
          <a:ln w="13716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14081760" y="2715768"/>
            <a:ext cx="3767328" cy="301752"/>
          </a:xfrm>
          <a:prstGeom prst="line">
            <a:avLst/>
          </a:prstGeom>
          <a:ln w="13716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14081760" y="2715768"/>
            <a:ext cx="4572000" cy="301752"/>
          </a:xfrm>
          <a:prstGeom prst="line">
            <a:avLst/>
          </a:prstGeom>
          <a:ln w="13716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14081760" y="2715768"/>
            <a:ext cx="5376672" cy="301752"/>
          </a:xfrm>
          <a:prstGeom prst="line">
            <a:avLst/>
          </a:prstGeom>
          <a:ln w="13716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14081760" y="2715768"/>
            <a:ext cx="6181344" cy="301752"/>
          </a:xfrm>
          <a:prstGeom prst="line">
            <a:avLst/>
          </a:prstGeom>
          <a:ln w="13716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14081760" y="2715768"/>
            <a:ext cx="6986016" cy="301752"/>
          </a:xfrm>
          <a:prstGeom prst="line">
            <a:avLst/>
          </a:prstGeom>
          <a:ln w="13716">
            <a:solidFill>
              <a:srgbClr val="E58A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Rectangle 99"/>
          <p:cNvSpPr/>
          <p:nvPr/>
        </p:nvSpPr>
        <p:spPr>
          <a:xfrm>
            <a:off x="14287500" y="1911095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572000" y="198424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572000" y="215569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r72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5092172" y="1911095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376672" y="198424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376672" y="215569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r76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5896844" y="1911095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81344" y="198424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181344" y="215569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r80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6701516" y="1911095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986016" y="198424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986016" y="215569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r84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7506188" y="1911095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790688" y="198424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790688" y="215569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r88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8310860" y="1911095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595360" y="198424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595360" y="215569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r92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9115532" y="1911095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9400032" y="198424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400032" y="215569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r96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9920204" y="1911095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0204704" y="198424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0204704" y="215569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r100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20724876" y="1911095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1009376" y="198424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1009376" y="215569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r104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14287500" y="277977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4572000" y="285292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572000" y="302437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r108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5092172" y="277977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5376672" y="285292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5376672" y="302437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r112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15896844" y="277977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6181344" y="285292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181344" y="302437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r116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16701516" y="277977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6986016" y="285292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986016" y="302437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r120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17506188" y="277977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7790688" y="285292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7790688" y="302437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r124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18310860" y="277977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8595360" y="285292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595360" y="302437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r128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9115532" y="277977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9400032" y="285292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9400032" y="302437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r132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19920204" y="277977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10204704" y="285292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0204704" y="302437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r136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20724876" y="277977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1009376" y="285292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1009376" y="302437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r140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40080" y="3685032"/>
            <a:ext cx="21305520" cy="2880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12">
                <a:solidFill>
                  <a:srgbClr val="E58A24"/>
                </a:solidFill>
                <a:latin typeface="DejaVu Sans"/>
              </a:rPr>
              <a:t>Rail 0: 18 GPUs/rack, 36 GPUs total; each GPU uplink = 400 Gb/s = 50 GB/s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685800" y="4709160"/>
            <a:ext cx="2423160" cy="777240"/>
          </a:xfrm>
          <a:prstGeom prst="rect">
            <a:avLst/>
          </a:prstGeom>
          <a:solidFill>
            <a:srgbClr val="B5DC86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-8161020" y="4782312"/>
            <a:ext cx="20116800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655">
                <a:solidFill>
                  <a:srgbClr val="202020"/>
                </a:solidFill>
                <a:latin typeface="DejaVu Sans"/>
              </a:rPr>
              <a:t>IB Leaf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-8161020" y="5045202"/>
            <a:ext cx="20116800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655">
                <a:solidFill>
                  <a:srgbClr val="202020"/>
                </a:solidFill>
                <a:latin typeface="DejaVu Sans"/>
              </a:rPr>
              <a:t>Leaf-C0-R1</a:t>
            </a:r>
          </a:p>
        </p:txBody>
      </p:sp>
      <p:cxnSp>
        <p:nvCxnSpPr>
          <p:cNvPr id="158" name="Connector 157"/>
          <p:cNvCxnSpPr/>
          <p:nvPr/>
        </p:nvCxnSpPr>
        <p:spPr>
          <a:xfrm flipV="1">
            <a:off x="3108960" y="4526280"/>
            <a:ext cx="548640" cy="566928"/>
          </a:xfrm>
          <a:prstGeom prst="line">
            <a:avLst/>
          </a:prstGeom>
          <a:ln w="13716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3108960" y="4526280"/>
            <a:ext cx="1353312" cy="566928"/>
          </a:xfrm>
          <a:prstGeom prst="line">
            <a:avLst/>
          </a:prstGeom>
          <a:ln w="13716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3108960" y="4526280"/>
            <a:ext cx="2157984" cy="566928"/>
          </a:xfrm>
          <a:prstGeom prst="line">
            <a:avLst/>
          </a:prstGeom>
          <a:ln w="13716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3108960" y="4526280"/>
            <a:ext cx="2962656" cy="566928"/>
          </a:xfrm>
          <a:prstGeom prst="line">
            <a:avLst/>
          </a:prstGeom>
          <a:ln w="13716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3108960" y="4526280"/>
            <a:ext cx="3767328" cy="566928"/>
          </a:xfrm>
          <a:prstGeom prst="line">
            <a:avLst/>
          </a:prstGeom>
          <a:ln w="13716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3108960" y="4526280"/>
            <a:ext cx="4572000" cy="566928"/>
          </a:xfrm>
          <a:prstGeom prst="line">
            <a:avLst/>
          </a:prstGeom>
          <a:ln w="13716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3108960" y="4526280"/>
            <a:ext cx="5376672" cy="566928"/>
          </a:xfrm>
          <a:prstGeom prst="line">
            <a:avLst/>
          </a:prstGeom>
          <a:ln w="13716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3108960" y="4526280"/>
            <a:ext cx="6181344" cy="566928"/>
          </a:xfrm>
          <a:prstGeom prst="line">
            <a:avLst/>
          </a:prstGeom>
          <a:ln w="13716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3108960" y="4526280"/>
            <a:ext cx="6986016" cy="566928"/>
          </a:xfrm>
          <a:prstGeom prst="line">
            <a:avLst/>
          </a:prstGeom>
          <a:ln w="13716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3108960" y="5093208"/>
            <a:ext cx="548640" cy="301752"/>
          </a:xfrm>
          <a:prstGeom prst="line">
            <a:avLst/>
          </a:prstGeom>
          <a:ln w="13716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3108960" y="5093208"/>
            <a:ext cx="1353312" cy="301752"/>
          </a:xfrm>
          <a:prstGeom prst="line">
            <a:avLst/>
          </a:prstGeom>
          <a:ln w="13716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3108960" y="5093208"/>
            <a:ext cx="2157984" cy="301752"/>
          </a:xfrm>
          <a:prstGeom prst="line">
            <a:avLst/>
          </a:prstGeom>
          <a:ln w="13716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3108960" y="5093208"/>
            <a:ext cx="2962656" cy="301752"/>
          </a:xfrm>
          <a:prstGeom prst="line">
            <a:avLst/>
          </a:prstGeom>
          <a:ln w="13716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3108960" y="5093208"/>
            <a:ext cx="3767328" cy="301752"/>
          </a:xfrm>
          <a:prstGeom prst="line">
            <a:avLst/>
          </a:prstGeom>
          <a:ln w="13716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3108960" y="5093208"/>
            <a:ext cx="4572000" cy="301752"/>
          </a:xfrm>
          <a:prstGeom prst="line">
            <a:avLst/>
          </a:prstGeom>
          <a:ln w="13716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3108960" y="5093208"/>
            <a:ext cx="5376672" cy="301752"/>
          </a:xfrm>
          <a:prstGeom prst="line">
            <a:avLst/>
          </a:prstGeom>
          <a:ln w="13716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3108960" y="5093208"/>
            <a:ext cx="6181344" cy="301752"/>
          </a:xfrm>
          <a:prstGeom prst="line">
            <a:avLst/>
          </a:prstGeom>
          <a:ln w="13716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3108960" y="5093208"/>
            <a:ext cx="6986016" cy="301752"/>
          </a:xfrm>
          <a:prstGeom prst="line">
            <a:avLst/>
          </a:prstGeom>
          <a:ln w="13716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6" name="Rectangle 175"/>
          <p:cNvSpPr/>
          <p:nvPr/>
        </p:nvSpPr>
        <p:spPr>
          <a:xfrm>
            <a:off x="3314700" y="428853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-6400800" y="436168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-6400800" y="453313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r1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4119372" y="428853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-5596128" y="436168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-5596128" y="453313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r5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4924044" y="428853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-4791456" y="436168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-4791456" y="453313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r9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5728716" y="428853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-3986784" y="436168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-3986784" y="453313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r13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6533388" y="428853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-3182112" y="436168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-3182112" y="453313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r17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7338060" y="428853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-2377440" y="436168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-2377440" y="453313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r21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8142731" y="428853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-1572768" y="436168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-1572768" y="453313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r25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8947404" y="428853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-768096" y="436168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-768096" y="453313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r29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9752076" y="428853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36576" y="436168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36576" y="453313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r33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3314700" y="515721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-6400800" y="523036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-6400800" y="540181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r37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4119372" y="515721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-5596128" y="523036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-5596128" y="540181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r41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4924044" y="515721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-4791456" y="523036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-4791456" y="540181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r45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5728716" y="515721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-3986784" y="523036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-3986784" y="540181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r49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6533388" y="515721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-3182112" y="523036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-3182112" y="540181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r53</a:t>
            </a:r>
          </a:p>
        </p:txBody>
      </p:sp>
      <p:sp>
        <p:nvSpPr>
          <p:cNvPr id="218" name="Rectangle 217"/>
          <p:cNvSpPr/>
          <p:nvPr/>
        </p:nvSpPr>
        <p:spPr>
          <a:xfrm>
            <a:off x="7338060" y="515721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-2377440" y="523036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-2377440" y="540181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r57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8142731" y="515721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-1572768" y="523036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-1572768" y="540181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r61</a:t>
            </a:r>
          </a:p>
        </p:txBody>
      </p:sp>
      <p:sp>
        <p:nvSpPr>
          <p:cNvPr id="224" name="Rectangle 223"/>
          <p:cNvSpPr/>
          <p:nvPr/>
        </p:nvSpPr>
        <p:spPr>
          <a:xfrm>
            <a:off x="8947404" y="515721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-768096" y="523036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-768096" y="540181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r65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9752076" y="515721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36576" y="523036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36576" y="540181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r69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11658600" y="4709160"/>
            <a:ext cx="2423160" cy="777240"/>
          </a:xfrm>
          <a:prstGeom prst="rect">
            <a:avLst/>
          </a:prstGeom>
          <a:solidFill>
            <a:srgbClr val="B5DC86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2811780" y="4782312"/>
            <a:ext cx="20116800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655">
                <a:solidFill>
                  <a:srgbClr val="202020"/>
                </a:solidFill>
                <a:latin typeface="DejaVu Sans"/>
              </a:rPr>
              <a:t>IB Leaf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2811780" y="5045202"/>
            <a:ext cx="20116800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655">
                <a:solidFill>
                  <a:srgbClr val="202020"/>
                </a:solidFill>
                <a:latin typeface="DejaVu Sans"/>
              </a:rPr>
              <a:t>Leaf-C1-R1</a:t>
            </a:r>
          </a:p>
        </p:txBody>
      </p:sp>
      <p:cxnSp>
        <p:nvCxnSpPr>
          <p:cNvPr id="233" name="Connector 232"/>
          <p:cNvCxnSpPr/>
          <p:nvPr/>
        </p:nvCxnSpPr>
        <p:spPr>
          <a:xfrm flipV="1">
            <a:off x="14081760" y="4526280"/>
            <a:ext cx="548640" cy="566928"/>
          </a:xfrm>
          <a:prstGeom prst="line">
            <a:avLst/>
          </a:prstGeom>
          <a:ln w="13716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 flipV="1">
            <a:off x="14081760" y="4526280"/>
            <a:ext cx="1353312" cy="566928"/>
          </a:xfrm>
          <a:prstGeom prst="line">
            <a:avLst/>
          </a:prstGeom>
          <a:ln w="13716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 flipV="1">
            <a:off x="14081760" y="4526280"/>
            <a:ext cx="2157984" cy="566928"/>
          </a:xfrm>
          <a:prstGeom prst="line">
            <a:avLst/>
          </a:prstGeom>
          <a:ln w="13716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 flipV="1">
            <a:off x="14081760" y="4526280"/>
            <a:ext cx="2962656" cy="566928"/>
          </a:xfrm>
          <a:prstGeom prst="line">
            <a:avLst/>
          </a:prstGeom>
          <a:ln w="13716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 flipV="1">
            <a:off x="14081760" y="4526280"/>
            <a:ext cx="3767328" cy="566928"/>
          </a:xfrm>
          <a:prstGeom prst="line">
            <a:avLst/>
          </a:prstGeom>
          <a:ln w="13716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 flipV="1">
            <a:off x="14081760" y="4526280"/>
            <a:ext cx="4572000" cy="566928"/>
          </a:xfrm>
          <a:prstGeom prst="line">
            <a:avLst/>
          </a:prstGeom>
          <a:ln w="13716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 flipV="1">
            <a:off x="14081760" y="4526280"/>
            <a:ext cx="5376672" cy="566928"/>
          </a:xfrm>
          <a:prstGeom prst="line">
            <a:avLst/>
          </a:prstGeom>
          <a:ln w="13716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 flipV="1">
            <a:off x="14081760" y="4526280"/>
            <a:ext cx="6181344" cy="566928"/>
          </a:xfrm>
          <a:prstGeom prst="line">
            <a:avLst/>
          </a:prstGeom>
          <a:ln w="13716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 flipV="1">
            <a:off x="14081760" y="4526280"/>
            <a:ext cx="6986016" cy="566928"/>
          </a:xfrm>
          <a:prstGeom prst="line">
            <a:avLst/>
          </a:prstGeom>
          <a:ln w="13716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>
            <a:off x="14081760" y="5093208"/>
            <a:ext cx="548640" cy="301752"/>
          </a:xfrm>
          <a:prstGeom prst="line">
            <a:avLst/>
          </a:prstGeom>
          <a:ln w="13716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>
            <a:off x="14081760" y="5093208"/>
            <a:ext cx="1353312" cy="301752"/>
          </a:xfrm>
          <a:prstGeom prst="line">
            <a:avLst/>
          </a:prstGeom>
          <a:ln w="13716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>
            <a:off x="14081760" y="5093208"/>
            <a:ext cx="2157984" cy="301752"/>
          </a:xfrm>
          <a:prstGeom prst="line">
            <a:avLst/>
          </a:prstGeom>
          <a:ln w="13716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>
            <a:off x="14081760" y="5093208"/>
            <a:ext cx="2962656" cy="301752"/>
          </a:xfrm>
          <a:prstGeom prst="line">
            <a:avLst/>
          </a:prstGeom>
          <a:ln w="13716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>
            <a:off x="14081760" y="5093208"/>
            <a:ext cx="3767328" cy="301752"/>
          </a:xfrm>
          <a:prstGeom prst="line">
            <a:avLst/>
          </a:prstGeom>
          <a:ln w="13716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>
            <a:off x="14081760" y="5093208"/>
            <a:ext cx="4572000" cy="301752"/>
          </a:xfrm>
          <a:prstGeom prst="line">
            <a:avLst/>
          </a:prstGeom>
          <a:ln w="13716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>
            <a:off x="14081760" y="5093208"/>
            <a:ext cx="5376672" cy="301752"/>
          </a:xfrm>
          <a:prstGeom prst="line">
            <a:avLst/>
          </a:prstGeom>
          <a:ln w="13716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 248"/>
          <p:cNvCxnSpPr/>
          <p:nvPr/>
        </p:nvCxnSpPr>
        <p:spPr>
          <a:xfrm>
            <a:off x="14081760" y="5093208"/>
            <a:ext cx="6181344" cy="301752"/>
          </a:xfrm>
          <a:prstGeom prst="line">
            <a:avLst/>
          </a:prstGeom>
          <a:ln w="13716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>
            <a:off x="14081760" y="5093208"/>
            <a:ext cx="6986016" cy="301752"/>
          </a:xfrm>
          <a:prstGeom prst="line">
            <a:avLst/>
          </a:prstGeom>
          <a:ln w="13716">
            <a:solidFill>
              <a:srgbClr val="44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1" name="Rectangle 250"/>
          <p:cNvSpPr/>
          <p:nvPr/>
        </p:nvSpPr>
        <p:spPr>
          <a:xfrm>
            <a:off x="14287500" y="428853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TextBox 251"/>
          <p:cNvSpPr txBox="1"/>
          <p:nvPr/>
        </p:nvSpPr>
        <p:spPr>
          <a:xfrm>
            <a:off x="4572000" y="436168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4572000" y="453313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r73</a:t>
            </a:r>
          </a:p>
        </p:txBody>
      </p:sp>
      <p:sp>
        <p:nvSpPr>
          <p:cNvPr id="254" name="Rectangle 253"/>
          <p:cNvSpPr/>
          <p:nvPr/>
        </p:nvSpPr>
        <p:spPr>
          <a:xfrm>
            <a:off x="15092172" y="428853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TextBox 254"/>
          <p:cNvSpPr txBox="1"/>
          <p:nvPr/>
        </p:nvSpPr>
        <p:spPr>
          <a:xfrm>
            <a:off x="5376672" y="436168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5376672" y="453313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r77</a:t>
            </a:r>
          </a:p>
        </p:txBody>
      </p:sp>
      <p:sp>
        <p:nvSpPr>
          <p:cNvPr id="257" name="Rectangle 256"/>
          <p:cNvSpPr/>
          <p:nvPr/>
        </p:nvSpPr>
        <p:spPr>
          <a:xfrm>
            <a:off x="15896844" y="428853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6181344" y="436168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6181344" y="453313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r81</a:t>
            </a:r>
          </a:p>
        </p:txBody>
      </p:sp>
      <p:sp>
        <p:nvSpPr>
          <p:cNvPr id="260" name="Rectangle 259"/>
          <p:cNvSpPr/>
          <p:nvPr/>
        </p:nvSpPr>
        <p:spPr>
          <a:xfrm>
            <a:off x="16701516" y="428853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TextBox 260"/>
          <p:cNvSpPr txBox="1"/>
          <p:nvPr/>
        </p:nvSpPr>
        <p:spPr>
          <a:xfrm>
            <a:off x="6986016" y="436168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6986016" y="453313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r85</a:t>
            </a:r>
          </a:p>
        </p:txBody>
      </p:sp>
      <p:sp>
        <p:nvSpPr>
          <p:cNvPr id="263" name="Rectangle 262"/>
          <p:cNvSpPr/>
          <p:nvPr/>
        </p:nvSpPr>
        <p:spPr>
          <a:xfrm>
            <a:off x="17506188" y="428853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TextBox 263"/>
          <p:cNvSpPr txBox="1"/>
          <p:nvPr/>
        </p:nvSpPr>
        <p:spPr>
          <a:xfrm>
            <a:off x="7790688" y="436168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7790688" y="453313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r89</a:t>
            </a:r>
          </a:p>
        </p:txBody>
      </p:sp>
      <p:sp>
        <p:nvSpPr>
          <p:cNvPr id="266" name="Rectangle 265"/>
          <p:cNvSpPr/>
          <p:nvPr/>
        </p:nvSpPr>
        <p:spPr>
          <a:xfrm>
            <a:off x="18310860" y="428853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TextBox 266"/>
          <p:cNvSpPr txBox="1"/>
          <p:nvPr/>
        </p:nvSpPr>
        <p:spPr>
          <a:xfrm>
            <a:off x="8595360" y="436168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8595360" y="453313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r93</a:t>
            </a:r>
          </a:p>
        </p:txBody>
      </p:sp>
      <p:sp>
        <p:nvSpPr>
          <p:cNvPr id="269" name="Rectangle 268"/>
          <p:cNvSpPr/>
          <p:nvPr/>
        </p:nvSpPr>
        <p:spPr>
          <a:xfrm>
            <a:off x="19115532" y="428853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9400032" y="436168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9400032" y="453313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r97</a:t>
            </a:r>
          </a:p>
        </p:txBody>
      </p:sp>
      <p:sp>
        <p:nvSpPr>
          <p:cNvPr id="272" name="Rectangle 271"/>
          <p:cNvSpPr/>
          <p:nvPr/>
        </p:nvSpPr>
        <p:spPr>
          <a:xfrm>
            <a:off x="19920204" y="428853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TextBox 272"/>
          <p:cNvSpPr txBox="1"/>
          <p:nvPr/>
        </p:nvSpPr>
        <p:spPr>
          <a:xfrm>
            <a:off x="10204704" y="436168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10204704" y="453313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r101</a:t>
            </a:r>
          </a:p>
        </p:txBody>
      </p:sp>
      <p:sp>
        <p:nvSpPr>
          <p:cNvPr id="275" name="Rectangle 274"/>
          <p:cNvSpPr/>
          <p:nvPr/>
        </p:nvSpPr>
        <p:spPr>
          <a:xfrm>
            <a:off x="20724876" y="428853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TextBox 275"/>
          <p:cNvSpPr txBox="1"/>
          <p:nvPr/>
        </p:nvSpPr>
        <p:spPr>
          <a:xfrm>
            <a:off x="11009376" y="436168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11009376" y="453313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r105</a:t>
            </a:r>
          </a:p>
        </p:txBody>
      </p:sp>
      <p:sp>
        <p:nvSpPr>
          <p:cNvPr id="278" name="Rectangle 277"/>
          <p:cNvSpPr/>
          <p:nvPr/>
        </p:nvSpPr>
        <p:spPr>
          <a:xfrm>
            <a:off x="14287500" y="515721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TextBox 278"/>
          <p:cNvSpPr txBox="1"/>
          <p:nvPr/>
        </p:nvSpPr>
        <p:spPr>
          <a:xfrm>
            <a:off x="4572000" y="523036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4572000" y="540181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r109</a:t>
            </a:r>
          </a:p>
        </p:txBody>
      </p:sp>
      <p:sp>
        <p:nvSpPr>
          <p:cNvPr id="281" name="Rectangle 280"/>
          <p:cNvSpPr/>
          <p:nvPr/>
        </p:nvSpPr>
        <p:spPr>
          <a:xfrm>
            <a:off x="15092172" y="515721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TextBox 281"/>
          <p:cNvSpPr txBox="1"/>
          <p:nvPr/>
        </p:nvSpPr>
        <p:spPr>
          <a:xfrm>
            <a:off x="5376672" y="523036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5376672" y="540181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r113</a:t>
            </a:r>
          </a:p>
        </p:txBody>
      </p:sp>
      <p:sp>
        <p:nvSpPr>
          <p:cNvPr id="284" name="Rectangle 283"/>
          <p:cNvSpPr/>
          <p:nvPr/>
        </p:nvSpPr>
        <p:spPr>
          <a:xfrm>
            <a:off x="15896844" y="515721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TextBox 284"/>
          <p:cNvSpPr txBox="1"/>
          <p:nvPr/>
        </p:nvSpPr>
        <p:spPr>
          <a:xfrm>
            <a:off x="6181344" y="523036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286" name="TextBox 285"/>
          <p:cNvSpPr txBox="1"/>
          <p:nvPr/>
        </p:nvSpPr>
        <p:spPr>
          <a:xfrm>
            <a:off x="6181344" y="540181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r117</a:t>
            </a:r>
          </a:p>
        </p:txBody>
      </p:sp>
      <p:sp>
        <p:nvSpPr>
          <p:cNvPr id="287" name="Rectangle 286"/>
          <p:cNvSpPr/>
          <p:nvPr/>
        </p:nvSpPr>
        <p:spPr>
          <a:xfrm>
            <a:off x="16701516" y="515721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TextBox 287"/>
          <p:cNvSpPr txBox="1"/>
          <p:nvPr/>
        </p:nvSpPr>
        <p:spPr>
          <a:xfrm>
            <a:off x="6986016" y="523036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6986016" y="540181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r121</a:t>
            </a:r>
          </a:p>
        </p:txBody>
      </p:sp>
      <p:sp>
        <p:nvSpPr>
          <p:cNvPr id="290" name="Rectangle 289"/>
          <p:cNvSpPr/>
          <p:nvPr/>
        </p:nvSpPr>
        <p:spPr>
          <a:xfrm>
            <a:off x="17506188" y="515721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TextBox 290"/>
          <p:cNvSpPr txBox="1"/>
          <p:nvPr/>
        </p:nvSpPr>
        <p:spPr>
          <a:xfrm>
            <a:off x="7790688" y="523036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7790688" y="540181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r125</a:t>
            </a:r>
          </a:p>
        </p:txBody>
      </p:sp>
      <p:sp>
        <p:nvSpPr>
          <p:cNvPr id="293" name="Rectangle 292"/>
          <p:cNvSpPr/>
          <p:nvPr/>
        </p:nvSpPr>
        <p:spPr>
          <a:xfrm>
            <a:off x="18310860" y="515721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TextBox 293"/>
          <p:cNvSpPr txBox="1"/>
          <p:nvPr/>
        </p:nvSpPr>
        <p:spPr>
          <a:xfrm>
            <a:off x="8595360" y="523036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8595360" y="540181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r129</a:t>
            </a:r>
          </a:p>
        </p:txBody>
      </p:sp>
      <p:sp>
        <p:nvSpPr>
          <p:cNvPr id="296" name="Rectangle 295"/>
          <p:cNvSpPr/>
          <p:nvPr/>
        </p:nvSpPr>
        <p:spPr>
          <a:xfrm>
            <a:off x="19115532" y="515721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TextBox 296"/>
          <p:cNvSpPr txBox="1"/>
          <p:nvPr/>
        </p:nvSpPr>
        <p:spPr>
          <a:xfrm>
            <a:off x="9400032" y="523036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9400032" y="540181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r133</a:t>
            </a:r>
          </a:p>
        </p:txBody>
      </p:sp>
      <p:sp>
        <p:nvSpPr>
          <p:cNvPr id="299" name="Rectangle 298"/>
          <p:cNvSpPr/>
          <p:nvPr/>
        </p:nvSpPr>
        <p:spPr>
          <a:xfrm>
            <a:off x="19920204" y="515721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TextBox 299"/>
          <p:cNvSpPr txBox="1"/>
          <p:nvPr/>
        </p:nvSpPr>
        <p:spPr>
          <a:xfrm>
            <a:off x="10204704" y="523036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301" name="TextBox 300"/>
          <p:cNvSpPr txBox="1"/>
          <p:nvPr/>
        </p:nvSpPr>
        <p:spPr>
          <a:xfrm>
            <a:off x="10204704" y="540181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r137</a:t>
            </a:r>
          </a:p>
        </p:txBody>
      </p:sp>
      <p:sp>
        <p:nvSpPr>
          <p:cNvPr id="302" name="Rectangle 301"/>
          <p:cNvSpPr/>
          <p:nvPr/>
        </p:nvSpPr>
        <p:spPr>
          <a:xfrm>
            <a:off x="20724876" y="515721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TextBox 302"/>
          <p:cNvSpPr txBox="1"/>
          <p:nvPr/>
        </p:nvSpPr>
        <p:spPr>
          <a:xfrm>
            <a:off x="11009376" y="523036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304" name="TextBox 303"/>
          <p:cNvSpPr txBox="1"/>
          <p:nvPr/>
        </p:nvSpPr>
        <p:spPr>
          <a:xfrm>
            <a:off x="11009376" y="540181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r141</a:t>
            </a:r>
          </a:p>
        </p:txBody>
      </p:sp>
      <p:sp>
        <p:nvSpPr>
          <p:cNvPr id="305" name="TextBox 304"/>
          <p:cNvSpPr txBox="1"/>
          <p:nvPr/>
        </p:nvSpPr>
        <p:spPr>
          <a:xfrm>
            <a:off x="640080" y="6062472"/>
            <a:ext cx="21305520" cy="2880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12">
                <a:solidFill>
                  <a:srgbClr val="447AC3"/>
                </a:solidFill>
                <a:latin typeface="DejaVu Sans"/>
              </a:rPr>
              <a:t>Rail 1: 18 GPUs/rack, 36 GPUs total; each GPU uplink = 400 Gb/s = 50 GB/s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685800" y="7086600"/>
            <a:ext cx="2423160" cy="777240"/>
          </a:xfrm>
          <a:prstGeom prst="rect">
            <a:avLst/>
          </a:prstGeom>
          <a:solidFill>
            <a:srgbClr val="B5DC86"/>
          </a:solidFill>
          <a:ln w="18288">
            <a:solidFill>
              <a:srgbClr val="268C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TextBox 306"/>
          <p:cNvSpPr txBox="1"/>
          <p:nvPr/>
        </p:nvSpPr>
        <p:spPr>
          <a:xfrm>
            <a:off x="-8161020" y="7159752"/>
            <a:ext cx="20116800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655">
                <a:solidFill>
                  <a:srgbClr val="202020"/>
                </a:solidFill>
                <a:latin typeface="DejaVu Sans"/>
              </a:rPr>
              <a:t>IB Leaf</a:t>
            </a:r>
          </a:p>
        </p:txBody>
      </p:sp>
      <p:sp>
        <p:nvSpPr>
          <p:cNvPr id="308" name="TextBox 307"/>
          <p:cNvSpPr txBox="1"/>
          <p:nvPr/>
        </p:nvSpPr>
        <p:spPr>
          <a:xfrm>
            <a:off x="-8161020" y="7422642"/>
            <a:ext cx="20116800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655">
                <a:solidFill>
                  <a:srgbClr val="202020"/>
                </a:solidFill>
                <a:latin typeface="DejaVu Sans"/>
              </a:rPr>
              <a:t>Leaf-C0-R2</a:t>
            </a:r>
          </a:p>
        </p:txBody>
      </p:sp>
      <p:cxnSp>
        <p:nvCxnSpPr>
          <p:cNvPr id="309" name="Connector 308"/>
          <p:cNvCxnSpPr/>
          <p:nvPr/>
        </p:nvCxnSpPr>
        <p:spPr>
          <a:xfrm flipV="1">
            <a:off x="3108960" y="6903720"/>
            <a:ext cx="548640" cy="566928"/>
          </a:xfrm>
          <a:prstGeom prst="line">
            <a:avLst/>
          </a:prstGeom>
          <a:ln w="13716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Connector 309"/>
          <p:cNvCxnSpPr/>
          <p:nvPr/>
        </p:nvCxnSpPr>
        <p:spPr>
          <a:xfrm flipV="1">
            <a:off x="3108960" y="6903720"/>
            <a:ext cx="1353312" cy="566928"/>
          </a:xfrm>
          <a:prstGeom prst="line">
            <a:avLst/>
          </a:prstGeom>
          <a:ln w="13716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Connector 310"/>
          <p:cNvCxnSpPr/>
          <p:nvPr/>
        </p:nvCxnSpPr>
        <p:spPr>
          <a:xfrm flipV="1">
            <a:off x="3108960" y="6903720"/>
            <a:ext cx="2157984" cy="566928"/>
          </a:xfrm>
          <a:prstGeom prst="line">
            <a:avLst/>
          </a:prstGeom>
          <a:ln w="13716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Connector 311"/>
          <p:cNvCxnSpPr/>
          <p:nvPr/>
        </p:nvCxnSpPr>
        <p:spPr>
          <a:xfrm flipV="1">
            <a:off x="3108960" y="6903720"/>
            <a:ext cx="2962656" cy="566928"/>
          </a:xfrm>
          <a:prstGeom prst="line">
            <a:avLst/>
          </a:prstGeom>
          <a:ln w="13716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Connector 312"/>
          <p:cNvCxnSpPr/>
          <p:nvPr/>
        </p:nvCxnSpPr>
        <p:spPr>
          <a:xfrm flipV="1">
            <a:off x="3108960" y="6903720"/>
            <a:ext cx="3767328" cy="566928"/>
          </a:xfrm>
          <a:prstGeom prst="line">
            <a:avLst/>
          </a:prstGeom>
          <a:ln w="13716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Connector 313"/>
          <p:cNvCxnSpPr/>
          <p:nvPr/>
        </p:nvCxnSpPr>
        <p:spPr>
          <a:xfrm flipV="1">
            <a:off x="3108960" y="6903720"/>
            <a:ext cx="4572000" cy="566928"/>
          </a:xfrm>
          <a:prstGeom prst="line">
            <a:avLst/>
          </a:prstGeom>
          <a:ln w="13716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Connector 314"/>
          <p:cNvCxnSpPr/>
          <p:nvPr/>
        </p:nvCxnSpPr>
        <p:spPr>
          <a:xfrm flipV="1">
            <a:off x="3108960" y="6903720"/>
            <a:ext cx="5376672" cy="566928"/>
          </a:xfrm>
          <a:prstGeom prst="line">
            <a:avLst/>
          </a:prstGeom>
          <a:ln w="13716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Connector 315"/>
          <p:cNvCxnSpPr/>
          <p:nvPr/>
        </p:nvCxnSpPr>
        <p:spPr>
          <a:xfrm flipV="1">
            <a:off x="3108960" y="6903720"/>
            <a:ext cx="6181344" cy="566928"/>
          </a:xfrm>
          <a:prstGeom prst="line">
            <a:avLst/>
          </a:prstGeom>
          <a:ln w="13716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" name="Connector 316"/>
          <p:cNvCxnSpPr/>
          <p:nvPr/>
        </p:nvCxnSpPr>
        <p:spPr>
          <a:xfrm flipV="1">
            <a:off x="3108960" y="6903720"/>
            <a:ext cx="6986016" cy="566928"/>
          </a:xfrm>
          <a:prstGeom prst="line">
            <a:avLst/>
          </a:prstGeom>
          <a:ln w="13716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" name="Connector 317"/>
          <p:cNvCxnSpPr/>
          <p:nvPr/>
        </p:nvCxnSpPr>
        <p:spPr>
          <a:xfrm>
            <a:off x="3108960" y="7470648"/>
            <a:ext cx="548640" cy="301752"/>
          </a:xfrm>
          <a:prstGeom prst="line">
            <a:avLst/>
          </a:prstGeom>
          <a:ln w="13716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" name="Connector 318"/>
          <p:cNvCxnSpPr/>
          <p:nvPr/>
        </p:nvCxnSpPr>
        <p:spPr>
          <a:xfrm>
            <a:off x="3108960" y="7470648"/>
            <a:ext cx="1353312" cy="301752"/>
          </a:xfrm>
          <a:prstGeom prst="line">
            <a:avLst/>
          </a:prstGeom>
          <a:ln w="13716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" name="Connector 319"/>
          <p:cNvCxnSpPr/>
          <p:nvPr/>
        </p:nvCxnSpPr>
        <p:spPr>
          <a:xfrm>
            <a:off x="3108960" y="7470648"/>
            <a:ext cx="2157984" cy="301752"/>
          </a:xfrm>
          <a:prstGeom prst="line">
            <a:avLst/>
          </a:prstGeom>
          <a:ln w="13716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Connector 320"/>
          <p:cNvCxnSpPr/>
          <p:nvPr/>
        </p:nvCxnSpPr>
        <p:spPr>
          <a:xfrm>
            <a:off x="3108960" y="7470648"/>
            <a:ext cx="2962656" cy="301752"/>
          </a:xfrm>
          <a:prstGeom prst="line">
            <a:avLst/>
          </a:prstGeom>
          <a:ln w="13716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Connector 321"/>
          <p:cNvCxnSpPr/>
          <p:nvPr/>
        </p:nvCxnSpPr>
        <p:spPr>
          <a:xfrm>
            <a:off x="3108960" y="7470648"/>
            <a:ext cx="3767328" cy="301752"/>
          </a:xfrm>
          <a:prstGeom prst="line">
            <a:avLst/>
          </a:prstGeom>
          <a:ln w="13716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Connector 322"/>
          <p:cNvCxnSpPr/>
          <p:nvPr/>
        </p:nvCxnSpPr>
        <p:spPr>
          <a:xfrm>
            <a:off x="3108960" y="7470648"/>
            <a:ext cx="4572000" cy="301752"/>
          </a:xfrm>
          <a:prstGeom prst="line">
            <a:avLst/>
          </a:prstGeom>
          <a:ln w="13716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Connector 323"/>
          <p:cNvCxnSpPr/>
          <p:nvPr/>
        </p:nvCxnSpPr>
        <p:spPr>
          <a:xfrm>
            <a:off x="3108960" y="7470648"/>
            <a:ext cx="5376672" cy="301752"/>
          </a:xfrm>
          <a:prstGeom prst="line">
            <a:avLst/>
          </a:prstGeom>
          <a:ln w="13716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Connector 324"/>
          <p:cNvCxnSpPr/>
          <p:nvPr/>
        </p:nvCxnSpPr>
        <p:spPr>
          <a:xfrm>
            <a:off x="3108960" y="7470648"/>
            <a:ext cx="6181344" cy="301752"/>
          </a:xfrm>
          <a:prstGeom prst="line">
            <a:avLst/>
          </a:prstGeom>
          <a:ln w="13716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Connector 325"/>
          <p:cNvCxnSpPr/>
          <p:nvPr/>
        </p:nvCxnSpPr>
        <p:spPr>
          <a:xfrm>
            <a:off x="3108960" y="7470648"/>
            <a:ext cx="6986016" cy="301752"/>
          </a:xfrm>
          <a:prstGeom prst="line">
            <a:avLst/>
          </a:prstGeom>
          <a:ln w="13716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7" name="Rectangle 326"/>
          <p:cNvSpPr/>
          <p:nvPr/>
        </p:nvSpPr>
        <p:spPr>
          <a:xfrm>
            <a:off x="3314700" y="666597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TextBox 327"/>
          <p:cNvSpPr txBox="1"/>
          <p:nvPr/>
        </p:nvSpPr>
        <p:spPr>
          <a:xfrm>
            <a:off x="-6400800" y="673912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329" name="TextBox 328"/>
          <p:cNvSpPr txBox="1"/>
          <p:nvPr/>
        </p:nvSpPr>
        <p:spPr>
          <a:xfrm>
            <a:off x="-6400800" y="691057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r2</a:t>
            </a:r>
          </a:p>
        </p:txBody>
      </p:sp>
      <p:sp>
        <p:nvSpPr>
          <p:cNvPr id="330" name="Rectangle 329"/>
          <p:cNvSpPr/>
          <p:nvPr/>
        </p:nvSpPr>
        <p:spPr>
          <a:xfrm>
            <a:off x="4119372" y="666597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TextBox 330"/>
          <p:cNvSpPr txBox="1"/>
          <p:nvPr/>
        </p:nvSpPr>
        <p:spPr>
          <a:xfrm>
            <a:off x="-5596128" y="673912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332" name="TextBox 331"/>
          <p:cNvSpPr txBox="1"/>
          <p:nvPr/>
        </p:nvSpPr>
        <p:spPr>
          <a:xfrm>
            <a:off x="-5596128" y="691057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r6</a:t>
            </a:r>
          </a:p>
        </p:txBody>
      </p:sp>
      <p:sp>
        <p:nvSpPr>
          <p:cNvPr id="333" name="Rectangle 332"/>
          <p:cNvSpPr/>
          <p:nvPr/>
        </p:nvSpPr>
        <p:spPr>
          <a:xfrm>
            <a:off x="4924044" y="666597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TextBox 333"/>
          <p:cNvSpPr txBox="1"/>
          <p:nvPr/>
        </p:nvSpPr>
        <p:spPr>
          <a:xfrm>
            <a:off x="-4791456" y="673912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335" name="TextBox 334"/>
          <p:cNvSpPr txBox="1"/>
          <p:nvPr/>
        </p:nvSpPr>
        <p:spPr>
          <a:xfrm>
            <a:off x="-4791456" y="691057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r10</a:t>
            </a:r>
          </a:p>
        </p:txBody>
      </p:sp>
      <p:sp>
        <p:nvSpPr>
          <p:cNvPr id="336" name="Rectangle 335"/>
          <p:cNvSpPr/>
          <p:nvPr/>
        </p:nvSpPr>
        <p:spPr>
          <a:xfrm>
            <a:off x="5728716" y="666597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TextBox 336"/>
          <p:cNvSpPr txBox="1"/>
          <p:nvPr/>
        </p:nvSpPr>
        <p:spPr>
          <a:xfrm>
            <a:off x="-3986784" y="673912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-3986784" y="691057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r14</a:t>
            </a:r>
          </a:p>
        </p:txBody>
      </p:sp>
      <p:sp>
        <p:nvSpPr>
          <p:cNvPr id="339" name="Rectangle 338"/>
          <p:cNvSpPr/>
          <p:nvPr/>
        </p:nvSpPr>
        <p:spPr>
          <a:xfrm>
            <a:off x="6533388" y="666597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TextBox 339"/>
          <p:cNvSpPr txBox="1"/>
          <p:nvPr/>
        </p:nvSpPr>
        <p:spPr>
          <a:xfrm>
            <a:off x="-3182112" y="673912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-3182112" y="691057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r18</a:t>
            </a:r>
          </a:p>
        </p:txBody>
      </p:sp>
      <p:sp>
        <p:nvSpPr>
          <p:cNvPr id="342" name="Rectangle 341"/>
          <p:cNvSpPr/>
          <p:nvPr/>
        </p:nvSpPr>
        <p:spPr>
          <a:xfrm>
            <a:off x="7338060" y="666597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TextBox 342"/>
          <p:cNvSpPr txBox="1"/>
          <p:nvPr/>
        </p:nvSpPr>
        <p:spPr>
          <a:xfrm>
            <a:off x="-2377440" y="673912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344" name="TextBox 343"/>
          <p:cNvSpPr txBox="1"/>
          <p:nvPr/>
        </p:nvSpPr>
        <p:spPr>
          <a:xfrm>
            <a:off x="-2377440" y="691057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r22</a:t>
            </a:r>
          </a:p>
        </p:txBody>
      </p:sp>
      <p:sp>
        <p:nvSpPr>
          <p:cNvPr id="345" name="Rectangle 344"/>
          <p:cNvSpPr/>
          <p:nvPr/>
        </p:nvSpPr>
        <p:spPr>
          <a:xfrm>
            <a:off x="8142731" y="666597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TextBox 345"/>
          <p:cNvSpPr txBox="1"/>
          <p:nvPr/>
        </p:nvSpPr>
        <p:spPr>
          <a:xfrm>
            <a:off x="-1572768" y="673912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347" name="TextBox 346"/>
          <p:cNvSpPr txBox="1"/>
          <p:nvPr/>
        </p:nvSpPr>
        <p:spPr>
          <a:xfrm>
            <a:off x="-1572768" y="691057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r26</a:t>
            </a:r>
          </a:p>
        </p:txBody>
      </p:sp>
      <p:sp>
        <p:nvSpPr>
          <p:cNvPr id="348" name="Rectangle 347"/>
          <p:cNvSpPr/>
          <p:nvPr/>
        </p:nvSpPr>
        <p:spPr>
          <a:xfrm>
            <a:off x="8947404" y="666597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TextBox 348"/>
          <p:cNvSpPr txBox="1"/>
          <p:nvPr/>
        </p:nvSpPr>
        <p:spPr>
          <a:xfrm>
            <a:off x="-768096" y="673912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350" name="TextBox 349"/>
          <p:cNvSpPr txBox="1"/>
          <p:nvPr/>
        </p:nvSpPr>
        <p:spPr>
          <a:xfrm>
            <a:off x="-768096" y="691057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r30</a:t>
            </a:r>
          </a:p>
        </p:txBody>
      </p:sp>
      <p:sp>
        <p:nvSpPr>
          <p:cNvPr id="351" name="Rectangle 350"/>
          <p:cNvSpPr/>
          <p:nvPr/>
        </p:nvSpPr>
        <p:spPr>
          <a:xfrm>
            <a:off x="9752076" y="666597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TextBox 351"/>
          <p:cNvSpPr txBox="1"/>
          <p:nvPr/>
        </p:nvSpPr>
        <p:spPr>
          <a:xfrm>
            <a:off x="36576" y="673912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353" name="TextBox 352"/>
          <p:cNvSpPr txBox="1"/>
          <p:nvPr/>
        </p:nvSpPr>
        <p:spPr>
          <a:xfrm>
            <a:off x="36576" y="691057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r34</a:t>
            </a:r>
          </a:p>
        </p:txBody>
      </p:sp>
      <p:sp>
        <p:nvSpPr>
          <p:cNvPr id="354" name="Rectangle 353"/>
          <p:cNvSpPr/>
          <p:nvPr/>
        </p:nvSpPr>
        <p:spPr>
          <a:xfrm>
            <a:off x="3314700" y="753465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TextBox 354"/>
          <p:cNvSpPr txBox="1"/>
          <p:nvPr/>
        </p:nvSpPr>
        <p:spPr>
          <a:xfrm>
            <a:off x="-6400800" y="760780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356" name="TextBox 355"/>
          <p:cNvSpPr txBox="1"/>
          <p:nvPr/>
        </p:nvSpPr>
        <p:spPr>
          <a:xfrm>
            <a:off x="-6400800" y="777925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r38</a:t>
            </a:r>
          </a:p>
        </p:txBody>
      </p:sp>
      <p:sp>
        <p:nvSpPr>
          <p:cNvPr id="357" name="Rectangle 356"/>
          <p:cNvSpPr/>
          <p:nvPr/>
        </p:nvSpPr>
        <p:spPr>
          <a:xfrm>
            <a:off x="4119372" y="753465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TextBox 357"/>
          <p:cNvSpPr txBox="1"/>
          <p:nvPr/>
        </p:nvSpPr>
        <p:spPr>
          <a:xfrm>
            <a:off x="-5596128" y="760780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359" name="TextBox 358"/>
          <p:cNvSpPr txBox="1"/>
          <p:nvPr/>
        </p:nvSpPr>
        <p:spPr>
          <a:xfrm>
            <a:off x="-5596128" y="777925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r42</a:t>
            </a:r>
          </a:p>
        </p:txBody>
      </p:sp>
      <p:sp>
        <p:nvSpPr>
          <p:cNvPr id="360" name="Rectangle 359"/>
          <p:cNvSpPr/>
          <p:nvPr/>
        </p:nvSpPr>
        <p:spPr>
          <a:xfrm>
            <a:off x="4924044" y="753465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TextBox 360"/>
          <p:cNvSpPr txBox="1"/>
          <p:nvPr/>
        </p:nvSpPr>
        <p:spPr>
          <a:xfrm>
            <a:off x="-4791456" y="760780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362" name="TextBox 361"/>
          <p:cNvSpPr txBox="1"/>
          <p:nvPr/>
        </p:nvSpPr>
        <p:spPr>
          <a:xfrm>
            <a:off x="-4791456" y="777925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r46</a:t>
            </a:r>
          </a:p>
        </p:txBody>
      </p:sp>
      <p:sp>
        <p:nvSpPr>
          <p:cNvPr id="363" name="Rectangle 362"/>
          <p:cNvSpPr/>
          <p:nvPr/>
        </p:nvSpPr>
        <p:spPr>
          <a:xfrm>
            <a:off x="5728716" y="753465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TextBox 363"/>
          <p:cNvSpPr txBox="1"/>
          <p:nvPr/>
        </p:nvSpPr>
        <p:spPr>
          <a:xfrm>
            <a:off x="-3986784" y="760780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365" name="TextBox 364"/>
          <p:cNvSpPr txBox="1"/>
          <p:nvPr/>
        </p:nvSpPr>
        <p:spPr>
          <a:xfrm>
            <a:off x="-3986784" y="777925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r50</a:t>
            </a:r>
          </a:p>
        </p:txBody>
      </p:sp>
      <p:sp>
        <p:nvSpPr>
          <p:cNvPr id="366" name="Rectangle 365"/>
          <p:cNvSpPr/>
          <p:nvPr/>
        </p:nvSpPr>
        <p:spPr>
          <a:xfrm>
            <a:off x="6533388" y="753465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TextBox 366"/>
          <p:cNvSpPr txBox="1"/>
          <p:nvPr/>
        </p:nvSpPr>
        <p:spPr>
          <a:xfrm>
            <a:off x="-3182112" y="760780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368" name="TextBox 367"/>
          <p:cNvSpPr txBox="1"/>
          <p:nvPr/>
        </p:nvSpPr>
        <p:spPr>
          <a:xfrm>
            <a:off x="-3182112" y="777925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r54</a:t>
            </a:r>
          </a:p>
        </p:txBody>
      </p:sp>
      <p:sp>
        <p:nvSpPr>
          <p:cNvPr id="369" name="Rectangle 368"/>
          <p:cNvSpPr/>
          <p:nvPr/>
        </p:nvSpPr>
        <p:spPr>
          <a:xfrm>
            <a:off x="7338060" y="753465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TextBox 369"/>
          <p:cNvSpPr txBox="1"/>
          <p:nvPr/>
        </p:nvSpPr>
        <p:spPr>
          <a:xfrm>
            <a:off x="-2377440" y="760780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371" name="TextBox 370"/>
          <p:cNvSpPr txBox="1"/>
          <p:nvPr/>
        </p:nvSpPr>
        <p:spPr>
          <a:xfrm>
            <a:off x="-2377440" y="777925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r58</a:t>
            </a:r>
          </a:p>
        </p:txBody>
      </p:sp>
      <p:sp>
        <p:nvSpPr>
          <p:cNvPr id="372" name="Rectangle 371"/>
          <p:cNvSpPr/>
          <p:nvPr/>
        </p:nvSpPr>
        <p:spPr>
          <a:xfrm>
            <a:off x="8142731" y="753465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TextBox 372"/>
          <p:cNvSpPr txBox="1"/>
          <p:nvPr/>
        </p:nvSpPr>
        <p:spPr>
          <a:xfrm>
            <a:off x="-1572768" y="760780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374" name="TextBox 373"/>
          <p:cNvSpPr txBox="1"/>
          <p:nvPr/>
        </p:nvSpPr>
        <p:spPr>
          <a:xfrm>
            <a:off x="-1572768" y="777925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r62</a:t>
            </a:r>
          </a:p>
        </p:txBody>
      </p:sp>
      <p:sp>
        <p:nvSpPr>
          <p:cNvPr id="375" name="Rectangle 374"/>
          <p:cNvSpPr/>
          <p:nvPr/>
        </p:nvSpPr>
        <p:spPr>
          <a:xfrm>
            <a:off x="8947404" y="753465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TextBox 375"/>
          <p:cNvSpPr txBox="1"/>
          <p:nvPr/>
        </p:nvSpPr>
        <p:spPr>
          <a:xfrm>
            <a:off x="-768096" y="760780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377" name="TextBox 376"/>
          <p:cNvSpPr txBox="1"/>
          <p:nvPr/>
        </p:nvSpPr>
        <p:spPr>
          <a:xfrm>
            <a:off x="-768096" y="777925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r66</a:t>
            </a:r>
          </a:p>
        </p:txBody>
      </p:sp>
      <p:sp>
        <p:nvSpPr>
          <p:cNvPr id="378" name="Rectangle 377"/>
          <p:cNvSpPr/>
          <p:nvPr/>
        </p:nvSpPr>
        <p:spPr>
          <a:xfrm>
            <a:off x="9752076" y="753465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TextBox 378"/>
          <p:cNvSpPr txBox="1"/>
          <p:nvPr/>
        </p:nvSpPr>
        <p:spPr>
          <a:xfrm>
            <a:off x="36576" y="760780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380" name="TextBox 379"/>
          <p:cNvSpPr txBox="1"/>
          <p:nvPr/>
        </p:nvSpPr>
        <p:spPr>
          <a:xfrm>
            <a:off x="36576" y="777925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r70</a:t>
            </a:r>
          </a:p>
        </p:txBody>
      </p:sp>
      <p:sp>
        <p:nvSpPr>
          <p:cNvPr id="381" name="Rectangle 380"/>
          <p:cNvSpPr/>
          <p:nvPr/>
        </p:nvSpPr>
        <p:spPr>
          <a:xfrm>
            <a:off x="11658600" y="7086600"/>
            <a:ext cx="2423160" cy="777240"/>
          </a:xfrm>
          <a:prstGeom prst="rect">
            <a:avLst/>
          </a:prstGeom>
          <a:solidFill>
            <a:srgbClr val="B5DC86"/>
          </a:solidFill>
          <a:ln w="18288">
            <a:solidFill>
              <a:srgbClr val="268C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TextBox 381"/>
          <p:cNvSpPr txBox="1"/>
          <p:nvPr/>
        </p:nvSpPr>
        <p:spPr>
          <a:xfrm>
            <a:off x="2811780" y="7159752"/>
            <a:ext cx="20116800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655">
                <a:solidFill>
                  <a:srgbClr val="202020"/>
                </a:solidFill>
                <a:latin typeface="DejaVu Sans"/>
              </a:rPr>
              <a:t>IB Leaf</a:t>
            </a:r>
          </a:p>
        </p:txBody>
      </p:sp>
      <p:sp>
        <p:nvSpPr>
          <p:cNvPr id="383" name="TextBox 382"/>
          <p:cNvSpPr txBox="1"/>
          <p:nvPr/>
        </p:nvSpPr>
        <p:spPr>
          <a:xfrm>
            <a:off x="2811780" y="7422642"/>
            <a:ext cx="20116800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655">
                <a:solidFill>
                  <a:srgbClr val="202020"/>
                </a:solidFill>
                <a:latin typeface="DejaVu Sans"/>
              </a:rPr>
              <a:t>Leaf-C1-R2</a:t>
            </a:r>
          </a:p>
        </p:txBody>
      </p:sp>
      <p:cxnSp>
        <p:nvCxnSpPr>
          <p:cNvPr id="384" name="Connector 383"/>
          <p:cNvCxnSpPr/>
          <p:nvPr/>
        </p:nvCxnSpPr>
        <p:spPr>
          <a:xfrm flipV="1">
            <a:off x="14081760" y="6903720"/>
            <a:ext cx="548640" cy="566928"/>
          </a:xfrm>
          <a:prstGeom prst="line">
            <a:avLst/>
          </a:prstGeom>
          <a:ln w="13716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5" name="Connector 384"/>
          <p:cNvCxnSpPr/>
          <p:nvPr/>
        </p:nvCxnSpPr>
        <p:spPr>
          <a:xfrm flipV="1">
            <a:off x="14081760" y="6903720"/>
            <a:ext cx="1353312" cy="566928"/>
          </a:xfrm>
          <a:prstGeom prst="line">
            <a:avLst/>
          </a:prstGeom>
          <a:ln w="13716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6" name="Connector 385"/>
          <p:cNvCxnSpPr/>
          <p:nvPr/>
        </p:nvCxnSpPr>
        <p:spPr>
          <a:xfrm flipV="1">
            <a:off x="14081760" y="6903720"/>
            <a:ext cx="2157984" cy="566928"/>
          </a:xfrm>
          <a:prstGeom prst="line">
            <a:avLst/>
          </a:prstGeom>
          <a:ln w="13716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7" name="Connector 386"/>
          <p:cNvCxnSpPr/>
          <p:nvPr/>
        </p:nvCxnSpPr>
        <p:spPr>
          <a:xfrm flipV="1">
            <a:off x="14081760" y="6903720"/>
            <a:ext cx="2962656" cy="566928"/>
          </a:xfrm>
          <a:prstGeom prst="line">
            <a:avLst/>
          </a:prstGeom>
          <a:ln w="13716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8" name="Connector 387"/>
          <p:cNvCxnSpPr/>
          <p:nvPr/>
        </p:nvCxnSpPr>
        <p:spPr>
          <a:xfrm flipV="1">
            <a:off x="14081760" y="6903720"/>
            <a:ext cx="3767328" cy="566928"/>
          </a:xfrm>
          <a:prstGeom prst="line">
            <a:avLst/>
          </a:prstGeom>
          <a:ln w="13716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9" name="Connector 388"/>
          <p:cNvCxnSpPr/>
          <p:nvPr/>
        </p:nvCxnSpPr>
        <p:spPr>
          <a:xfrm flipV="1">
            <a:off x="14081760" y="6903720"/>
            <a:ext cx="4572000" cy="566928"/>
          </a:xfrm>
          <a:prstGeom prst="line">
            <a:avLst/>
          </a:prstGeom>
          <a:ln w="13716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0" name="Connector 389"/>
          <p:cNvCxnSpPr/>
          <p:nvPr/>
        </p:nvCxnSpPr>
        <p:spPr>
          <a:xfrm flipV="1">
            <a:off x="14081760" y="6903720"/>
            <a:ext cx="5376672" cy="566928"/>
          </a:xfrm>
          <a:prstGeom prst="line">
            <a:avLst/>
          </a:prstGeom>
          <a:ln w="13716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1" name="Connector 390"/>
          <p:cNvCxnSpPr/>
          <p:nvPr/>
        </p:nvCxnSpPr>
        <p:spPr>
          <a:xfrm flipV="1">
            <a:off x="14081760" y="6903720"/>
            <a:ext cx="6181344" cy="566928"/>
          </a:xfrm>
          <a:prstGeom prst="line">
            <a:avLst/>
          </a:prstGeom>
          <a:ln w="13716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2" name="Connector 391"/>
          <p:cNvCxnSpPr/>
          <p:nvPr/>
        </p:nvCxnSpPr>
        <p:spPr>
          <a:xfrm flipV="1">
            <a:off x="14081760" y="6903720"/>
            <a:ext cx="6986016" cy="566928"/>
          </a:xfrm>
          <a:prstGeom prst="line">
            <a:avLst/>
          </a:prstGeom>
          <a:ln w="13716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3" name="Connector 392"/>
          <p:cNvCxnSpPr/>
          <p:nvPr/>
        </p:nvCxnSpPr>
        <p:spPr>
          <a:xfrm>
            <a:off x="14081760" y="7470648"/>
            <a:ext cx="548640" cy="301752"/>
          </a:xfrm>
          <a:prstGeom prst="line">
            <a:avLst/>
          </a:prstGeom>
          <a:ln w="13716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4" name="Connector 393"/>
          <p:cNvCxnSpPr/>
          <p:nvPr/>
        </p:nvCxnSpPr>
        <p:spPr>
          <a:xfrm>
            <a:off x="14081760" y="7470648"/>
            <a:ext cx="1353312" cy="301752"/>
          </a:xfrm>
          <a:prstGeom prst="line">
            <a:avLst/>
          </a:prstGeom>
          <a:ln w="13716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5" name="Connector 394"/>
          <p:cNvCxnSpPr/>
          <p:nvPr/>
        </p:nvCxnSpPr>
        <p:spPr>
          <a:xfrm>
            <a:off x="14081760" y="7470648"/>
            <a:ext cx="2157984" cy="301752"/>
          </a:xfrm>
          <a:prstGeom prst="line">
            <a:avLst/>
          </a:prstGeom>
          <a:ln w="13716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6" name="Connector 395"/>
          <p:cNvCxnSpPr/>
          <p:nvPr/>
        </p:nvCxnSpPr>
        <p:spPr>
          <a:xfrm>
            <a:off x="14081760" y="7470648"/>
            <a:ext cx="2962656" cy="301752"/>
          </a:xfrm>
          <a:prstGeom prst="line">
            <a:avLst/>
          </a:prstGeom>
          <a:ln w="13716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7" name="Connector 396"/>
          <p:cNvCxnSpPr/>
          <p:nvPr/>
        </p:nvCxnSpPr>
        <p:spPr>
          <a:xfrm>
            <a:off x="14081760" y="7470648"/>
            <a:ext cx="3767328" cy="301752"/>
          </a:xfrm>
          <a:prstGeom prst="line">
            <a:avLst/>
          </a:prstGeom>
          <a:ln w="13716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8" name="Connector 397"/>
          <p:cNvCxnSpPr/>
          <p:nvPr/>
        </p:nvCxnSpPr>
        <p:spPr>
          <a:xfrm>
            <a:off x="14081760" y="7470648"/>
            <a:ext cx="4572000" cy="301752"/>
          </a:xfrm>
          <a:prstGeom prst="line">
            <a:avLst/>
          </a:prstGeom>
          <a:ln w="13716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9" name="Connector 398"/>
          <p:cNvCxnSpPr/>
          <p:nvPr/>
        </p:nvCxnSpPr>
        <p:spPr>
          <a:xfrm>
            <a:off x="14081760" y="7470648"/>
            <a:ext cx="5376672" cy="301752"/>
          </a:xfrm>
          <a:prstGeom prst="line">
            <a:avLst/>
          </a:prstGeom>
          <a:ln w="13716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0" name="Connector 399"/>
          <p:cNvCxnSpPr/>
          <p:nvPr/>
        </p:nvCxnSpPr>
        <p:spPr>
          <a:xfrm>
            <a:off x="14081760" y="7470648"/>
            <a:ext cx="6181344" cy="301752"/>
          </a:xfrm>
          <a:prstGeom prst="line">
            <a:avLst/>
          </a:prstGeom>
          <a:ln w="13716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1" name="Connector 400"/>
          <p:cNvCxnSpPr/>
          <p:nvPr/>
        </p:nvCxnSpPr>
        <p:spPr>
          <a:xfrm>
            <a:off x="14081760" y="7470648"/>
            <a:ext cx="6986016" cy="301752"/>
          </a:xfrm>
          <a:prstGeom prst="line">
            <a:avLst/>
          </a:prstGeom>
          <a:ln w="13716">
            <a:solidFill>
              <a:srgbClr val="268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2" name="Rectangle 401"/>
          <p:cNvSpPr/>
          <p:nvPr/>
        </p:nvSpPr>
        <p:spPr>
          <a:xfrm>
            <a:off x="14287500" y="666597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TextBox 402"/>
          <p:cNvSpPr txBox="1"/>
          <p:nvPr/>
        </p:nvSpPr>
        <p:spPr>
          <a:xfrm>
            <a:off x="4572000" y="673912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404" name="TextBox 403"/>
          <p:cNvSpPr txBox="1"/>
          <p:nvPr/>
        </p:nvSpPr>
        <p:spPr>
          <a:xfrm>
            <a:off x="4572000" y="691057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r74</a:t>
            </a:r>
          </a:p>
        </p:txBody>
      </p:sp>
      <p:sp>
        <p:nvSpPr>
          <p:cNvPr id="405" name="Rectangle 404"/>
          <p:cNvSpPr/>
          <p:nvPr/>
        </p:nvSpPr>
        <p:spPr>
          <a:xfrm>
            <a:off x="15092172" y="666597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TextBox 405"/>
          <p:cNvSpPr txBox="1"/>
          <p:nvPr/>
        </p:nvSpPr>
        <p:spPr>
          <a:xfrm>
            <a:off x="5376672" y="673912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407" name="TextBox 406"/>
          <p:cNvSpPr txBox="1"/>
          <p:nvPr/>
        </p:nvSpPr>
        <p:spPr>
          <a:xfrm>
            <a:off x="5376672" y="691057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r78</a:t>
            </a:r>
          </a:p>
        </p:txBody>
      </p:sp>
      <p:sp>
        <p:nvSpPr>
          <p:cNvPr id="408" name="Rectangle 407"/>
          <p:cNvSpPr/>
          <p:nvPr/>
        </p:nvSpPr>
        <p:spPr>
          <a:xfrm>
            <a:off x="15896844" y="666597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TextBox 408"/>
          <p:cNvSpPr txBox="1"/>
          <p:nvPr/>
        </p:nvSpPr>
        <p:spPr>
          <a:xfrm>
            <a:off x="6181344" y="673912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410" name="TextBox 409"/>
          <p:cNvSpPr txBox="1"/>
          <p:nvPr/>
        </p:nvSpPr>
        <p:spPr>
          <a:xfrm>
            <a:off x="6181344" y="691057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r82</a:t>
            </a:r>
          </a:p>
        </p:txBody>
      </p:sp>
      <p:sp>
        <p:nvSpPr>
          <p:cNvPr id="411" name="Rectangle 410"/>
          <p:cNvSpPr/>
          <p:nvPr/>
        </p:nvSpPr>
        <p:spPr>
          <a:xfrm>
            <a:off x="16701516" y="666597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TextBox 411"/>
          <p:cNvSpPr txBox="1"/>
          <p:nvPr/>
        </p:nvSpPr>
        <p:spPr>
          <a:xfrm>
            <a:off x="6986016" y="673912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413" name="TextBox 412"/>
          <p:cNvSpPr txBox="1"/>
          <p:nvPr/>
        </p:nvSpPr>
        <p:spPr>
          <a:xfrm>
            <a:off x="6986016" y="691057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r86</a:t>
            </a:r>
          </a:p>
        </p:txBody>
      </p:sp>
      <p:sp>
        <p:nvSpPr>
          <p:cNvPr id="414" name="Rectangle 413"/>
          <p:cNvSpPr/>
          <p:nvPr/>
        </p:nvSpPr>
        <p:spPr>
          <a:xfrm>
            <a:off x="17506188" y="666597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TextBox 414"/>
          <p:cNvSpPr txBox="1"/>
          <p:nvPr/>
        </p:nvSpPr>
        <p:spPr>
          <a:xfrm>
            <a:off x="7790688" y="673912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416" name="TextBox 415"/>
          <p:cNvSpPr txBox="1"/>
          <p:nvPr/>
        </p:nvSpPr>
        <p:spPr>
          <a:xfrm>
            <a:off x="7790688" y="691057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r90</a:t>
            </a:r>
          </a:p>
        </p:txBody>
      </p:sp>
      <p:sp>
        <p:nvSpPr>
          <p:cNvPr id="417" name="Rectangle 416"/>
          <p:cNvSpPr/>
          <p:nvPr/>
        </p:nvSpPr>
        <p:spPr>
          <a:xfrm>
            <a:off x="18310860" y="666597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TextBox 417"/>
          <p:cNvSpPr txBox="1"/>
          <p:nvPr/>
        </p:nvSpPr>
        <p:spPr>
          <a:xfrm>
            <a:off x="8595360" y="673912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419" name="TextBox 418"/>
          <p:cNvSpPr txBox="1"/>
          <p:nvPr/>
        </p:nvSpPr>
        <p:spPr>
          <a:xfrm>
            <a:off x="8595360" y="691057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r94</a:t>
            </a:r>
          </a:p>
        </p:txBody>
      </p:sp>
      <p:sp>
        <p:nvSpPr>
          <p:cNvPr id="420" name="Rectangle 419"/>
          <p:cNvSpPr/>
          <p:nvPr/>
        </p:nvSpPr>
        <p:spPr>
          <a:xfrm>
            <a:off x="19115532" y="666597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TextBox 420"/>
          <p:cNvSpPr txBox="1"/>
          <p:nvPr/>
        </p:nvSpPr>
        <p:spPr>
          <a:xfrm>
            <a:off x="9400032" y="673912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422" name="TextBox 421"/>
          <p:cNvSpPr txBox="1"/>
          <p:nvPr/>
        </p:nvSpPr>
        <p:spPr>
          <a:xfrm>
            <a:off x="9400032" y="691057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r98</a:t>
            </a:r>
          </a:p>
        </p:txBody>
      </p:sp>
      <p:sp>
        <p:nvSpPr>
          <p:cNvPr id="423" name="Rectangle 422"/>
          <p:cNvSpPr/>
          <p:nvPr/>
        </p:nvSpPr>
        <p:spPr>
          <a:xfrm>
            <a:off x="19920204" y="666597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TextBox 423"/>
          <p:cNvSpPr txBox="1"/>
          <p:nvPr/>
        </p:nvSpPr>
        <p:spPr>
          <a:xfrm>
            <a:off x="10204704" y="673912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425" name="TextBox 424"/>
          <p:cNvSpPr txBox="1"/>
          <p:nvPr/>
        </p:nvSpPr>
        <p:spPr>
          <a:xfrm>
            <a:off x="10204704" y="691057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r102</a:t>
            </a:r>
          </a:p>
        </p:txBody>
      </p:sp>
      <p:sp>
        <p:nvSpPr>
          <p:cNvPr id="426" name="Rectangle 425"/>
          <p:cNvSpPr/>
          <p:nvPr/>
        </p:nvSpPr>
        <p:spPr>
          <a:xfrm>
            <a:off x="20724876" y="666597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TextBox 426"/>
          <p:cNvSpPr txBox="1"/>
          <p:nvPr/>
        </p:nvSpPr>
        <p:spPr>
          <a:xfrm>
            <a:off x="11009376" y="673912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428" name="TextBox 427"/>
          <p:cNvSpPr txBox="1"/>
          <p:nvPr/>
        </p:nvSpPr>
        <p:spPr>
          <a:xfrm>
            <a:off x="11009376" y="691057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r106</a:t>
            </a:r>
          </a:p>
        </p:txBody>
      </p:sp>
      <p:sp>
        <p:nvSpPr>
          <p:cNvPr id="429" name="Rectangle 428"/>
          <p:cNvSpPr/>
          <p:nvPr/>
        </p:nvSpPr>
        <p:spPr>
          <a:xfrm>
            <a:off x="14287500" y="753465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TextBox 429"/>
          <p:cNvSpPr txBox="1"/>
          <p:nvPr/>
        </p:nvSpPr>
        <p:spPr>
          <a:xfrm>
            <a:off x="4572000" y="760780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431" name="TextBox 430"/>
          <p:cNvSpPr txBox="1"/>
          <p:nvPr/>
        </p:nvSpPr>
        <p:spPr>
          <a:xfrm>
            <a:off x="4572000" y="777925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r110</a:t>
            </a:r>
          </a:p>
        </p:txBody>
      </p:sp>
      <p:sp>
        <p:nvSpPr>
          <p:cNvPr id="432" name="Rectangle 431"/>
          <p:cNvSpPr/>
          <p:nvPr/>
        </p:nvSpPr>
        <p:spPr>
          <a:xfrm>
            <a:off x="15092172" y="753465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TextBox 432"/>
          <p:cNvSpPr txBox="1"/>
          <p:nvPr/>
        </p:nvSpPr>
        <p:spPr>
          <a:xfrm>
            <a:off x="5376672" y="760780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434" name="TextBox 433"/>
          <p:cNvSpPr txBox="1"/>
          <p:nvPr/>
        </p:nvSpPr>
        <p:spPr>
          <a:xfrm>
            <a:off x="5376672" y="777925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r114</a:t>
            </a:r>
          </a:p>
        </p:txBody>
      </p:sp>
      <p:sp>
        <p:nvSpPr>
          <p:cNvPr id="435" name="Rectangle 434"/>
          <p:cNvSpPr/>
          <p:nvPr/>
        </p:nvSpPr>
        <p:spPr>
          <a:xfrm>
            <a:off x="15896844" y="753465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TextBox 435"/>
          <p:cNvSpPr txBox="1"/>
          <p:nvPr/>
        </p:nvSpPr>
        <p:spPr>
          <a:xfrm>
            <a:off x="6181344" y="760780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437" name="TextBox 436"/>
          <p:cNvSpPr txBox="1"/>
          <p:nvPr/>
        </p:nvSpPr>
        <p:spPr>
          <a:xfrm>
            <a:off x="6181344" y="777925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r118</a:t>
            </a:r>
          </a:p>
        </p:txBody>
      </p:sp>
      <p:sp>
        <p:nvSpPr>
          <p:cNvPr id="438" name="Rectangle 437"/>
          <p:cNvSpPr/>
          <p:nvPr/>
        </p:nvSpPr>
        <p:spPr>
          <a:xfrm>
            <a:off x="16701516" y="753465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TextBox 438"/>
          <p:cNvSpPr txBox="1"/>
          <p:nvPr/>
        </p:nvSpPr>
        <p:spPr>
          <a:xfrm>
            <a:off x="6986016" y="760780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440" name="TextBox 439"/>
          <p:cNvSpPr txBox="1"/>
          <p:nvPr/>
        </p:nvSpPr>
        <p:spPr>
          <a:xfrm>
            <a:off x="6986016" y="777925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r122</a:t>
            </a:r>
          </a:p>
        </p:txBody>
      </p:sp>
      <p:sp>
        <p:nvSpPr>
          <p:cNvPr id="441" name="Rectangle 440"/>
          <p:cNvSpPr/>
          <p:nvPr/>
        </p:nvSpPr>
        <p:spPr>
          <a:xfrm>
            <a:off x="17506188" y="753465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TextBox 441"/>
          <p:cNvSpPr txBox="1"/>
          <p:nvPr/>
        </p:nvSpPr>
        <p:spPr>
          <a:xfrm>
            <a:off x="7790688" y="760780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443" name="TextBox 442"/>
          <p:cNvSpPr txBox="1"/>
          <p:nvPr/>
        </p:nvSpPr>
        <p:spPr>
          <a:xfrm>
            <a:off x="7790688" y="777925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r126</a:t>
            </a:r>
          </a:p>
        </p:txBody>
      </p:sp>
      <p:sp>
        <p:nvSpPr>
          <p:cNvPr id="444" name="Rectangle 443"/>
          <p:cNvSpPr/>
          <p:nvPr/>
        </p:nvSpPr>
        <p:spPr>
          <a:xfrm>
            <a:off x="18310860" y="753465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TextBox 444"/>
          <p:cNvSpPr txBox="1"/>
          <p:nvPr/>
        </p:nvSpPr>
        <p:spPr>
          <a:xfrm>
            <a:off x="8595360" y="760780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446" name="TextBox 445"/>
          <p:cNvSpPr txBox="1"/>
          <p:nvPr/>
        </p:nvSpPr>
        <p:spPr>
          <a:xfrm>
            <a:off x="8595360" y="777925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r130</a:t>
            </a:r>
          </a:p>
        </p:txBody>
      </p:sp>
      <p:sp>
        <p:nvSpPr>
          <p:cNvPr id="447" name="Rectangle 446"/>
          <p:cNvSpPr/>
          <p:nvPr/>
        </p:nvSpPr>
        <p:spPr>
          <a:xfrm>
            <a:off x="19115532" y="753465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TextBox 447"/>
          <p:cNvSpPr txBox="1"/>
          <p:nvPr/>
        </p:nvSpPr>
        <p:spPr>
          <a:xfrm>
            <a:off x="9400032" y="760780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449" name="TextBox 448"/>
          <p:cNvSpPr txBox="1"/>
          <p:nvPr/>
        </p:nvSpPr>
        <p:spPr>
          <a:xfrm>
            <a:off x="9400032" y="777925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r134</a:t>
            </a:r>
          </a:p>
        </p:txBody>
      </p:sp>
      <p:sp>
        <p:nvSpPr>
          <p:cNvPr id="450" name="Rectangle 449"/>
          <p:cNvSpPr/>
          <p:nvPr/>
        </p:nvSpPr>
        <p:spPr>
          <a:xfrm>
            <a:off x="19920204" y="753465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TextBox 450"/>
          <p:cNvSpPr txBox="1"/>
          <p:nvPr/>
        </p:nvSpPr>
        <p:spPr>
          <a:xfrm>
            <a:off x="10204704" y="760780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452" name="TextBox 451"/>
          <p:cNvSpPr txBox="1"/>
          <p:nvPr/>
        </p:nvSpPr>
        <p:spPr>
          <a:xfrm>
            <a:off x="10204704" y="777925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r138</a:t>
            </a:r>
          </a:p>
        </p:txBody>
      </p:sp>
      <p:sp>
        <p:nvSpPr>
          <p:cNvPr id="453" name="Rectangle 452"/>
          <p:cNvSpPr/>
          <p:nvPr/>
        </p:nvSpPr>
        <p:spPr>
          <a:xfrm>
            <a:off x="20724876" y="753465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TextBox 453"/>
          <p:cNvSpPr txBox="1"/>
          <p:nvPr/>
        </p:nvSpPr>
        <p:spPr>
          <a:xfrm>
            <a:off x="11009376" y="760780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455" name="TextBox 454"/>
          <p:cNvSpPr txBox="1"/>
          <p:nvPr/>
        </p:nvSpPr>
        <p:spPr>
          <a:xfrm>
            <a:off x="11009376" y="777925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r142</a:t>
            </a:r>
          </a:p>
        </p:txBody>
      </p:sp>
      <p:sp>
        <p:nvSpPr>
          <p:cNvPr id="456" name="TextBox 455"/>
          <p:cNvSpPr txBox="1"/>
          <p:nvPr/>
        </p:nvSpPr>
        <p:spPr>
          <a:xfrm>
            <a:off x="640080" y="8439912"/>
            <a:ext cx="21305520" cy="2880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12">
                <a:solidFill>
                  <a:srgbClr val="268C68"/>
                </a:solidFill>
                <a:latin typeface="DejaVu Sans"/>
              </a:rPr>
              <a:t>Rail 2: 18 GPUs/rack, 36 GPUs total; each GPU uplink = 400 Gb/s = 50 GB/s</a:t>
            </a:r>
          </a:p>
        </p:txBody>
      </p:sp>
      <p:sp>
        <p:nvSpPr>
          <p:cNvPr id="457" name="Rectangle 456"/>
          <p:cNvSpPr/>
          <p:nvPr/>
        </p:nvSpPr>
        <p:spPr>
          <a:xfrm>
            <a:off x="685800" y="9464040"/>
            <a:ext cx="2423160" cy="777240"/>
          </a:xfrm>
          <a:prstGeom prst="rect">
            <a:avLst/>
          </a:prstGeom>
          <a:solidFill>
            <a:srgbClr val="B5DC86"/>
          </a:solidFill>
          <a:ln w="18288">
            <a:solidFill>
              <a:srgbClr val="8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TextBox 457"/>
          <p:cNvSpPr txBox="1"/>
          <p:nvPr/>
        </p:nvSpPr>
        <p:spPr>
          <a:xfrm>
            <a:off x="-8161020" y="9537192"/>
            <a:ext cx="20116800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655">
                <a:solidFill>
                  <a:srgbClr val="202020"/>
                </a:solidFill>
                <a:latin typeface="DejaVu Sans"/>
              </a:rPr>
              <a:t>IB Leaf</a:t>
            </a:r>
          </a:p>
        </p:txBody>
      </p:sp>
      <p:sp>
        <p:nvSpPr>
          <p:cNvPr id="459" name="TextBox 458"/>
          <p:cNvSpPr txBox="1"/>
          <p:nvPr/>
        </p:nvSpPr>
        <p:spPr>
          <a:xfrm>
            <a:off x="-8161020" y="9800082"/>
            <a:ext cx="20116800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655">
                <a:solidFill>
                  <a:srgbClr val="202020"/>
                </a:solidFill>
                <a:latin typeface="DejaVu Sans"/>
              </a:rPr>
              <a:t>Leaf-C0-R3</a:t>
            </a:r>
          </a:p>
        </p:txBody>
      </p:sp>
      <p:cxnSp>
        <p:nvCxnSpPr>
          <p:cNvPr id="460" name="Connector 459"/>
          <p:cNvCxnSpPr/>
          <p:nvPr/>
        </p:nvCxnSpPr>
        <p:spPr>
          <a:xfrm flipV="1">
            <a:off x="3108960" y="9281160"/>
            <a:ext cx="548640" cy="566928"/>
          </a:xfrm>
          <a:prstGeom prst="line">
            <a:avLst/>
          </a:prstGeom>
          <a:ln w="13716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1" name="Connector 460"/>
          <p:cNvCxnSpPr/>
          <p:nvPr/>
        </p:nvCxnSpPr>
        <p:spPr>
          <a:xfrm flipV="1">
            <a:off x="3108960" y="9281160"/>
            <a:ext cx="1353312" cy="566928"/>
          </a:xfrm>
          <a:prstGeom prst="line">
            <a:avLst/>
          </a:prstGeom>
          <a:ln w="13716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 461"/>
          <p:cNvCxnSpPr/>
          <p:nvPr/>
        </p:nvCxnSpPr>
        <p:spPr>
          <a:xfrm flipV="1">
            <a:off x="3108960" y="9281160"/>
            <a:ext cx="2157984" cy="566928"/>
          </a:xfrm>
          <a:prstGeom prst="line">
            <a:avLst/>
          </a:prstGeom>
          <a:ln w="13716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3" name="Connector 462"/>
          <p:cNvCxnSpPr/>
          <p:nvPr/>
        </p:nvCxnSpPr>
        <p:spPr>
          <a:xfrm flipV="1">
            <a:off x="3108960" y="9281160"/>
            <a:ext cx="2962656" cy="566928"/>
          </a:xfrm>
          <a:prstGeom prst="line">
            <a:avLst/>
          </a:prstGeom>
          <a:ln w="13716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4" name="Connector 463"/>
          <p:cNvCxnSpPr/>
          <p:nvPr/>
        </p:nvCxnSpPr>
        <p:spPr>
          <a:xfrm flipV="1">
            <a:off x="3108960" y="9281160"/>
            <a:ext cx="3767328" cy="566928"/>
          </a:xfrm>
          <a:prstGeom prst="line">
            <a:avLst/>
          </a:prstGeom>
          <a:ln w="13716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5" name="Connector 464"/>
          <p:cNvCxnSpPr/>
          <p:nvPr/>
        </p:nvCxnSpPr>
        <p:spPr>
          <a:xfrm flipV="1">
            <a:off x="3108960" y="9281160"/>
            <a:ext cx="4572000" cy="566928"/>
          </a:xfrm>
          <a:prstGeom prst="line">
            <a:avLst/>
          </a:prstGeom>
          <a:ln w="13716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6" name="Connector 465"/>
          <p:cNvCxnSpPr/>
          <p:nvPr/>
        </p:nvCxnSpPr>
        <p:spPr>
          <a:xfrm flipV="1">
            <a:off x="3108960" y="9281160"/>
            <a:ext cx="5376672" cy="566928"/>
          </a:xfrm>
          <a:prstGeom prst="line">
            <a:avLst/>
          </a:prstGeom>
          <a:ln w="13716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7" name="Connector 466"/>
          <p:cNvCxnSpPr/>
          <p:nvPr/>
        </p:nvCxnSpPr>
        <p:spPr>
          <a:xfrm flipV="1">
            <a:off x="3108960" y="9281160"/>
            <a:ext cx="6181344" cy="566928"/>
          </a:xfrm>
          <a:prstGeom prst="line">
            <a:avLst/>
          </a:prstGeom>
          <a:ln w="13716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8" name="Connector 467"/>
          <p:cNvCxnSpPr/>
          <p:nvPr/>
        </p:nvCxnSpPr>
        <p:spPr>
          <a:xfrm flipV="1">
            <a:off x="3108960" y="9281160"/>
            <a:ext cx="6986016" cy="566928"/>
          </a:xfrm>
          <a:prstGeom prst="line">
            <a:avLst/>
          </a:prstGeom>
          <a:ln w="13716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9" name="Connector 468"/>
          <p:cNvCxnSpPr/>
          <p:nvPr/>
        </p:nvCxnSpPr>
        <p:spPr>
          <a:xfrm>
            <a:off x="3108960" y="9848088"/>
            <a:ext cx="548640" cy="301752"/>
          </a:xfrm>
          <a:prstGeom prst="line">
            <a:avLst/>
          </a:prstGeom>
          <a:ln w="13716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0" name="Connector 469"/>
          <p:cNvCxnSpPr/>
          <p:nvPr/>
        </p:nvCxnSpPr>
        <p:spPr>
          <a:xfrm>
            <a:off x="3108960" y="9848088"/>
            <a:ext cx="1353312" cy="301752"/>
          </a:xfrm>
          <a:prstGeom prst="line">
            <a:avLst/>
          </a:prstGeom>
          <a:ln w="13716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Connector 470"/>
          <p:cNvCxnSpPr/>
          <p:nvPr/>
        </p:nvCxnSpPr>
        <p:spPr>
          <a:xfrm>
            <a:off x="3108960" y="9848088"/>
            <a:ext cx="2157984" cy="301752"/>
          </a:xfrm>
          <a:prstGeom prst="line">
            <a:avLst/>
          </a:prstGeom>
          <a:ln w="13716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Connector 471"/>
          <p:cNvCxnSpPr/>
          <p:nvPr/>
        </p:nvCxnSpPr>
        <p:spPr>
          <a:xfrm>
            <a:off x="3108960" y="9848088"/>
            <a:ext cx="2962656" cy="301752"/>
          </a:xfrm>
          <a:prstGeom prst="line">
            <a:avLst/>
          </a:prstGeom>
          <a:ln w="13716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3" name="Connector 472"/>
          <p:cNvCxnSpPr/>
          <p:nvPr/>
        </p:nvCxnSpPr>
        <p:spPr>
          <a:xfrm>
            <a:off x="3108960" y="9848088"/>
            <a:ext cx="3767328" cy="301752"/>
          </a:xfrm>
          <a:prstGeom prst="line">
            <a:avLst/>
          </a:prstGeom>
          <a:ln w="13716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4" name="Connector 473"/>
          <p:cNvCxnSpPr/>
          <p:nvPr/>
        </p:nvCxnSpPr>
        <p:spPr>
          <a:xfrm>
            <a:off x="3108960" y="9848088"/>
            <a:ext cx="4572000" cy="301752"/>
          </a:xfrm>
          <a:prstGeom prst="line">
            <a:avLst/>
          </a:prstGeom>
          <a:ln w="13716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5" name="Connector 474"/>
          <p:cNvCxnSpPr/>
          <p:nvPr/>
        </p:nvCxnSpPr>
        <p:spPr>
          <a:xfrm>
            <a:off x="3108960" y="9848088"/>
            <a:ext cx="5376672" cy="301752"/>
          </a:xfrm>
          <a:prstGeom prst="line">
            <a:avLst/>
          </a:prstGeom>
          <a:ln w="13716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6" name="Connector 475"/>
          <p:cNvCxnSpPr/>
          <p:nvPr/>
        </p:nvCxnSpPr>
        <p:spPr>
          <a:xfrm>
            <a:off x="3108960" y="9848088"/>
            <a:ext cx="6181344" cy="301752"/>
          </a:xfrm>
          <a:prstGeom prst="line">
            <a:avLst/>
          </a:prstGeom>
          <a:ln w="13716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7" name="Connector 476"/>
          <p:cNvCxnSpPr/>
          <p:nvPr/>
        </p:nvCxnSpPr>
        <p:spPr>
          <a:xfrm>
            <a:off x="3108960" y="9848088"/>
            <a:ext cx="6986016" cy="301752"/>
          </a:xfrm>
          <a:prstGeom prst="line">
            <a:avLst/>
          </a:prstGeom>
          <a:ln w="13716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8" name="Rectangle 477"/>
          <p:cNvSpPr/>
          <p:nvPr/>
        </p:nvSpPr>
        <p:spPr>
          <a:xfrm>
            <a:off x="3314700" y="904341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TextBox 478"/>
          <p:cNvSpPr txBox="1"/>
          <p:nvPr/>
        </p:nvSpPr>
        <p:spPr>
          <a:xfrm>
            <a:off x="-6400800" y="911656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480" name="TextBox 479"/>
          <p:cNvSpPr txBox="1"/>
          <p:nvPr/>
        </p:nvSpPr>
        <p:spPr>
          <a:xfrm>
            <a:off x="-6400800" y="928801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r3</a:t>
            </a:r>
          </a:p>
        </p:txBody>
      </p:sp>
      <p:sp>
        <p:nvSpPr>
          <p:cNvPr id="481" name="Rectangle 480"/>
          <p:cNvSpPr/>
          <p:nvPr/>
        </p:nvSpPr>
        <p:spPr>
          <a:xfrm>
            <a:off x="4119372" y="904341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TextBox 481"/>
          <p:cNvSpPr txBox="1"/>
          <p:nvPr/>
        </p:nvSpPr>
        <p:spPr>
          <a:xfrm>
            <a:off x="-5596128" y="911656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483" name="TextBox 482"/>
          <p:cNvSpPr txBox="1"/>
          <p:nvPr/>
        </p:nvSpPr>
        <p:spPr>
          <a:xfrm>
            <a:off x="-5596128" y="928801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r7</a:t>
            </a:r>
          </a:p>
        </p:txBody>
      </p:sp>
      <p:sp>
        <p:nvSpPr>
          <p:cNvPr id="484" name="Rectangle 483"/>
          <p:cNvSpPr/>
          <p:nvPr/>
        </p:nvSpPr>
        <p:spPr>
          <a:xfrm>
            <a:off x="4924044" y="904341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" name="TextBox 484"/>
          <p:cNvSpPr txBox="1"/>
          <p:nvPr/>
        </p:nvSpPr>
        <p:spPr>
          <a:xfrm>
            <a:off x="-4791456" y="911656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486" name="TextBox 485"/>
          <p:cNvSpPr txBox="1"/>
          <p:nvPr/>
        </p:nvSpPr>
        <p:spPr>
          <a:xfrm>
            <a:off x="-4791456" y="928801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r11</a:t>
            </a:r>
          </a:p>
        </p:txBody>
      </p:sp>
      <p:sp>
        <p:nvSpPr>
          <p:cNvPr id="487" name="Rectangle 486"/>
          <p:cNvSpPr/>
          <p:nvPr/>
        </p:nvSpPr>
        <p:spPr>
          <a:xfrm>
            <a:off x="5728716" y="904341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TextBox 487"/>
          <p:cNvSpPr txBox="1"/>
          <p:nvPr/>
        </p:nvSpPr>
        <p:spPr>
          <a:xfrm>
            <a:off x="-3986784" y="911656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489" name="TextBox 488"/>
          <p:cNvSpPr txBox="1"/>
          <p:nvPr/>
        </p:nvSpPr>
        <p:spPr>
          <a:xfrm>
            <a:off x="-3986784" y="928801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r15</a:t>
            </a:r>
          </a:p>
        </p:txBody>
      </p:sp>
      <p:sp>
        <p:nvSpPr>
          <p:cNvPr id="490" name="Rectangle 489"/>
          <p:cNvSpPr/>
          <p:nvPr/>
        </p:nvSpPr>
        <p:spPr>
          <a:xfrm>
            <a:off x="6533388" y="904341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" name="TextBox 490"/>
          <p:cNvSpPr txBox="1"/>
          <p:nvPr/>
        </p:nvSpPr>
        <p:spPr>
          <a:xfrm>
            <a:off x="-3182112" y="911656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492" name="TextBox 491"/>
          <p:cNvSpPr txBox="1"/>
          <p:nvPr/>
        </p:nvSpPr>
        <p:spPr>
          <a:xfrm>
            <a:off x="-3182112" y="928801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r19</a:t>
            </a:r>
          </a:p>
        </p:txBody>
      </p:sp>
      <p:sp>
        <p:nvSpPr>
          <p:cNvPr id="493" name="Rectangle 492"/>
          <p:cNvSpPr/>
          <p:nvPr/>
        </p:nvSpPr>
        <p:spPr>
          <a:xfrm>
            <a:off x="7338060" y="904341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TextBox 493"/>
          <p:cNvSpPr txBox="1"/>
          <p:nvPr/>
        </p:nvSpPr>
        <p:spPr>
          <a:xfrm>
            <a:off x="-2377440" y="911656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495" name="TextBox 494"/>
          <p:cNvSpPr txBox="1"/>
          <p:nvPr/>
        </p:nvSpPr>
        <p:spPr>
          <a:xfrm>
            <a:off x="-2377440" y="928801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r23</a:t>
            </a:r>
          </a:p>
        </p:txBody>
      </p:sp>
      <p:sp>
        <p:nvSpPr>
          <p:cNvPr id="496" name="Rectangle 495"/>
          <p:cNvSpPr/>
          <p:nvPr/>
        </p:nvSpPr>
        <p:spPr>
          <a:xfrm>
            <a:off x="8142731" y="904341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" name="TextBox 496"/>
          <p:cNvSpPr txBox="1"/>
          <p:nvPr/>
        </p:nvSpPr>
        <p:spPr>
          <a:xfrm>
            <a:off x="-1572768" y="911656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498" name="TextBox 497"/>
          <p:cNvSpPr txBox="1"/>
          <p:nvPr/>
        </p:nvSpPr>
        <p:spPr>
          <a:xfrm>
            <a:off x="-1572768" y="928801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r27</a:t>
            </a:r>
          </a:p>
        </p:txBody>
      </p:sp>
      <p:sp>
        <p:nvSpPr>
          <p:cNvPr id="499" name="Rectangle 498"/>
          <p:cNvSpPr/>
          <p:nvPr/>
        </p:nvSpPr>
        <p:spPr>
          <a:xfrm>
            <a:off x="8947404" y="904341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TextBox 499"/>
          <p:cNvSpPr txBox="1"/>
          <p:nvPr/>
        </p:nvSpPr>
        <p:spPr>
          <a:xfrm>
            <a:off x="-768096" y="911656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501" name="TextBox 500"/>
          <p:cNvSpPr txBox="1"/>
          <p:nvPr/>
        </p:nvSpPr>
        <p:spPr>
          <a:xfrm>
            <a:off x="-768096" y="928801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r31</a:t>
            </a:r>
          </a:p>
        </p:txBody>
      </p:sp>
      <p:sp>
        <p:nvSpPr>
          <p:cNvPr id="502" name="Rectangle 501"/>
          <p:cNvSpPr/>
          <p:nvPr/>
        </p:nvSpPr>
        <p:spPr>
          <a:xfrm>
            <a:off x="9752076" y="904341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" name="TextBox 502"/>
          <p:cNvSpPr txBox="1"/>
          <p:nvPr/>
        </p:nvSpPr>
        <p:spPr>
          <a:xfrm>
            <a:off x="36576" y="911656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504" name="TextBox 503"/>
          <p:cNvSpPr txBox="1"/>
          <p:nvPr/>
        </p:nvSpPr>
        <p:spPr>
          <a:xfrm>
            <a:off x="36576" y="928801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r35</a:t>
            </a:r>
          </a:p>
        </p:txBody>
      </p:sp>
      <p:sp>
        <p:nvSpPr>
          <p:cNvPr id="505" name="Rectangle 504"/>
          <p:cNvSpPr/>
          <p:nvPr/>
        </p:nvSpPr>
        <p:spPr>
          <a:xfrm>
            <a:off x="3314700" y="991209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" name="TextBox 505"/>
          <p:cNvSpPr txBox="1"/>
          <p:nvPr/>
        </p:nvSpPr>
        <p:spPr>
          <a:xfrm>
            <a:off x="-6400800" y="998524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-6400800" y="1015669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r39</a:t>
            </a:r>
          </a:p>
        </p:txBody>
      </p:sp>
      <p:sp>
        <p:nvSpPr>
          <p:cNvPr id="508" name="Rectangle 507"/>
          <p:cNvSpPr/>
          <p:nvPr/>
        </p:nvSpPr>
        <p:spPr>
          <a:xfrm>
            <a:off x="4119372" y="991209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" name="TextBox 508"/>
          <p:cNvSpPr txBox="1"/>
          <p:nvPr/>
        </p:nvSpPr>
        <p:spPr>
          <a:xfrm>
            <a:off x="-5596128" y="998524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-5596128" y="1015669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r43</a:t>
            </a:r>
          </a:p>
        </p:txBody>
      </p:sp>
      <p:sp>
        <p:nvSpPr>
          <p:cNvPr id="511" name="Rectangle 510"/>
          <p:cNvSpPr/>
          <p:nvPr/>
        </p:nvSpPr>
        <p:spPr>
          <a:xfrm>
            <a:off x="4924044" y="991209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" name="TextBox 511"/>
          <p:cNvSpPr txBox="1"/>
          <p:nvPr/>
        </p:nvSpPr>
        <p:spPr>
          <a:xfrm>
            <a:off x="-4791456" y="998524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-4791456" y="1015669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r47</a:t>
            </a:r>
          </a:p>
        </p:txBody>
      </p:sp>
      <p:sp>
        <p:nvSpPr>
          <p:cNvPr id="514" name="Rectangle 513"/>
          <p:cNvSpPr/>
          <p:nvPr/>
        </p:nvSpPr>
        <p:spPr>
          <a:xfrm>
            <a:off x="5728716" y="991209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" name="TextBox 514"/>
          <p:cNvSpPr txBox="1"/>
          <p:nvPr/>
        </p:nvSpPr>
        <p:spPr>
          <a:xfrm>
            <a:off x="-3986784" y="998524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-3986784" y="1015669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r51</a:t>
            </a:r>
          </a:p>
        </p:txBody>
      </p:sp>
      <p:sp>
        <p:nvSpPr>
          <p:cNvPr id="517" name="Rectangle 516"/>
          <p:cNvSpPr/>
          <p:nvPr/>
        </p:nvSpPr>
        <p:spPr>
          <a:xfrm>
            <a:off x="6533388" y="991209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" name="TextBox 517"/>
          <p:cNvSpPr txBox="1"/>
          <p:nvPr/>
        </p:nvSpPr>
        <p:spPr>
          <a:xfrm>
            <a:off x="-3182112" y="998524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519" name="TextBox 518"/>
          <p:cNvSpPr txBox="1"/>
          <p:nvPr/>
        </p:nvSpPr>
        <p:spPr>
          <a:xfrm>
            <a:off x="-3182112" y="1015669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r55</a:t>
            </a:r>
          </a:p>
        </p:txBody>
      </p:sp>
      <p:sp>
        <p:nvSpPr>
          <p:cNvPr id="520" name="Rectangle 519"/>
          <p:cNvSpPr/>
          <p:nvPr/>
        </p:nvSpPr>
        <p:spPr>
          <a:xfrm>
            <a:off x="7338060" y="991209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" name="TextBox 520"/>
          <p:cNvSpPr txBox="1"/>
          <p:nvPr/>
        </p:nvSpPr>
        <p:spPr>
          <a:xfrm>
            <a:off x="-2377440" y="998524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522" name="TextBox 521"/>
          <p:cNvSpPr txBox="1"/>
          <p:nvPr/>
        </p:nvSpPr>
        <p:spPr>
          <a:xfrm>
            <a:off x="-2377440" y="1015669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r59</a:t>
            </a:r>
          </a:p>
        </p:txBody>
      </p:sp>
      <p:sp>
        <p:nvSpPr>
          <p:cNvPr id="523" name="Rectangle 522"/>
          <p:cNvSpPr/>
          <p:nvPr/>
        </p:nvSpPr>
        <p:spPr>
          <a:xfrm>
            <a:off x="8142731" y="991209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" name="TextBox 523"/>
          <p:cNvSpPr txBox="1"/>
          <p:nvPr/>
        </p:nvSpPr>
        <p:spPr>
          <a:xfrm>
            <a:off x="-1572768" y="998524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525" name="TextBox 524"/>
          <p:cNvSpPr txBox="1"/>
          <p:nvPr/>
        </p:nvSpPr>
        <p:spPr>
          <a:xfrm>
            <a:off x="-1572768" y="1015669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r63</a:t>
            </a:r>
          </a:p>
        </p:txBody>
      </p:sp>
      <p:sp>
        <p:nvSpPr>
          <p:cNvPr id="526" name="Rectangle 525"/>
          <p:cNvSpPr/>
          <p:nvPr/>
        </p:nvSpPr>
        <p:spPr>
          <a:xfrm>
            <a:off x="8947404" y="991209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" name="TextBox 526"/>
          <p:cNvSpPr txBox="1"/>
          <p:nvPr/>
        </p:nvSpPr>
        <p:spPr>
          <a:xfrm>
            <a:off x="-768096" y="998524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528" name="TextBox 527"/>
          <p:cNvSpPr txBox="1"/>
          <p:nvPr/>
        </p:nvSpPr>
        <p:spPr>
          <a:xfrm>
            <a:off x="-768096" y="1015669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r67</a:t>
            </a:r>
          </a:p>
        </p:txBody>
      </p:sp>
      <p:sp>
        <p:nvSpPr>
          <p:cNvPr id="529" name="Rectangle 528"/>
          <p:cNvSpPr/>
          <p:nvPr/>
        </p:nvSpPr>
        <p:spPr>
          <a:xfrm>
            <a:off x="9752076" y="991209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" name="TextBox 529"/>
          <p:cNvSpPr txBox="1"/>
          <p:nvPr/>
        </p:nvSpPr>
        <p:spPr>
          <a:xfrm>
            <a:off x="36576" y="998524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531" name="TextBox 530"/>
          <p:cNvSpPr txBox="1"/>
          <p:nvPr/>
        </p:nvSpPr>
        <p:spPr>
          <a:xfrm>
            <a:off x="36576" y="1015669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r71</a:t>
            </a:r>
          </a:p>
        </p:txBody>
      </p:sp>
      <p:sp>
        <p:nvSpPr>
          <p:cNvPr id="532" name="Rectangle 531"/>
          <p:cNvSpPr/>
          <p:nvPr/>
        </p:nvSpPr>
        <p:spPr>
          <a:xfrm>
            <a:off x="11658600" y="9464040"/>
            <a:ext cx="2423160" cy="777240"/>
          </a:xfrm>
          <a:prstGeom prst="rect">
            <a:avLst/>
          </a:prstGeom>
          <a:solidFill>
            <a:srgbClr val="B5DC86"/>
          </a:solidFill>
          <a:ln w="18288">
            <a:solidFill>
              <a:srgbClr val="806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" name="TextBox 532"/>
          <p:cNvSpPr txBox="1"/>
          <p:nvPr/>
        </p:nvSpPr>
        <p:spPr>
          <a:xfrm>
            <a:off x="2811780" y="9537192"/>
            <a:ext cx="20116800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655">
                <a:solidFill>
                  <a:srgbClr val="202020"/>
                </a:solidFill>
                <a:latin typeface="DejaVu Sans"/>
              </a:rPr>
              <a:t>IB Leaf</a:t>
            </a:r>
          </a:p>
        </p:txBody>
      </p:sp>
      <p:sp>
        <p:nvSpPr>
          <p:cNvPr id="534" name="TextBox 533"/>
          <p:cNvSpPr txBox="1"/>
          <p:nvPr/>
        </p:nvSpPr>
        <p:spPr>
          <a:xfrm>
            <a:off x="2811780" y="9800082"/>
            <a:ext cx="20116800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655">
                <a:solidFill>
                  <a:srgbClr val="202020"/>
                </a:solidFill>
                <a:latin typeface="DejaVu Sans"/>
              </a:rPr>
              <a:t>Leaf-C1-R3</a:t>
            </a:r>
          </a:p>
        </p:txBody>
      </p:sp>
      <p:cxnSp>
        <p:nvCxnSpPr>
          <p:cNvPr id="535" name="Connector 534"/>
          <p:cNvCxnSpPr/>
          <p:nvPr/>
        </p:nvCxnSpPr>
        <p:spPr>
          <a:xfrm flipV="1">
            <a:off x="14081760" y="9281160"/>
            <a:ext cx="548640" cy="566928"/>
          </a:xfrm>
          <a:prstGeom prst="line">
            <a:avLst/>
          </a:prstGeom>
          <a:ln w="13716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6" name="Connector 535"/>
          <p:cNvCxnSpPr/>
          <p:nvPr/>
        </p:nvCxnSpPr>
        <p:spPr>
          <a:xfrm flipV="1">
            <a:off x="14081760" y="9281160"/>
            <a:ext cx="1353312" cy="566928"/>
          </a:xfrm>
          <a:prstGeom prst="line">
            <a:avLst/>
          </a:prstGeom>
          <a:ln w="13716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7" name="Connector 536"/>
          <p:cNvCxnSpPr/>
          <p:nvPr/>
        </p:nvCxnSpPr>
        <p:spPr>
          <a:xfrm flipV="1">
            <a:off x="14081760" y="9281160"/>
            <a:ext cx="2157984" cy="566928"/>
          </a:xfrm>
          <a:prstGeom prst="line">
            <a:avLst/>
          </a:prstGeom>
          <a:ln w="13716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8" name="Connector 537"/>
          <p:cNvCxnSpPr/>
          <p:nvPr/>
        </p:nvCxnSpPr>
        <p:spPr>
          <a:xfrm flipV="1">
            <a:off x="14081760" y="9281160"/>
            <a:ext cx="2962656" cy="566928"/>
          </a:xfrm>
          <a:prstGeom prst="line">
            <a:avLst/>
          </a:prstGeom>
          <a:ln w="13716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9" name="Connector 538"/>
          <p:cNvCxnSpPr/>
          <p:nvPr/>
        </p:nvCxnSpPr>
        <p:spPr>
          <a:xfrm flipV="1">
            <a:off x="14081760" y="9281160"/>
            <a:ext cx="3767328" cy="566928"/>
          </a:xfrm>
          <a:prstGeom prst="line">
            <a:avLst/>
          </a:prstGeom>
          <a:ln w="13716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0" name="Connector 539"/>
          <p:cNvCxnSpPr/>
          <p:nvPr/>
        </p:nvCxnSpPr>
        <p:spPr>
          <a:xfrm flipV="1">
            <a:off x="14081760" y="9281160"/>
            <a:ext cx="4572000" cy="566928"/>
          </a:xfrm>
          <a:prstGeom prst="line">
            <a:avLst/>
          </a:prstGeom>
          <a:ln w="13716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1" name="Connector 540"/>
          <p:cNvCxnSpPr/>
          <p:nvPr/>
        </p:nvCxnSpPr>
        <p:spPr>
          <a:xfrm flipV="1">
            <a:off x="14081760" y="9281160"/>
            <a:ext cx="5376672" cy="566928"/>
          </a:xfrm>
          <a:prstGeom prst="line">
            <a:avLst/>
          </a:prstGeom>
          <a:ln w="13716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2" name="Connector 541"/>
          <p:cNvCxnSpPr/>
          <p:nvPr/>
        </p:nvCxnSpPr>
        <p:spPr>
          <a:xfrm flipV="1">
            <a:off x="14081760" y="9281160"/>
            <a:ext cx="6181344" cy="566928"/>
          </a:xfrm>
          <a:prstGeom prst="line">
            <a:avLst/>
          </a:prstGeom>
          <a:ln w="13716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3" name="Connector 542"/>
          <p:cNvCxnSpPr/>
          <p:nvPr/>
        </p:nvCxnSpPr>
        <p:spPr>
          <a:xfrm flipV="1">
            <a:off x="14081760" y="9281160"/>
            <a:ext cx="6986016" cy="566928"/>
          </a:xfrm>
          <a:prstGeom prst="line">
            <a:avLst/>
          </a:prstGeom>
          <a:ln w="13716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4" name="Connector 543"/>
          <p:cNvCxnSpPr/>
          <p:nvPr/>
        </p:nvCxnSpPr>
        <p:spPr>
          <a:xfrm>
            <a:off x="14081760" y="9848088"/>
            <a:ext cx="548640" cy="301752"/>
          </a:xfrm>
          <a:prstGeom prst="line">
            <a:avLst/>
          </a:prstGeom>
          <a:ln w="13716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5" name="Connector 544"/>
          <p:cNvCxnSpPr/>
          <p:nvPr/>
        </p:nvCxnSpPr>
        <p:spPr>
          <a:xfrm>
            <a:off x="14081760" y="9848088"/>
            <a:ext cx="1353312" cy="301752"/>
          </a:xfrm>
          <a:prstGeom prst="line">
            <a:avLst/>
          </a:prstGeom>
          <a:ln w="13716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6" name="Connector 545"/>
          <p:cNvCxnSpPr/>
          <p:nvPr/>
        </p:nvCxnSpPr>
        <p:spPr>
          <a:xfrm>
            <a:off x="14081760" y="9848088"/>
            <a:ext cx="2157984" cy="301752"/>
          </a:xfrm>
          <a:prstGeom prst="line">
            <a:avLst/>
          </a:prstGeom>
          <a:ln w="13716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7" name="Connector 546"/>
          <p:cNvCxnSpPr/>
          <p:nvPr/>
        </p:nvCxnSpPr>
        <p:spPr>
          <a:xfrm>
            <a:off x="14081760" y="9848088"/>
            <a:ext cx="2962656" cy="301752"/>
          </a:xfrm>
          <a:prstGeom prst="line">
            <a:avLst/>
          </a:prstGeom>
          <a:ln w="13716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8" name="Connector 547"/>
          <p:cNvCxnSpPr/>
          <p:nvPr/>
        </p:nvCxnSpPr>
        <p:spPr>
          <a:xfrm>
            <a:off x="14081760" y="9848088"/>
            <a:ext cx="3767328" cy="301752"/>
          </a:xfrm>
          <a:prstGeom prst="line">
            <a:avLst/>
          </a:prstGeom>
          <a:ln w="13716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9" name="Connector 548"/>
          <p:cNvCxnSpPr/>
          <p:nvPr/>
        </p:nvCxnSpPr>
        <p:spPr>
          <a:xfrm>
            <a:off x="14081760" y="9848088"/>
            <a:ext cx="4572000" cy="301752"/>
          </a:xfrm>
          <a:prstGeom prst="line">
            <a:avLst/>
          </a:prstGeom>
          <a:ln w="13716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0" name="Connector 549"/>
          <p:cNvCxnSpPr/>
          <p:nvPr/>
        </p:nvCxnSpPr>
        <p:spPr>
          <a:xfrm>
            <a:off x="14081760" y="9848088"/>
            <a:ext cx="5376672" cy="301752"/>
          </a:xfrm>
          <a:prstGeom prst="line">
            <a:avLst/>
          </a:prstGeom>
          <a:ln w="13716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1" name="Connector 550"/>
          <p:cNvCxnSpPr/>
          <p:nvPr/>
        </p:nvCxnSpPr>
        <p:spPr>
          <a:xfrm>
            <a:off x="14081760" y="9848088"/>
            <a:ext cx="6181344" cy="301752"/>
          </a:xfrm>
          <a:prstGeom prst="line">
            <a:avLst/>
          </a:prstGeom>
          <a:ln w="13716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2" name="Connector 551"/>
          <p:cNvCxnSpPr/>
          <p:nvPr/>
        </p:nvCxnSpPr>
        <p:spPr>
          <a:xfrm>
            <a:off x="14081760" y="9848088"/>
            <a:ext cx="6986016" cy="301752"/>
          </a:xfrm>
          <a:prstGeom prst="line">
            <a:avLst/>
          </a:prstGeom>
          <a:ln w="13716">
            <a:solidFill>
              <a:srgbClr val="8062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3" name="Rectangle 552"/>
          <p:cNvSpPr/>
          <p:nvPr/>
        </p:nvSpPr>
        <p:spPr>
          <a:xfrm>
            <a:off x="14287500" y="904341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" name="TextBox 553"/>
          <p:cNvSpPr txBox="1"/>
          <p:nvPr/>
        </p:nvSpPr>
        <p:spPr>
          <a:xfrm>
            <a:off x="4572000" y="911656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4572000" y="928801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r75</a:t>
            </a:r>
          </a:p>
        </p:txBody>
      </p:sp>
      <p:sp>
        <p:nvSpPr>
          <p:cNvPr id="556" name="Rectangle 555"/>
          <p:cNvSpPr/>
          <p:nvPr/>
        </p:nvSpPr>
        <p:spPr>
          <a:xfrm>
            <a:off x="15092172" y="904341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" name="TextBox 556"/>
          <p:cNvSpPr txBox="1"/>
          <p:nvPr/>
        </p:nvSpPr>
        <p:spPr>
          <a:xfrm>
            <a:off x="5376672" y="911656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558" name="TextBox 557"/>
          <p:cNvSpPr txBox="1"/>
          <p:nvPr/>
        </p:nvSpPr>
        <p:spPr>
          <a:xfrm>
            <a:off x="5376672" y="928801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r79</a:t>
            </a:r>
          </a:p>
        </p:txBody>
      </p:sp>
      <p:sp>
        <p:nvSpPr>
          <p:cNvPr id="559" name="Rectangle 558"/>
          <p:cNvSpPr/>
          <p:nvPr/>
        </p:nvSpPr>
        <p:spPr>
          <a:xfrm>
            <a:off x="15896844" y="904341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" name="TextBox 559"/>
          <p:cNvSpPr txBox="1"/>
          <p:nvPr/>
        </p:nvSpPr>
        <p:spPr>
          <a:xfrm>
            <a:off x="6181344" y="911656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561" name="TextBox 560"/>
          <p:cNvSpPr txBox="1"/>
          <p:nvPr/>
        </p:nvSpPr>
        <p:spPr>
          <a:xfrm>
            <a:off x="6181344" y="928801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r83</a:t>
            </a:r>
          </a:p>
        </p:txBody>
      </p:sp>
      <p:sp>
        <p:nvSpPr>
          <p:cNvPr id="562" name="Rectangle 561"/>
          <p:cNvSpPr/>
          <p:nvPr/>
        </p:nvSpPr>
        <p:spPr>
          <a:xfrm>
            <a:off x="16701516" y="904341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TextBox 562"/>
          <p:cNvSpPr txBox="1"/>
          <p:nvPr/>
        </p:nvSpPr>
        <p:spPr>
          <a:xfrm>
            <a:off x="6986016" y="911656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564" name="TextBox 563"/>
          <p:cNvSpPr txBox="1"/>
          <p:nvPr/>
        </p:nvSpPr>
        <p:spPr>
          <a:xfrm>
            <a:off x="6986016" y="928801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r87</a:t>
            </a:r>
          </a:p>
        </p:txBody>
      </p:sp>
      <p:sp>
        <p:nvSpPr>
          <p:cNvPr id="565" name="Rectangle 564"/>
          <p:cNvSpPr/>
          <p:nvPr/>
        </p:nvSpPr>
        <p:spPr>
          <a:xfrm>
            <a:off x="17506188" y="904341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" name="TextBox 565"/>
          <p:cNvSpPr txBox="1"/>
          <p:nvPr/>
        </p:nvSpPr>
        <p:spPr>
          <a:xfrm>
            <a:off x="7790688" y="911656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567" name="TextBox 566"/>
          <p:cNvSpPr txBox="1"/>
          <p:nvPr/>
        </p:nvSpPr>
        <p:spPr>
          <a:xfrm>
            <a:off x="7790688" y="928801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r91</a:t>
            </a:r>
          </a:p>
        </p:txBody>
      </p:sp>
      <p:sp>
        <p:nvSpPr>
          <p:cNvPr id="568" name="Rectangle 567"/>
          <p:cNvSpPr/>
          <p:nvPr/>
        </p:nvSpPr>
        <p:spPr>
          <a:xfrm>
            <a:off x="18310860" y="904341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" name="TextBox 568"/>
          <p:cNvSpPr txBox="1"/>
          <p:nvPr/>
        </p:nvSpPr>
        <p:spPr>
          <a:xfrm>
            <a:off x="8595360" y="911656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570" name="TextBox 569"/>
          <p:cNvSpPr txBox="1"/>
          <p:nvPr/>
        </p:nvSpPr>
        <p:spPr>
          <a:xfrm>
            <a:off x="8595360" y="928801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r95</a:t>
            </a:r>
          </a:p>
        </p:txBody>
      </p:sp>
      <p:sp>
        <p:nvSpPr>
          <p:cNvPr id="571" name="Rectangle 570"/>
          <p:cNvSpPr/>
          <p:nvPr/>
        </p:nvSpPr>
        <p:spPr>
          <a:xfrm>
            <a:off x="19115532" y="904341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" name="TextBox 571"/>
          <p:cNvSpPr txBox="1"/>
          <p:nvPr/>
        </p:nvSpPr>
        <p:spPr>
          <a:xfrm>
            <a:off x="9400032" y="911656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573" name="TextBox 572"/>
          <p:cNvSpPr txBox="1"/>
          <p:nvPr/>
        </p:nvSpPr>
        <p:spPr>
          <a:xfrm>
            <a:off x="9400032" y="928801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r99</a:t>
            </a:r>
          </a:p>
        </p:txBody>
      </p:sp>
      <p:sp>
        <p:nvSpPr>
          <p:cNvPr id="574" name="Rectangle 573"/>
          <p:cNvSpPr/>
          <p:nvPr/>
        </p:nvSpPr>
        <p:spPr>
          <a:xfrm>
            <a:off x="19920204" y="904341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" name="TextBox 574"/>
          <p:cNvSpPr txBox="1"/>
          <p:nvPr/>
        </p:nvSpPr>
        <p:spPr>
          <a:xfrm>
            <a:off x="10204704" y="911656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576" name="TextBox 575"/>
          <p:cNvSpPr txBox="1"/>
          <p:nvPr/>
        </p:nvSpPr>
        <p:spPr>
          <a:xfrm>
            <a:off x="10204704" y="928801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r103</a:t>
            </a:r>
          </a:p>
        </p:txBody>
      </p:sp>
      <p:sp>
        <p:nvSpPr>
          <p:cNvPr id="577" name="Rectangle 576"/>
          <p:cNvSpPr/>
          <p:nvPr/>
        </p:nvSpPr>
        <p:spPr>
          <a:xfrm>
            <a:off x="20724876" y="904341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" name="TextBox 577"/>
          <p:cNvSpPr txBox="1"/>
          <p:nvPr/>
        </p:nvSpPr>
        <p:spPr>
          <a:xfrm>
            <a:off x="11009376" y="911656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579" name="TextBox 578"/>
          <p:cNvSpPr txBox="1"/>
          <p:nvPr/>
        </p:nvSpPr>
        <p:spPr>
          <a:xfrm>
            <a:off x="11009376" y="928801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r107</a:t>
            </a:r>
          </a:p>
        </p:txBody>
      </p:sp>
      <p:sp>
        <p:nvSpPr>
          <p:cNvPr id="580" name="Rectangle 579"/>
          <p:cNvSpPr/>
          <p:nvPr/>
        </p:nvSpPr>
        <p:spPr>
          <a:xfrm>
            <a:off x="14287500" y="991209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" name="TextBox 580"/>
          <p:cNvSpPr txBox="1"/>
          <p:nvPr/>
        </p:nvSpPr>
        <p:spPr>
          <a:xfrm>
            <a:off x="4572000" y="998524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582" name="TextBox 581"/>
          <p:cNvSpPr txBox="1"/>
          <p:nvPr/>
        </p:nvSpPr>
        <p:spPr>
          <a:xfrm>
            <a:off x="4572000" y="1015669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r111</a:t>
            </a:r>
          </a:p>
        </p:txBody>
      </p:sp>
      <p:sp>
        <p:nvSpPr>
          <p:cNvPr id="583" name="Rectangle 582"/>
          <p:cNvSpPr/>
          <p:nvPr/>
        </p:nvSpPr>
        <p:spPr>
          <a:xfrm>
            <a:off x="15092172" y="991209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" name="TextBox 583"/>
          <p:cNvSpPr txBox="1"/>
          <p:nvPr/>
        </p:nvSpPr>
        <p:spPr>
          <a:xfrm>
            <a:off x="5376672" y="998524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585" name="TextBox 584"/>
          <p:cNvSpPr txBox="1"/>
          <p:nvPr/>
        </p:nvSpPr>
        <p:spPr>
          <a:xfrm>
            <a:off x="5376672" y="1015669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r115</a:t>
            </a:r>
          </a:p>
        </p:txBody>
      </p:sp>
      <p:sp>
        <p:nvSpPr>
          <p:cNvPr id="586" name="Rectangle 585"/>
          <p:cNvSpPr/>
          <p:nvPr/>
        </p:nvSpPr>
        <p:spPr>
          <a:xfrm>
            <a:off x="15896844" y="991209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" name="TextBox 586"/>
          <p:cNvSpPr txBox="1"/>
          <p:nvPr/>
        </p:nvSpPr>
        <p:spPr>
          <a:xfrm>
            <a:off x="6181344" y="998524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588" name="TextBox 587"/>
          <p:cNvSpPr txBox="1"/>
          <p:nvPr/>
        </p:nvSpPr>
        <p:spPr>
          <a:xfrm>
            <a:off x="6181344" y="1015669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r119</a:t>
            </a:r>
          </a:p>
        </p:txBody>
      </p:sp>
      <p:sp>
        <p:nvSpPr>
          <p:cNvPr id="589" name="Rectangle 588"/>
          <p:cNvSpPr/>
          <p:nvPr/>
        </p:nvSpPr>
        <p:spPr>
          <a:xfrm>
            <a:off x="16701516" y="991209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" name="TextBox 589"/>
          <p:cNvSpPr txBox="1"/>
          <p:nvPr/>
        </p:nvSpPr>
        <p:spPr>
          <a:xfrm>
            <a:off x="6986016" y="998524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591" name="TextBox 590"/>
          <p:cNvSpPr txBox="1"/>
          <p:nvPr/>
        </p:nvSpPr>
        <p:spPr>
          <a:xfrm>
            <a:off x="6986016" y="1015669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r123</a:t>
            </a:r>
          </a:p>
        </p:txBody>
      </p:sp>
      <p:sp>
        <p:nvSpPr>
          <p:cNvPr id="592" name="Rectangle 591"/>
          <p:cNvSpPr/>
          <p:nvPr/>
        </p:nvSpPr>
        <p:spPr>
          <a:xfrm>
            <a:off x="17506188" y="991209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TextBox 592"/>
          <p:cNvSpPr txBox="1"/>
          <p:nvPr/>
        </p:nvSpPr>
        <p:spPr>
          <a:xfrm>
            <a:off x="7790688" y="998524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594" name="TextBox 593"/>
          <p:cNvSpPr txBox="1"/>
          <p:nvPr/>
        </p:nvSpPr>
        <p:spPr>
          <a:xfrm>
            <a:off x="7790688" y="1015669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r127</a:t>
            </a:r>
          </a:p>
        </p:txBody>
      </p:sp>
      <p:sp>
        <p:nvSpPr>
          <p:cNvPr id="595" name="Rectangle 594"/>
          <p:cNvSpPr/>
          <p:nvPr/>
        </p:nvSpPr>
        <p:spPr>
          <a:xfrm>
            <a:off x="18310860" y="991209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" name="TextBox 595"/>
          <p:cNvSpPr txBox="1"/>
          <p:nvPr/>
        </p:nvSpPr>
        <p:spPr>
          <a:xfrm>
            <a:off x="8595360" y="998524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597" name="TextBox 596"/>
          <p:cNvSpPr txBox="1"/>
          <p:nvPr/>
        </p:nvSpPr>
        <p:spPr>
          <a:xfrm>
            <a:off x="8595360" y="1015669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r131</a:t>
            </a:r>
          </a:p>
        </p:txBody>
      </p:sp>
      <p:sp>
        <p:nvSpPr>
          <p:cNvPr id="598" name="Rectangle 597"/>
          <p:cNvSpPr/>
          <p:nvPr/>
        </p:nvSpPr>
        <p:spPr>
          <a:xfrm>
            <a:off x="19115532" y="991209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TextBox 598"/>
          <p:cNvSpPr txBox="1"/>
          <p:nvPr/>
        </p:nvSpPr>
        <p:spPr>
          <a:xfrm>
            <a:off x="9400032" y="998524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600" name="TextBox 599"/>
          <p:cNvSpPr txBox="1"/>
          <p:nvPr/>
        </p:nvSpPr>
        <p:spPr>
          <a:xfrm>
            <a:off x="9400032" y="1015669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r135</a:t>
            </a:r>
          </a:p>
        </p:txBody>
      </p:sp>
      <p:sp>
        <p:nvSpPr>
          <p:cNvPr id="601" name="Rectangle 600"/>
          <p:cNvSpPr/>
          <p:nvPr/>
        </p:nvSpPr>
        <p:spPr>
          <a:xfrm>
            <a:off x="19920204" y="991209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" name="TextBox 601"/>
          <p:cNvSpPr txBox="1"/>
          <p:nvPr/>
        </p:nvSpPr>
        <p:spPr>
          <a:xfrm>
            <a:off x="10204704" y="998524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603" name="TextBox 602"/>
          <p:cNvSpPr txBox="1"/>
          <p:nvPr/>
        </p:nvSpPr>
        <p:spPr>
          <a:xfrm>
            <a:off x="10204704" y="1015669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r139</a:t>
            </a:r>
          </a:p>
        </p:txBody>
      </p:sp>
      <p:sp>
        <p:nvSpPr>
          <p:cNvPr id="604" name="Rectangle 603"/>
          <p:cNvSpPr/>
          <p:nvPr/>
        </p:nvSpPr>
        <p:spPr>
          <a:xfrm>
            <a:off x="20724876" y="9912096"/>
            <a:ext cx="685800" cy="475488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TextBox 604"/>
          <p:cNvSpPr txBox="1"/>
          <p:nvPr/>
        </p:nvSpPr>
        <p:spPr>
          <a:xfrm>
            <a:off x="11009376" y="998524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GPU</a:t>
            </a:r>
          </a:p>
        </p:txBody>
      </p:sp>
      <p:sp>
        <p:nvSpPr>
          <p:cNvPr id="606" name="TextBox 605"/>
          <p:cNvSpPr txBox="1"/>
          <p:nvPr/>
        </p:nvSpPr>
        <p:spPr>
          <a:xfrm>
            <a:off x="11009376" y="10156698"/>
            <a:ext cx="201168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80">
                <a:solidFill>
                  <a:srgbClr val="202020"/>
                </a:solidFill>
                <a:latin typeface="DejaVu Sans"/>
              </a:rPr>
              <a:t>r143</a:t>
            </a:r>
          </a:p>
        </p:txBody>
      </p:sp>
      <p:sp>
        <p:nvSpPr>
          <p:cNvPr id="607" name="TextBox 606"/>
          <p:cNvSpPr txBox="1"/>
          <p:nvPr/>
        </p:nvSpPr>
        <p:spPr>
          <a:xfrm>
            <a:off x="640080" y="10817352"/>
            <a:ext cx="21305520" cy="2880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12">
                <a:solidFill>
                  <a:srgbClr val="8062AC"/>
                </a:solidFill>
                <a:latin typeface="DejaVu Sans"/>
              </a:rPr>
              <a:t>Rail 3: 18 GPUs/rack, 36 GPUs total; each GPU uplink = 400 Gb/s = 50 GB/s</a:t>
            </a:r>
          </a:p>
        </p:txBody>
      </p:sp>
      <p:sp>
        <p:nvSpPr>
          <p:cNvPr id="608" name="TextBox 607"/>
          <p:cNvSpPr txBox="1"/>
          <p:nvPr/>
        </p:nvSpPr>
        <p:spPr>
          <a:xfrm>
            <a:off x="914400" y="12207240"/>
            <a:ext cx="2011680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728">
                <a:solidFill>
                  <a:srgbClr val="202020"/>
                </a:solidFill>
                <a:latin typeface="DejaVu Sans"/>
              </a:rPr>
              <a:t>All 144 GPU-to-Leaf edges are drawn. NICs are collapsed into these logical links in TXT/JSON.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21396960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79">
                <a:solidFill>
                  <a:srgbClr val="202020"/>
                </a:solidFill>
                <a:latin typeface="DejaVu Sans"/>
              </a:rPr>
              <a:t>Topology 4: exact link model and bandwidth units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2139696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28">
                <a:solidFill>
                  <a:srgbClr val="202020"/>
                </a:solidFill>
                <a:latin typeface="DejaVu Sans"/>
              </a:rPr>
              <a:t>GB200 NVL72 + ConnectX-7 / Quantum NDR400. All edge capacities are unidirectional.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21396960" cy="3703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943">
                <a:solidFill>
                  <a:srgbClr val="268C68"/>
                </a:solidFill>
                <a:latin typeface="DejaVu Sans"/>
              </a:rPr>
              <a:t>Inventory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67128"/>
            <a:ext cx="2139696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84">
                <a:solidFill>
                  <a:srgbClr val="202020"/>
                </a:solidFill>
                <a:latin typeface="DejaVu Sans"/>
              </a:rPr>
              <a:t>144 GPUs, 36 NVSwitch ASICs, 8 IB Leaves, 9 shared IB Spines. 2808 bidirectional logical edges.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17520"/>
            <a:ext cx="21396960" cy="3703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943">
                <a:solidFill>
                  <a:srgbClr val="268C68"/>
                </a:solidFill>
                <a:latin typeface="DejaVu Sans"/>
              </a:rPr>
              <a:t>GPU to NVSwitch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47288"/>
            <a:ext cx="2139696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84">
                <a:solidFill>
                  <a:srgbClr val="202020"/>
                </a:solidFill>
                <a:latin typeface="DejaVu Sans"/>
              </a:rPr>
              <a:t>Every GPU connects to all 18 ASICs in its rack: 18 x 50 = 900 GB/s per direction.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21396960" cy="3703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943">
                <a:solidFill>
                  <a:srgbClr val="268C68"/>
                </a:solidFill>
                <a:latin typeface="DejaVu Sans"/>
              </a:rPr>
              <a:t>GPU to IB Leaf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727448"/>
            <a:ext cx="2139696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84">
                <a:solidFill>
                  <a:srgbClr val="202020"/>
                </a:solidFill>
                <a:latin typeface="DejaVu Sans"/>
              </a:rPr>
              <a:t>One 400 Gb/s NIC per GPU, rail = slot. Each Leaf has 18 GPU-facing links: 18 x 50 = 900 GB/s.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577840"/>
            <a:ext cx="21396960" cy="3703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943">
                <a:solidFill>
                  <a:srgbClr val="268C68"/>
                </a:solidFill>
                <a:latin typeface="DejaVu Sans"/>
              </a:rPr>
              <a:t>Leaf to Spine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007608"/>
            <a:ext cx="2139696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84">
                <a:solidFill>
                  <a:srgbClr val="202020"/>
                </a:solidFill>
                <a:latin typeface="DejaVu Sans"/>
              </a:rPr>
              <a:t>Every Leaf connects to every Spine via 2 x 400 Gb/s: 100 GB/s aggregate per direction per pair.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858000"/>
            <a:ext cx="21396960" cy="3703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943">
                <a:solidFill>
                  <a:srgbClr val="268C68"/>
                </a:solidFill>
                <a:latin typeface="DejaVu Sans"/>
              </a:rPr>
              <a:t>Packet / chunk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7287768"/>
            <a:ext cx="2139696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84">
                <a:solidFill>
                  <a:srgbClr val="202020"/>
                </a:solidFill>
                <a:latin typeface="DejaVu Sans"/>
              </a:rPr>
              <a:t>Leaf-Spine bundles can stripe packets over both ports. Semantic chunks may be split into [1,2,4] parts.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8138160"/>
            <a:ext cx="21396960" cy="3703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943">
                <a:solidFill>
                  <a:srgbClr val="268C68"/>
                </a:solidFill>
                <a:latin typeface="DejaVu Sans"/>
              </a:rPr>
              <a:t>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8567928"/>
            <a:ext cx="2139696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84">
                <a:solidFill>
                  <a:srgbClr val="202020"/>
                </a:solidFill>
                <a:latin typeface="DejaVu Sans"/>
              </a:rPr>
              <a:t>The 2-rack population and retained 9 shared Spines are a contest adaptation of the supplied 8-rack diagram.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9418320"/>
            <a:ext cx="21396960" cy="3703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943">
                <a:solidFill>
                  <a:srgbClr val="268C68"/>
                </a:solidFill>
                <a:latin typeface="DejaVu Sans"/>
              </a:rPr>
              <a:t>Timing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9848088"/>
            <a:ext cx="2139696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84">
                <a:solidFill>
                  <a:srgbClr val="202020"/>
                </a:solidFill>
                <a:latin typeface="DejaVu Sans"/>
              </a:rPr>
              <a:t>1 us per logical send startup, 0.3 us per traversed switch. Contest parameters, not vendor measured latency.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10698480"/>
            <a:ext cx="21396960" cy="3703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943">
                <a:solidFill>
                  <a:srgbClr val="268C68"/>
                </a:solidFill>
                <a:latin typeface="DejaVu Sans"/>
              </a:rPr>
              <a:t>Sources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11128248"/>
            <a:ext cx="2139696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84">
                <a:solidFill>
                  <a:srgbClr val="202020"/>
                </a:solidFill>
                <a:latin typeface="DejaVu Sans"/>
              </a:rPr>
              <a:t>NVIDIA DGX GB200 SuperPOD Reference Architecture, Network Fabrics / Key Components; DGX GB hardware guide.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