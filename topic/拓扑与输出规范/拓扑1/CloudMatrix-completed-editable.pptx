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21945600" cy="12801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1" name="正文级别 1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标题文本</a:t>
            </a:r>
          </a:p>
        </p:txBody>
      </p:sp>
      <p:sp>
        <p:nvSpPr>
          <p:cNvPr id="30" name="正文级别 1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39" name="正文级别 1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48" name="正文级别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5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标题文本</a:t>
            </a:r>
          </a:p>
        </p:txBody>
      </p:sp>
      <p:sp>
        <p:nvSpPr>
          <p:cNvPr id="73" name="正文级别 1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标题文本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正文级别 1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1097280" y="171873"/>
            <a:ext cx="19751040" cy="281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1097280" y="2987040"/>
            <a:ext cx="19751040" cy="9814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40080" y="228599"/>
            <a:ext cx="812346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3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CloudMatrix UB topology: 128 NPUs / 16 Nodes</a:t>
            </a:r>
          </a:p>
        </p:txBody>
      </p:sp>
      <p:sp>
        <p:nvSpPr>
          <p:cNvPr id="95" name="Rectangle 2"/>
          <p:cNvSpPr/>
          <p:nvPr/>
        </p:nvSpPr>
        <p:spPr>
          <a:xfrm>
            <a:off x="640080" y="1371600"/>
            <a:ext cx="2834640" cy="1417320"/>
          </a:xfrm>
          <a:prstGeom prst="rect">
            <a:avLst/>
          </a:prstGeom>
          <a:solidFill>
            <a:srgbClr val="FFFFFF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TextBox 3"/>
          <p:cNvSpPr txBox="1"/>
          <p:nvPr/>
        </p:nvSpPr>
        <p:spPr>
          <a:xfrm>
            <a:off x="1434622" y="1481327"/>
            <a:ext cx="124555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E58A24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Sub-plane 0</a:t>
            </a:r>
          </a:p>
        </p:txBody>
      </p:sp>
      <p:sp>
        <p:nvSpPr>
          <p:cNvPr id="97" name="Rectangle 4"/>
          <p:cNvSpPr/>
          <p:nvPr/>
        </p:nvSpPr>
        <p:spPr>
          <a:xfrm>
            <a:off x="3657600" y="1371600"/>
            <a:ext cx="2834640" cy="1417320"/>
          </a:xfrm>
          <a:prstGeom prst="rect">
            <a:avLst/>
          </a:prstGeom>
          <a:solidFill>
            <a:srgbClr val="FFFFFF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" name="TextBox 5"/>
          <p:cNvSpPr txBox="1"/>
          <p:nvPr/>
        </p:nvSpPr>
        <p:spPr>
          <a:xfrm>
            <a:off x="4452142" y="1481327"/>
            <a:ext cx="124555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447AC3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Sub-plane 1</a:t>
            </a:r>
          </a:p>
        </p:txBody>
      </p:sp>
      <p:sp>
        <p:nvSpPr>
          <p:cNvPr id="99" name="Rectangle 6"/>
          <p:cNvSpPr/>
          <p:nvPr/>
        </p:nvSpPr>
        <p:spPr>
          <a:xfrm>
            <a:off x="6675119" y="1371600"/>
            <a:ext cx="2834641" cy="1417320"/>
          </a:xfrm>
          <a:prstGeom prst="rect">
            <a:avLst/>
          </a:prstGeom>
          <a:solidFill>
            <a:srgbClr val="FFFFFF"/>
          </a:solidFill>
          <a:ln w="18288">
            <a:solidFill>
              <a:srgbClr val="268C6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TextBox 7"/>
          <p:cNvSpPr txBox="1"/>
          <p:nvPr/>
        </p:nvSpPr>
        <p:spPr>
          <a:xfrm>
            <a:off x="7469662" y="1481327"/>
            <a:ext cx="124555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268C68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Sub-plane 2</a:t>
            </a:r>
          </a:p>
        </p:txBody>
      </p:sp>
      <p:sp>
        <p:nvSpPr>
          <p:cNvPr id="101" name="Rectangle 8"/>
          <p:cNvSpPr/>
          <p:nvPr/>
        </p:nvSpPr>
        <p:spPr>
          <a:xfrm>
            <a:off x="9692640" y="1371600"/>
            <a:ext cx="2834641" cy="1417320"/>
          </a:xfrm>
          <a:prstGeom prst="rect">
            <a:avLst/>
          </a:prstGeom>
          <a:solidFill>
            <a:srgbClr val="FFFFFF"/>
          </a:solidFill>
          <a:ln w="18288">
            <a:solidFill>
              <a:srgbClr val="8062A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TextBox 9"/>
          <p:cNvSpPr txBox="1"/>
          <p:nvPr/>
        </p:nvSpPr>
        <p:spPr>
          <a:xfrm>
            <a:off x="10487182" y="1481327"/>
            <a:ext cx="124555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8062AC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Sub-plane 3</a:t>
            </a:r>
          </a:p>
        </p:txBody>
      </p:sp>
      <p:sp>
        <p:nvSpPr>
          <p:cNvPr id="103" name="Rectangle 10"/>
          <p:cNvSpPr/>
          <p:nvPr/>
        </p:nvSpPr>
        <p:spPr>
          <a:xfrm>
            <a:off x="12710159" y="1371600"/>
            <a:ext cx="2834641" cy="1417320"/>
          </a:xfrm>
          <a:prstGeom prst="rect">
            <a:avLst/>
          </a:prstGeom>
          <a:solidFill>
            <a:srgbClr val="FFFFFF"/>
          </a:solidFill>
          <a:ln w="18288">
            <a:solidFill>
              <a:srgbClr val="A77D2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11"/>
          <p:cNvSpPr txBox="1"/>
          <p:nvPr/>
        </p:nvSpPr>
        <p:spPr>
          <a:xfrm>
            <a:off x="13504702" y="1481327"/>
            <a:ext cx="124555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A77D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Sub-plane 4</a:t>
            </a:r>
          </a:p>
        </p:txBody>
      </p:sp>
      <p:sp>
        <p:nvSpPr>
          <p:cNvPr id="105" name="Rectangle 12"/>
          <p:cNvSpPr/>
          <p:nvPr/>
        </p:nvSpPr>
        <p:spPr>
          <a:xfrm>
            <a:off x="15727680" y="1371600"/>
            <a:ext cx="2834641" cy="1417320"/>
          </a:xfrm>
          <a:prstGeom prst="rect">
            <a:avLst/>
          </a:prstGeom>
          <a:solidFill>
            <a:srgbClr val="FFFFFF"/>
          </a:solidFill>
          <a:ln w="18288">
            <a:solidFill>
              <a:srgbClr val="329CA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TextBox 13"/>
          <p:cNvSpPr txBox="1"/>
          <p:nvPr/>
        </p:nvSpPr>
        <p:spPr>
          <a:xfrm>
            <a:off x="16522222" y="1481327"/>
            <a:ext cx="124555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329CA5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Sub-plane 5</a:t>
            </a:r>
          </a:p>
        </p:txBody>
      </p:sp>
      <p:sp>
        <p:nvSpPr>
          <p:cNvPr id="107" name="Rectangle 14"/>
          <p:cNvSpPr/>
          <p:nvPr/>
        </p:nvSpPr>
        <p:spPr>
          <a:xfrm>
            <a:off x="18745200" y="1371600"/>
            <a:ext cx="2834640" cy="1417320"/>
          </a:xfrm>
          <a:prstGeom prst="rect">
            <a:avLst/>
          </a:prstGeom>
          <a:solidFill>
            <a:srgbClr val="FFFFFF"/>
          </a:solidFill>
          <a:ln w="18288">
            <a:solidFill>
              <a:srgbClr val="CF4B4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TextBox 15"/>
          <p:cNvSpPr txBox="1"/>
          <p:nvPr/>
        </p:nvSpPr>
        <p:spPr>
          <a:xfrm>
            <a:off x="19539742" y="1481327"/>
            <a:ext cx="124555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CF4B4B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Sub-plane 6</a:t>
            </a:r>
          </a:p>
        </p:txBody>
      </p:sp>
      <p:sp>
        <p:nvSpPr>
          <p:cNvPr id="109" name="Rectangle 16"/>
          <p:cNvSpPr/>
          <p:nvPr/>
        </p:nvSpPr>
        <p:spPr>
          <a:xfrm>
            <a:off x="640079" y="5349240"/>
            <a:ext cx="6309362" cy="6446521"/>
          </a:xfrm>
          <a:prstGeom prst="rect">
            <a:avLst/>
          </a:prstGeom>
          <a:solidFill>
            <a:srgbClr val="FFFFFF"/>
          </a:solidFill>
          <a:ln w="18288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Rectangle 17"/>
          <p:cNvSpPr/>
          <p:nvPr/>
        </p:nvSpPr>
        <p:spPr>
          <a:xfrm>
            <a:off x="7543799" y="5349240"/>
            <a:ext cx="6309362" cy="6446521"/>
          </a:xfrm>
          <a:prstGeom prst="rect">
            <a:avLst/>
          </a:prstGeom>
          <a:solidFill>
            <a:srgbClr val="FFFFFF"/>
          </a:solidFill>
          <a:ln w="18288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Rectangle 18"/>
          <p:cNvSpPr/>
          <p:nvPr/>
        </p:nvSpPr>
        <p:spPr>
          <a:xfrm>
            <a:off x="14950439" y="5349240"/>
            <a:ext cx="6309361" cy="6446521"/>
          </a:xfrm>
          <a:prstGeom prst="rect">
            <a:avLst/>
          </a:prstGeom>
          <a:solidFill>
            <a:srgbClr val="FFFFFF"/>
          </a:solidFill>
          <a:ln w="18288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Connector 19"/>
          <p:cNvSpPr/>
          <p:nvPr/>
        </p:nvSpPr>
        <p:spPr>
          <a:xfrm flipV="1">
            <a:off x="932688" y="2578608"/>
            <a:ext cx="182881" cy="3319272"/>
          </a:xfrm>
          <a:prstGeom prst="line">
            <a:avLst/>
          </a:prstGeom>
          <a:ln w="1280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" name="Connector 20"/>
          <p:cNvSpPr/>
          <p:nvPr/>
        </p:nvSpPr>
        <p:spPr>
          <a:xfrm flipV="1">
            <a:off x="1143000" y="2578608"/>
            <a:ext cx="896112" cy="3319272"/>
          </a:xfrm>
          <a:prstGeom prst="line">
            <a:avLst/>
          </a:prstGeom>
          <a:ln w="1280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4" name="Connector 21"/>
          <p:cNvSpPr/>
          <p:nvPr/>
        </p:nvSpPr>
        <p:spPr>
          <a:xfrm flipV="1">
            <a:off x="1353311" y="2578608"/>
            <a:ext cx="1609345" cy="3319272"/>
          </a:xfrm>
          <a:prstGeom prst="line">
            <a:avLst/>
          </a:prstGeom>
          <a:ln w="1280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" name="Connector 22"/>
          <p:cNvSpPr/>
          <p:nvPr/>
        </p:nvSpPr>
        <p:spPr>
          <a:xfrm flipV="1">
            <a:off x="1819655" y="2578608"/>
            <a:ext cx="2313432" cy="3319272"/>
          </a:xfrm>
          <a:prstGeom prst="line">
            <a:avLst/>
          </a:prstGeom>
          <a:ln w="1280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6" name="Connector 23"/>
          <p:cNvSpPr/>
          <p:nvPr/>
        </p:nvSpPr>
        <p:spPr>
          <a:xfrm flipV="1">
            <a:off x="2029967" y="2578608"/>
            <a:ext cx="3026665" cy="3319272"/>
          </a:xfrm>
          <a:prstGeom prst="line">
            <a:avLst/>
          </a:prstGeom>
          <a:ln w="1280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" name="Connector 24"/>
          <p:cNvSpPr/>
          <p:nvPr/>
        </p:nvSpPr>
        <p:spPr>
          <a:xfrm flipV="1">
            <a:off x="2240279" y="2578608"/>
            <a:ext cx="3739897" cy="3319272"/>
          </a:xfrm>
          <a:prstGeom prst="line">
            <a:avLst/>
          </a:prstGeom>
          <a:ln w="1280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" name="Connector 25"/>
          <p:cNvSpPr/>
          <p:nvPr/>
        </p:nvSpPr>
        <p:spPr>
          <a:xfrm flipV="1">
            <a:off x="2706623" y="2578608"/>
            <a:ext cx="4443985" cy="3319272"/>
          </a:xfrm>
          <a:prstGeom prst="line">
            <a:avLst/>
          </a:prstGeom>
          <a:ln w="1280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9" name="Connector 26"/>
          <p:cNvSpPr/>
          <p:nvPr/>
        </p:nvSpPr>
        <p:spPr>
          <a:xfrm flipV="1">
            <a:off x="2916936" y="2578608"/>
            <a:ext cx="5157216" cy="3319272"/>
          </a:xfrm>
          <a:prstGeom prst="line">
            <a:avLst/>
          </a:prstGeom>
          <a:ln w="1280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" name="Connector 27"/>
          <p:cNvSpPr/>
          <p:nvPr/>
        </p:nvSpPr>
        <p:spPr>
          <a:xfrm flipV="1">
            <a:off x="3127247" y="2578608"/>
            <a:ext cx="5870450" cy="3319272"/>
          </a:xfrm>
          <a:prstGeom prst="line">
            <a:avLst/>
          </a:prstGeom>
          <a:ln w="1280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" name="Connector 28"/>
          <p:cNvSpPr/>
          <p:nvPr/>
        </p:nvSpPr>
        <p:spPr>
          <a:xfrm flipV="1">
            <a:off x="3593591" y="2578608"/>
            <a:ext cx="6574538" cy="3319272"/>
          </a:xfrm>
          <a:prstGeom prst="line">
            <a:avLst/>
          </a:prstGeom>
          <a:ln w="1280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2" name="Connector 29"/>
          <p:cNvSpPr/>
          <p:nvPr/>
        </p:nvSpPr>
        <p:spPr>
          <a:xfrm flipV="1">
            <a:off x="3803903" y="2578608"/>
            <a:ext cx="7287769" cy="3319272"/>
          </a:xfrm>
          <a:prstGeom prst="line">
            <a:avLst/>
          </a:prstGeom>
          <a:ln w="1280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" name="Connector 30"/>
          <p:cNvSpPr/>
          <p:nvPr/>
        </p:nvSpPr>
        <p:spPr>
          <a:xfrm flipV="1">
            <a:off x="4014215" y="2578608"/>
            <a:ext cx="8001002" cy="3319272"/>
          </a:xfrm>
          <a:prstGeom prst="line">
            <a:avLst/>
          </a:prstGeom>
          <a:ln w="1280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" name="Connector 31"/>
          <p:cNvSpPr/>
          <p:nvPr/>
        </p:nvSpPr>
        <p:spPr>
          <a:xfrm flipV="1">
            <a:off x="4480559" y="2578608"/>
            <a:ext cx="8705089" cy="3319272"/>
          </a:xfrm>
          <a:prstGeom prst="line">
            <a:avLst/>
          </a:prstGeom>
          <a:ln w="1280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" name="Connector 32"/>
          <p:cNvSpPr/>
          <p:nvPr/>
        </p:nvSpPr>
        <p:spPr>
          <a:xfrm flipV="1">
            <a:off x="4690872" y="2578608"/>
            <a:ext cx="9418320" cy="3319272"/>
          </a:xfrm>
          <a:prstGeom prst="line">
            <a:avLst/>
          </a:prstGeom>
          <a:ln w="1280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" name="Connector 33"/>
          <p:cNvSpPr/>
          <p:nvPr/>
        </p:nvSpPr>
        <p:spPr>
          <a:xfrm flipV="1">
            <a:off x="4901184" y="2578608"/>
            <a:ext cx="10131553" cy="3319272"/>
          </a:xfrm>
          <a:prstGeom prst="line">
            <a:avLst/>
          </a:prstGeom>
          <a:ln w="1280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7" name="Connector 34"/>
          <p:cNvSpPr/>
          <p:nvPr/>
        </p:nvSpPr>
        <p:spPr>
          <a:xfrm flipV="1">
            <a:off x="5367527" y="2578608"/>
            <a:ext cx="10835641" cy="3319272"/>
          </a:xfrm>
          <a:prstGeom prst="line">
            <a:avLst/>
          </a:prstGeom>
          <a:ln w="1280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8" name="Connector 35"/>
          <p:cNvSpPr/>
          <p:nvPr/>
        </p:nvSpPr>
        <p:spPr>
          <a:xfrm flipV="1">
            <a:off x="5577840" y="2578608"/>
            <a:ext cx="11548873" cy="3319272"/>
          </a:xfrm>
          <a:prstGeom prst="line">
            <a:avLst/>
          </a:prstGeom>
          <a:ln w="1280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" name="Connector 36"/>
          <p:cNvSpPr/>
          <p:nvPr/>
        </p:nvSpPr>
        <p:spPr>
          <a:xfrm flipV="1">
            <a:off x="5788151" y="2578608"/>
            <a:ext cx="12262106" cy="3319272"/>
          </a:xfrm>
          <a:prstGeom prst="line">
            <a:avLst/>
          </a:prstGeom>
          <a:ln w="1280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" name="Connector 37"/>
          <p:cNvSpPr/>
          <p:nvPr/>
        </p:nvSpPr>
        <p:spPr>
          <a:xfrm flipV="1">
            <a:off x="6254495" y="2578608"/>
            <a:ext cx="12966194" cy="3319272"/>
          </a:xfrm>
          <a:prstGeom prst="line">
            <a:avLst/>
          </a:prstGeom>
          <a:ln w="1280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" name="Connector 38"/>
          <p:cNvSpPr/>
          <p:nvPr/>
        </p:nvSpPr>
        <p:spPr>
          <a:xfrm flipV="1">
            <a:off x="6464808" y="2578608"/>
            <a:ext cx="13679425" cy="3319272"/>
          </a:xfrm>
          <a:prstGeom prst="line">
            <a:avLst/>
          </a:prstGeom>
          <a:ln w="1280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" name="Connector 39"/>
          <p:cNvSpPr/>
          <p:nvPr/>
        </p:nvSpPr>
        <p:spPr>
          <a:xfrm flipV="1">
            <a:off x="6675119" y="2578608"/>
            <a:ext cx="14392657" cy="3319272"/>
          </a:xfrm>
          <a:prstGeom prst="line">
            <a:avLst/>
          </a:prstGeom>
          <a:ln w="1280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" name="Connector 40"/>
          <p:cNvSpPr/>
          <p:nvPr/>
        </p:nvSpPr>
        <p:spPr>
          <a:xfrm flipH="1" flipV="1">
            <a:off x="1115568" y="2578608"/>
            <a:ext cx="6720841" cy="3319272"/>
          </a:xfrm>
          <a:prstGeom prst="line">
            <a:avLst/>
          </a:prstGeom>
          <a:ln w="1280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 flipH="1" flipV="1">
            <a:off x="2039112" y="2578608"/>
            <a:ext cx="6007609" cy="3319272"/>
          </a:xfrm>
          <a:prstGeom prst="line">
            <a:avLst/>
          </a:prstGeom>
          <a:ln w="1280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 flipH="1" flipV="1">
            <a:off x="2962655" y="2578608"/>
            <a:ext cx="5294376" cy="3319272"/>
          </a:xfrm>
          <a:prstGeom prst="line">
            <a:avLst/>
          </a:prstGeom>
          <a:ln w="1280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H="1" flipV="1">
            <a:off x="4133087" y="2578608"/>
            <a:ext cx="4590290" cy="3319272"/>
          </a:xfrm>
          <a:prstGeom prst="line">
            <a:avLst/>
          </a:prstGeom>
          <a:ln w="1280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" name="Connector 44"/>
          <p:cNvSpPr/>
          <p:nvPr/>
        </p:nvSpPr>
        <p:spPr>
          <a:xfrm flipH="1" flipV="1">
            <a:off x="5056631" y="2578608"/>
            <a:ext cx="3877058" cy="3319272"/>
          </a:xfrm>
          <a:prstGeom prst="line">
            <a:avLst/>
          </a:prstGeom>
          <a:ln w="1280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" name="Connector 45"/>
          <p:cNvSpPr/>
          <p:nvPr/>
        </p:nvSpPr>
        <p:spPr>
          <a:xfrm flipH="1" flipV="1">
            <a:off x="5980176" y="2578608"/>
            <a:ext cx="3163825" cy="3319272"/>
          </a:xfrm>
          <a:prstGeom prst="line">
            <a:avLst/>
          </a:prstGeom>
          <a:ln w="1280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9" name="Connector 46"/>
          <p:cNvSpPr/>
          <p:nvPr/>
        </p:nvSpPr>
        <p:spPr>
          <a:xfrm flipH="1" flipV="1">
            <a:off x="7150607" y="2578608"/>
            <a:ext cx="2459737" cy="3319272"/>
          </a:xfrm>
          <a:prstGeom prst="line">
            <a:avLst/>
          </a:prstGeom>
          <a:ln w="1280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0" name="Connector 47"/>
          <p:cNvSpPr/>
          <p:nvPr/>
        </p:nvSpPr>
        <p:spPr>
          <a:xfrm flipH="1" flipV="1">
            <a:off x="8074152" y="2578608"/>
            <a:ext cx="1746505" cy="3319272"/>
          </a:xfrm>
          <a:prstGeom prst="line">
            <a:avLst/>
          </a:prstGeom>
          <a:ln w="1280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" name="Connector 48"/>
          <p:cNvSpPr/>
          <p:nvPr/>
        </p:nvSpPr>
        <p:spPr>
          <a:xfrm flipH="1" flipV="1">
            <a:off x="8997695" y="2578608"/>
            <a:ext cx="1033273" cy="3319272"/>
          </a:xfrm>
          <a:prstGeom prst="line">
            <a:avLst/>
          </a:prstGeom>
          <a:ln w="1280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2" name="Connector 49"/>
          <p:cNvSpPr/>
          <p:nvPr/>
        </p:nvSpPr>
        <p:spPr>
          <a:xfrm flipH="1" flipV="1">
            <a:off x="10168128" y="2578608"/>
            <a:ext cx="329185" cy="3319272"/>
          </a:xfrm>
          <a:prstGeom prst="line">
            <a:avLst/>
          </a:prstGeom>
          <a:ln w="1280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" name="Connector 50"/>
          <p:cNvSpPr/>
          <p:nvPr/>
        </p:nvSpPr>
        <p:spPr>
          <a:xfrm flipV="1">
            <a:off x="10707623" y="2578608"/>
            <a:ext cx="384049" cy="3319272"/>
          </a:xfrm>
          <a:prstGeom prst="line">
            <a:avLst/>
          </a:prstGeom>
          <a:ln w="1280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" name="Connector 51"/>
          <p:cNvSpPr/>
          <p:nvPr/>
        </p:nvSpPr>
        <p:spPr>
          <a:xfrm flipV="1">
            <a:off x="10917935" y="2578608"/>
            <a:ext cx="1097281" cy="3319272"/>
          </a:xfrm>
          <a:prstGeom prst="line">
            <a:avLst/>
          </a:prstGeom>
          <a:ln w="1280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" name="Connector 52"/>
          <p:cNvSpPr/>
          <p:nvPr/>
        </p:nvSpPr>
        <p:spPr>
          <a:xfrm flipV="1">
            <a:off x="11384280" y="2578608"/>
            <a:ext cx="1801369" cy="3319272"/>
          </a:xfrm>
          <a:prstGeom prst="line">
            <a:avLst/>
          </a:prstGeom>
          <a:ln w="1280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6" name="Connector 53"/>
          <p:cNvSpPr/>
          <p:nvPr/>
        </p:nvSpPr>
        <p:spPr>
          <a:xfrm flipV="1">
            <a:off x="11594592" y="2578608"/>
            <a:ext cx="2514601" cy="3319272"/>
          </a:xfrm>
          <a:prstGeom prst="line">
            <a:avLst/>
          </a:prstGeom>
          <a:ln w="1280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7" name="Connector 54"/>
          <p:cNvSpPr/>
          <p:nvPr/>
        </p:nvSpPr>
        <p:spPr>
          <a:xfrm flipV="1">
            <a:off x="11804904" y="2578608"/>
            <a:ext cx="3227833" cy="3319272"/>
          </a:xfrm>
          <a:prstGeom prst="line">
            <a:avLst/>
          </a:prstGeom>
          <a:ln w="1280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8" name="Connector 55"/>
          <p:cNvSpPr/>
          <p:nvPr/>
        </p:nvSpPr>
        <p:spPr>
          <a:xfrm flipV="1">
            <a:off x="12271247" y="2578608"/>
            <a:ext cx="3931920" cy="3319272"/>
          </a:xfrm>
          <a:prstGeom prst="line">
            <a:avLst/>
          </a:prstGeom>
          <a:ln w="1280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9" name="Connector 56"/>
          <p:cNvSpPr/>
          <p:nvPr/>
        </p:nvSpPr>
        <p:spPr>
          <a:xfrm flipV="1">
            <a:off x="12481559" y="2578608"/>
            <a:ext cx="4645153" cy="3319272"/>
          </a:xfrm>
          <a:prstGeom prst="line">
            <a:avLst/>
          </a:prstGeom>
          <a:ln w="1280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0" name="Connector 57"/>
          <p:cNvSpPr/>
          <p:nvPr/>
        </p:nvSpPr>
        <p:spPr>
          <a:xfrm flipV="1">
            <a:off x="12691871" y="2578608"/>
            <a:ext cx="5358385" cy="3319272"/>
          </a:xfrm>
          <a:prstGeom prst="line">
            <a:avLst/>
          </a:prstGeom>
          <a:ln w="1280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" name="Connector 58"/>
          <p:cNvSpPr/>
          <p:nvPr/>
        </p:nvSpPr>
        <p:spPr>
          <a:xfrm flipV="1">
            <a:off x="13158215" y="2578608"/>
            <a:ext cx="6062473" cy="3319272"/>
          </a:xfrm>
          <a:prstGeom prst="line">
            <a:avLst/>
          </a:prstGeom>
          <a:ln w="1280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" name="Connector 59"/>
          <p:cNvSpPr/>
          <p:nvPr/>
        </p:nvSpPr>
        <p:spPr>
          <a:xfrm flipV="1">
            <a:off x="13368528" y="2578608"/>
            <a:ext cx="6775705" cy="3319272"/>
          </a:xfrm>
          <a:prstGeom prst="line">
            <a:avLst/>
          </a:prstGeom>
          <a:ln w="1280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" name="Connector 60"/>
          <p:cNvSpPr/>
          <p:nvPr/>
        </p:nvSpPr>
        <p:spPr>
          <a:xfrm flipV="1">
            <a:off x="13578839" y="2578608"/>
            <a:ext cx="7488937" cy="3319272"/>
          </a:xfrm>
          <a:prstGeom prst="line">
            <a:avLst/>
          </a:prstGeom>
          <a:ln w="1280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4" name="Connector 61"/>
          <p:cNvSpPr/>
          <p:nvPr/>
        </p:nvSpPr>
        <p:spPr>
          <a:xfrm flipH="1" flipV="1">
            <a:off x="1115568" y="2578608"/>
            <a:ext cx="14127481" cy="3319272"/>
          </a:xfrm>
          <a:prstGeom prst="line">
            <a:avLst/>
          </a:prstGeom>
          <a:ln w="1280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5" name="Connector 62"/>
          <p:cNvSpPr/>
          <p:nvPr/>
        </p:nvSpPr>
        <p:spPr>
          <a:xfrm flipH="1" flipV="1">
            <a:off x="2039112" y="2578608"/>
            <a:ext cx="13414247" cy="3319272"/>
          </a:xfrm>
          <a:prstGeom prst="line">
            <a:avLst/>
          </a:prstGeom>
          <a:ln w="1280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6" name="Connector 63"/>
          <p:cNvSpPr/>
          <p:nvPr/>
        </p:nvSpPr>
        <p:spPr>
          <a:xfrm flipH="1" flipV="1">
            <a:off x="2962656" y="2578608"/>
            <a:ext cx="12701017" cy="3319272"/>
          </a:xfrm>
          <a:prstGeom prst="line">
            <a:avLst/>
          </a:prstGeom>
          <a:ln w="12801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" name="Connector 64"/>
          <p:cNvSpPr/>
          <p:nvPr/>
        </p:nvSpPr>
        <p:spPr>
          <a:xfrm flipH="1" flipV="1">
            <a:off x="4133086" y="2578608"/>
            <a:ext cx="11996930" cy="3319272"/>
          </a:xfrm>
          <a:prstGeom prst="line">
            <a:avLst/>
          </a:prstGeom>
          <a:ln w="1280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" name="Connector 65"/>
          <p:cNvSpPr/>
          <p:nvPr/>
        </p:nvSpPr>
        <p:spPr>
          <a:xfrm flipH="1" flipV="1">
            <a:off x="5056631" y="2578608"/>
            <a:ext cx="11283698" cy="3319272"/>
          </a:xfrm>
          <a:prstGeom prst="line">
            <a:avLst/>
          </a:prstGeom>
          <a:ln w="1280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" name="Connector 66"/>
          <p:cNvSpPr/>
          <p:nvPr/>
        </p:nvSpPr>
        <p:spPr>
          <a:xfrm flipH="1" flipV="1">
            <a:off x="5980176" y="2578608"/>
            <a:ext cx="10570465" cy="3319272"/>
          </a:xfrm>
          <a:prstGeom prst="line">
            <a:avLst/>
          </a:prstGeom>
          <a:ln w="12801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" name="Connector 67"/>
          <p:cNvSpPr/>
          <p:nvPr/>
        </p:nvSpPr>
        <p:spPr>
          <a:xfrm flipH="1" flipV="1">
            <a:off x="7150607" y="2578608"/>
            <a:ext cx="9866377" cy="3319272"/>
          </a:xfrm>
          <a:prstGeom prst="line">
            <a:avLst/>
          </a:prstGeom>
          <a:ln w="1280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1" name="Connector 68"/>
          <p:cNvSpPr/>
          <p:nvPr/>
        </p:nvSpPr>
        <p:spPr>
          <a:xfrm flipH="1" flipV="1">
            <a:off x="8074152" y="2578608"/>
            <a:ext cx="9153144" cy="3319272"/>
          </a:xfrm>
          <a:prstGeom prst="line">
            <a:avLst/>
          </a:prstGeom>
          <a:ln w="1280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2" name="Connector 69"/>
          <p:cNvSpPr/>
          <p:nvPr/>
        </p:nvSpPr>
        <p:spPr>
          <a:xfrm flipH="1" flipV="1">
            <a:off x="8997695" y="2578608"/>
            <a:ext cx="8439913" cy="3319272"/>
          </a:xfrm>
          <a:prstGeom prst="line">
            <a:avLst/>
          </a:prstGeom>
          <a:ln w="12801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" name="Connector 70"/>
          <p:cNvSpPr/>
          <p:nvPr/>
        </p:nvSpPr>
        <p:spPr>
          <a:xfrm flipH="1" flipV="1">
            <a:off x="10168127" y="2578608"/>
            <a:ext cx="7735826" cy="3319272"/>
          </a:xfrm>
          <a:prstGeom prst="line">
            <a:avLst/>
          </a:prstGeom>
          <a:ln w="1280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" name="Connector 71"/>
          <p:cNvSpPr/>
          <p:nvPr/>
        </p:nvSpPr>
        <p:spPr>
          <a:xfrm flipH="1" flipV="1">
            <a:off x="11091672" y="2578608"/>
            <a:ext cx="7022592" cy="3319272"/>
          </a:xfrm>
          <a:prstGeom prst="line">
            <a:avLst/>
          </a:prstGeom>
          <a:ln w="1280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" name="Connector 72"/>
          <p:cNvSpPr/>
          <p:nvPr/>
        </p:nvSpPr>
        <p:spPr>
          <a:xfrm flipH="1" flipV="1">
            <a:off x="12015216" y="2578608"/>
            <a:ext cx="6309361" cy="3319272"/>
          </a:xfrm>
          <a:prstGeom prst="line">
            <a:avLst/>
          </a:prstGeom>
          <a:ln w="12801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" name="Connector 73"/>
          <p:cNvSpPr/>
          <p:nvPr/>
        </p:nvSpPr>
        <p:spPr>
          <a:xfrm flipH="1" flipV="1">
            <a:off x="13185647" y="2578608"/>
            <a:ext cx="5605273" cy="3319272"/>
          </a:xfrm>
          <a:prstGeom prst="line">
            <a:avLst/>
          </a:prstGeom>
          <a:ln w="1280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" name="Connector 74"/>
          <p:cNvSpPr/>
          <p:nvPr/>
        </p:nvSpPr>
        <p:spPr>
          <a:xfrm flipH="1" flipV="1">
            <a:off x="14109191" y="2578608"/>
            <a:ext cx="4892041" cy="3319272"/>
          </a:xfrm>
          <a:prstGeom prst="line">
            <a:avLst/>
          </a:prstGeom>
          <a:ln w="1280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8" name="Connector 75"/>
          <p:cNvSpPr/>
          <p:nvPr/>
        </p:nvSpPr>
        <p:spPr>
          <a:xfrm flipH="1" flipV="1">
            <a:off x="15032736" y="2578608"/>
            <a:ext cx="4178809" cy="3319272"/>
          </a:xfrm>
          <a:prstGeom prst="line">
            <a:avLst/>
          </a:prstGeom>
          <a:ln w="12801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" name="Connector 76"/>
          <p:cNvSpPr/>
          <p:nvPr/>
        </p:nvSpPr>
        <p:spPr>
          <a:xfrm flipH="1" flipV="1">
            <a:off x="16203168" y="2578608"/>
            <a:ext cx="3474721" cy="3319272"/>
          </a:xfrm>
          <a:prstGeom prst="line">
            <a:avLst/>
          </a:prstGeom>
          <a:ln w="1280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0" name="Connector 77"/>
          <p:cNvSpPr/>
          <p:nvPr/>
        </p:nvSpPr>
        <p:spPr>
          <a:xfrm flipH="1" flipV="1">
            <a:off x="17126712" y="2578608"/>
            <a:ext cx="2761489" cy="3319272"/>
          </a:xfrm>
          <a:prstGeom prst="line">
            <a:avLst/>
          </a:prstGeom>
          <a:ln w="1280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1" name="Connector 78"/>
          <p:cNvSpPr/>
          <p:nvPr/>
        </p:nvSpPr>
        <p:spPr>
          <a:xfrm flipH="1" flipV="1">
            <a:off x="18050256" y="2578608"/>
            <a:ext cx="2048257" cy="3319272"/>
          </a:xfrm>
          <a:prstGeom prst="line">
            <a:avLst/>
          </a:prstGeom>
          <a:ln w="12801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" name="Connector 79"/>
          <p:cNvSpPr/>
          <p:nvPr/>
        </p:nvSpPr>
        <p:spPr>
          <a:xfrm flipH="1" flipV="1">
            <a:off x="19220687" y="2578608"/>
            <a:ext cx="1344169" cy="3319272"/>
          </a:xfrm>
          <a:prstGeom prst="line">
            <a:avLst/>
          </a:prstGeom>
          <a:ln w="1280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3" name="Connector 80"/>
          <p:cNvSpPr/>
          <p:nvPr/>
        </p:nvSpPr>
        <p:spPr>
          <a:xfrm flipH="1" flipV="1">
            <a:off x="20144232" y="2578608"/>
            <a:ext cx="630937" cy="3319272"/>
          </a:xfrm>
          <a:prstGeom prst="line">
            <a:avLst/>
          </a:prstGeom>
          <a:ln w="1280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" name="Connector 81"/>
          <p:cNvSpPr/>
          <p:nvPr/>
        </p:nvSpPr>
        <p:spPr>
          <a:xfrm flipV="1">
            <a:off x="20985480" y="2578608"/>
            <a:ext cx="82297" cy="3319272"/>
          </a:xfrm>
          <a:prstGeom prst="line">
            <a:avLst/>
          </a:prstGeom>
          <a:ln w="12801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5" name="Connector 82"/>
          <p:cNvSpPr/>
          <p:nvPr/>
        </p:nvSpPr>
        <p:spPr>
          <a:xfrm flipH="1">
            <a:off x="822960" y="6720840"/>
            <a:ext cx="1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" name="Connector 83"/>
          <p:cNvSpPr/>
          <p:nvPr/>
        </p:nvSpPr>
        <p:spPr>
          <a:xfrm>
            <a:off x="914399" y="6720840"/>
            <a:ext cx="676657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7" name="Connector 84"/>
          <p:cNvSpPr/>
          <p:nvPr/>
        </p:nvSpPr>
        <p:spPr>
          <a:xfrm>
            <a:off x="1005839" y="6720840"/>
            <a:ext cx="1353313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8" name="Connector 85"/>
          <p:cNvSpPr/>
          <p:nvPr/>
        </p:nvSpPr>
        <p:spPr>
          <a:xfrm>
            <a:off x="1097280" y="6720840"/>
            <a:ext cx="2029969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" name="Connector 86"/>
          <p:cNvSpPr/>
          <p:nvPr/>
        </p:nvSpPr>
        <p:spPr>
          <a:xfrm>
            <a:off x="1188719" y="6720840"/>
            <a:ext cx="2706625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0" name="Connector 87"/>
          <p:cNvSpPr/>
          <p:nvPr/>
        </p:nvSpPr>
        <p:spPr>
          <a:xfrm>
            <a:off x="1280160" y="6720840"/>
            <a:ext cx="3383281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1" name="Connector 88"/>
          <p:cNvSpPr/>
          <p:nvPr/>
        </p:nvSpPr>
        <p:spPr>
          <a:xfrm>
            <a:off x="1371600" y="6720840"/>
            <a:ext cx="4059937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2" name="Connector 89"/>
          <p:cNvSpPr/>
          <p:nvPr/>
        </p:nvSpPr>
        <p:spPr>
          <a:xfrm>
            <a:off x="1463040" y="6720840"/>
            <a:ext cx="4736593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3" name="Connector 90"/>
          <p:cNvSpPr/>
          <p:nvPr/>
        </p:nvSpPr>
        <p:spPr>
          <a:xfrm flipH="1">
            <a:off x="905255" y="6720840"/>
            <a:ext cx="804673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" name="Connector 91"/>
          <p:cNvSpPr/>
          <p:nvPr/>
        </p:nvSpPr>
        <p:spPr>
          <a:xfrm flipH="1">
            <a:off x="1673351" y="6720840"/>
            <a:ext cx="128017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" name="Connector 92"/>
          <p:cNvSpPr/>
          <p:nvPr/>
        </p:nvSpPr>
        <p:spPr>
          <a:xfrm>
            <a:off x="1892806" y="6720840"/>
            <a:ext cx="548642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6" name="Connector 93"/>
          <p:cNvSpPr/>
          <p:nvPr/>
        </p:nvSpPr>
        <p:spPr>
          <a:xfrm>
            <a:off x="1984248" y="6720840"/>
            <a:ext cx="1225297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" name="Connector 94"/>
          <p:cNvSpPr/>
          <p:nvPr/>
        </p:nvSpPr>
        <p:spPr>
          <a:xfrm>
            <a:off x="2075688" y="6720840"/>
            <a:ext cx="1901952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" name="Connector 95"/>
          <p:cNvSpPr/>
          <p:nvPr/>
        </p:nvSpPr>
        <p:spPr>
          <a:xfrm>
            <a:off x="2167128" y="6720840"/>
            <a:ext cx="2578608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9" name="Connector 96"/>
          <p:cNvSpPr/>
          <p:nvPr/>
        </p:nvSpPr>
        <p:spPr>
          <a:xfrm>
            <a:off x="2258567" y="6720840"/>
            <a:ext cx="3255265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0" name="Connector 97"/>
          <p:cNvSpPr/>
          <p:nvPr/>
        </p:nvSpPr>
        <p:spPr>
          <a:xfrm>
            <a:off x="2350007" y="6720840"/>
            <a:ext cx="3931921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" name="Connector 98"/>
          <p:cNvSpPr/>
          <p:nvPr/>
        </p:nvSpPr>
        <p:spPr>
          <a:xfrm flipH="1">
            <a:off x="987552" y="6720840"/>
            <a:ext cx="1609345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" name="Connector 99"/>
          <p:cNvSpPr/>
          <p:nvPr/>
        </p:nvSpPr>
        <p:spPr>
          <a:xfrm flipH="1">
            <a:off x="1755648" y="6720840"/>
            <a:ext cx="932689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3" name="Connector 100"/>
          <p:cNvSpPr/>
          <p:nvPr/>
        </p:nvSpPr>
        <p:spPr>
          <a:xfrm flipH="1">
            <a:off x="2523744" y="6720840"/>
            <a:ext cx="256033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" name="Connector 101"/>
          <p:cNvSpPr/>
          <p:nvPr/>
        </p:nvSpPr>
        <p:spPr>
          <a:xfrm>
            <a:off x="2871216" y="6720840"/>
            <a:ext cx="420624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" name="Connector 102"/>
          <p:cNvSpPr/>
          <p:nvPr/>
        </p:nvSpPr>
        <p:spPr>
          <a:xfrm>
            <a:off x="2962655" y="6720840"/>
            <a:ext cx="1097281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" name="Connector 103"/>
          <p:cNvSpPr/>
          <p:nvPr/>
        </p:nvSpPr>
        <p:spPr>
          <a:xfrm>
            <a:off x="3054095" y="6720840"/>
            <a:ext cx="1773936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7" name="Connector 104"/>
          <p:cNvSpPr/>
          <p:nvPr/>
        </p:nvSpPr>
        <p:spPr>
          <a:xfrm>
            <a:off x="3145535" y="6720840"/>
            <a:ext cx="2450593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8" name="Connector 105"/>
          <p:cNvSpPr/>
          <p:nvPr/>
        </p:nvSpPr>
        <p:spPr>
          <a:xfrm>
            <a:off x="3236976" y="6720840"/>
            <a:ext cx="3127249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" name="Connector 106"/>
          <p:cNvSpPr/>
          <p:nvPr/>
        </p:nvSpPr>
        <p:spPr>
          <a:xfrm flipH="1">
            <a:off x="1069847" y="6720840"/>
            <a:ext cx="2414018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" name="Connector 107"/>
          <p:cNvSpPr/>
          <p:nvPr/>
        </p:nvSpPr>
        <p:spPr>
          <a:xfrm flipH="1">
            <a:off x="1837943" y="6720840"/>
            <a:ext cx="1737362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" name="Connector 108"/>
          <p:cNvSpPr/>
          <p:nvPr/>
        </p:nvSpPr>
        <p:spPr>
          <a:xfrm flipH="1">
            <a:off x="2606039" y="6720840"/>
            <a:ext cx="1060705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2" name="Connector 109"/>
          <p:cNvSpPr/>
          <p:nvPr/>
        </p:nvSpPr>
        <p:spPr>
          <a:xfrm flipH="1">
            <a:off x="3374135" y="6720840"/>
            <a:ext cx="384049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" name="Connector 110"/>
          <p:cNvSpPr/>
          <p:nvPr/>
        </p:nvSpPr>
        <p:spPr>
          <a:xfrm>
            <a:off x="3849623" y="6720840"/>
            <a:ext cx="292609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" name="Connector 111"/>
          <p:cNvSpPr/>
          <p:nvPr/>
        </p:nvSpPr>
        <p:spPr>
          <a:xfrm>
            <a:off x="3941062" y="6720840"/>
            <a:ext cx="969265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" name="Connector 112"/>
          <p:cNvSpPr/>
          <p:nvPr/>
        </p:nvSpPr>
        <p:spPr>
          <a:xfrm>
            <a:off x="4032503" y="6720840"/>
            <a:ext cx="1645921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" name="Connector 113"/>
          <p:cNvSpPr/>
          <p:nvPr/>
        </p:nvSpPr>
        <p:spPr>
          <a:xfrm>
            <a:off x="4123943" y="6720840"/>
            <a:ext cx="2322578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7" name="Connector 114"/>
          <p:cNvSpPr/>
          <p:nvPr/>
        </p:nvSpPr>
        <p:spPr>
          <a:xfrm flipH="1">
            <a:off x="1152144" y="6720840"/>
            <a:ext cx="3218689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" name="Connector 115"/>
          <p:cNvSpPr/>
          <p:nvPr/>
        </p:nvSpPr>
        <p:spPr>
          <a:xfrm flipH="1">
            <a:off x="1920239" y="6720840"/>
            <a:ext cx="2542034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" name="Connector 116"/>
          <p:cNvSpPr/>
          <p:nvPr/>
        </p:nvSpPr>
        <p:spPr>
          <a:xfrm flipH="1">
            <a:off x="2688335" y="6720840"/>
            <a:ext cx="1865378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" name="Connector 117"/>
          <p:cNvSpPr/>
          <p:nvPr/>
        </p:nvSpPr>
        <p:spPr>
          <a:xfrm flipH="1">
            <a:off x="3456431" y="6720840"/>
            <a:ext cx="1188722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1" name="Connector 118"/>
          <p:cNvSpPr/>
          <p:nvPr/>
        </p:nvSpPr>
        <p:spPr>
          <a:xfrm flipH="1">
            <a:off x="4224528" y="6720840"/>
            <a:ext cx="512065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" name="Connector 119"/>
          <p:cNvSpPr/>
          <p:nvPr/>
        </p:nvSpPr>
        <p:spPr>
          <a:xfrm>
            <a:off x="4828032" y="6720840"/>
            <a:ext cx="164593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" name="Connector 120"/>
          <p:cNvSpPr/>
          <p:nvPr/>
        </p:nvSpPr>
        <p:spPr>
          <a:xfrm>
            <a:off x="4919471" y="6720840"/>
            <a:ext cx="841249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" name="Connector 121"/>
          <p:cNvSpPr/>
          <p:nvPr/>
        </p:nvSpPr>
        <p:spPr>
          <a:xfrm>
            <a:off x="5010911" y="6720840"/>
            <a:ext cx="1517905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" name="Connector 122"/>
          <p:cNvSpPr/>
          <p:nvPr/>
        </p:nvSpPr>
        <p:spPr>
          <a:xfrm flipH="1">
            <a:off x="1234440" y="6720840"/>
            <a:ext cx="4023360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6" name="Connector 123"/>
          <p:cNvSpPr/>
          <p:nvPr/>
        </p:nvSpPr>
        <p:spPr>
          <a:xfrm flipH="1">
            <a:off x="2002536" y="6720840"/>
            <a:ext cx="3346704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" name="Connector 124"/>
          <p:cNvSpPr/>
          <p:nvPr/>
        </p:nvSpPr>
        <p:spPr>
          <a:xfrm flipH="1">
            <a:off x="2770632" y="6720840"/>
            <a:ext cx="2670049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" name="Connector 125"/>
          <p:cNvSpPr/>
          <p:nvPr/>
        </p:nvSpPr>
        <p:spPr>
          <a:xfrm flipH="1">
            <a:off x="3538728" y="6720840"/>
            <a:ext cx="1993393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" name="Connector 126"/>
          <p:cNvSpPr/>
          <p:nvPr/>
        </p:nvSpPr>
        <p:spPr>
          <a:xfrm flipH="1">
            <a:off x="4306823" y="6720840"/>
            <a:ext cx="1316737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0" name="Connector 127"/>
          <p:cNvSpPr/>
          <p:nvPr/>
        </p:nvSpPr>
        <p:spPr>
          <a:xfrm flipH="1">
            <a:off x="5074920" y="6720840"/>
            <a:ext cx="640081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1" name="Connector 128"/>
          <p:cNvSpPr/>
          <p:nvPr/>
        </p:nvSpPr>
        <p:spPr>
          <a:xfrm>
            <a:off x="5806440" y="6720840"/>
            <a:ext cx="36577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2" name="Connector 129"/>
          <p:cNvSpPr/>
          <p:nvPr/>
        </p:nvSpPr>
        <p:spPr>
          <a:xfrm>
            <a:off x="5897879" y="6720840"/>
            <a:ext cx="713233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" name="Connector 130"/>
          <p:cNvSpPr/>
          <p:nvPr/>
        </p:nvSpPr>
        <p:spPr>
          <a:xfrm flipH="1">
            <a:off x="1316736" y="6720840"/>
            <a:ext cx="4828033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4" name="Connector 131"/>
          <p:cNvSpPr/>
          <p:nvPr/>
        </p:nvSpPr>
        <p:spPr>
          <a:xfrm flipH="1">
            <a:off x="2084831" y="6720840"/>
            <a:ext cx="4151377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" name="Connector 132"/>
          <p:cNvSpPr/>
          <p:nvPr/>
        </p:nvSpPr>
        <p:spPr>
          <a:xfrm flipH="1">
            <a:off x="2852928" y="6720840"/>
            <a:ext cx="3474721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" name="Connector 133"/>
          <p:cNvSpPr/>
          <p:nvPr/>
        </p:nvSpPr>
        <p:spPr>
          <a:xfrm flipH="1">
            <a:off x="3621024" y="6720840"/>
            <a:ext cx="2798065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" name="Connector 134"/>
          <p:cNvSpPr/>
          <p:nvPr/>
        </p:nvSpPr>
        <p:spPr>
          <a:xfrm flipH="1">
            <a:off x="4389120" y="6720840"/>
            <a:ext cx="2121408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" name="Connector 135"/>
          <p:cNvSpPr/>
          <p:nvPr/>
        </p:nvSpPr>
        <p:spPr>
          <a:xfrm flipH="1">
            <a:off x="5157215" y="6720840"/>
            <a:ext cx="1444753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9" name="Connector 136"/>
          <p:cNvSpPr/>
          <p:nvPr/>
        </p:nvSpPr>
        <p:spPr>
          <a:xfrm flipH="1">
            <a:off x="5925311" y="6720840"/>
            <a:ext cx="768097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" name="Connector 137"/>
          <p:cNvSpPr/>
          <p:nvPr/>
        </p:nvSpPr>
        <p:spPr>
          <a:xfrm flipH="1">
            <a:off x="6693407" y="6720840"/>
            <a:ext cx="91441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1" name="Connector 138"/>
          <p:cNvSpPr/>
          <p:nvPr/>
        </p:nvSpPr>
        <p:spPr>
          <a:xfrm>
            <a:off x="7726678" y="6720840"/>
            <a:ext cx="1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2" name="Connector 139"/>
          <p:cNvSpPr/>
          <p:nvPr/>
        </p:nvSpPr>
        <p:spPr>
          <a:xfrm>
            <a:off x="7818119" y="6720840"/>
            <a:ext cx="676657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" name="Connector 140"/>
          <p:cNvSpPr/>
          <p:nvPr/>
        </p:nvSpPr>
        <p:spPr>
          <a:xfrm>
            <a:off x="7909559" y="6720840"/>
            <a:ext cx="1353313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" name="Connector 141"/>
          <p:cNvSpPr/>
          <p:nvPr/>
        </p:nvSpPr>
        <p:spPr>
          <a:xfrm>
            <a:off x="8001000" y="6720840"/>
            <a:ext cx="2029969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5" name="Connector 142"/>
          <p:cNvSpPr/>
          <p:nvPr/>
        </p:nvSpPr>
        <p:spPr>
          <a:xfrm>
            <a:off x="8092440" y="6720840"/>
            <a:ext cx="2706625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" name="Connector 143"/>
          <p:cNvSpPr/>
          <p:nvPr/>
        </p:nvSpPr>
        <p:spPr>
          <a:xfrm>
            <a:off x="8183878" y="6720840"/>
            <a:ext cx="3383282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7" name="Connector 144"/>
          <p:cNvSpPr/>
          <p:nvPr/>
        </p:nvSpPr>
        <p:spPr>
          <a:xfrm>
            <a:off x="8275319" y="6720840"/>
            <a:ext cx="4059937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" name="Connector 145"/>
          <p:cNvSpPr/>
          <p:nvPr/>
        </p:nvSpPr>
        <p:spPr>
          <a:xfrm>
            <a:off x="8366759" y="6720840"/>
            <a:ext cx="4736593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" name="Connector 146"/>
          <p:cNvSpPr/>
          <p:nvPr/>
        </p:nvSpPr>
        <p:spPr>
          <a:xfrm flipH="1">
            <a:off x="7808975" y="6720840"/>
            <a:ext cx="804674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0" name="Connector 147"/>
          <p:cNvSpPr/>
          <p:nvPr/>
        </p:nvSpPr>
        <p:spPr>
          <a:xfrm flipH="1">
            <a:off x="8577071" y="6720840"/>
            <a:ext cx="128017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1" name="Connector 148"/>
          <p:cNvSpPr/>
          <p:nvPr/>
        </p:nvSpPr>
        <p:spPr>
          <a:xfrm>
            <a:off x="8796528" y="6720840"/>
            <a:ext cx="548641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" name="Connector 149"/>
          <p:cNvSpPr/>
          <p:nvPr/>
        </p:nvSpPr>
        <p:spPr>
          <a:xfrm>
            <a:off x="8887968" y="6720840"/>
            <a:ext cx="1225297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3" name="Connector 150"/>
          <p:cNvSpPr/>
          <p:nvPr/>
        </p:nvSpPr>
        <p:spPr>
          <a:xfrm>
            <a:off x="8979407" y="6720840"/>
            <a:ext cx="1901952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4" name="Connector 151"/>
          <p:cNvSpPr/>
          <p:nvPr/>
        </p:nvSpPr>
        <p:spPr>
          <a:xfrm>
            <a:off x="9070848" y="6720840"/>
            <a:ext cx="2578608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" name="Connector 152"/>
          <p:cNvSpPr/>
          <p:nvPr/>
        </p:nvSpPr>
        <p:spPr>
          <a:xfrm>
            <a:off x="9162287" y="6720840"/>
            <a:ext cx="3255266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6" name="Connector 153"/>
          <p:cNvSpPr/>
          <p:nvPr/>
        </p:nvSpPr>
        <p:spPr>
          <a:xfrm>
            <a:off x="9253728" y="6720840"/>
            <a:ext cx="3931921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7" name="Connector 154"/>
          <p:cNvSpPr/>
          <p:nvPr/>
        </p:nvSpPr>
        <p:spPr>
          <a:xfrm flipH="1">
            <a:off x="7891271" y="6720840"/>
            <a:ext cx="1609345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8" name="Connector 155"/>
          <p:cNvSpPr/>
          <p:nvPr/>
        </p:nvSpPr>
        <p:spPr>
          <a:xfrm flipH="1">
            <a:off x="8659368" y="6720840"/>
            <a:ext cx="932689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9" name="Connector 156"/>
          <p:cNvSpPr/>
          <p:nvPr/>
        </p:nvSpPr>
        <p:spPr>
          <a:xfrm flipH="1">
            <a:off x="9427464" y="6720840"/>
            <a:ext cx="256033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" name="Connector 157"/>
          <p:cNvSpPr/>
          <p:nvPr/>
        </p:nvSpPr>
        <p:spPr>
          <a:xfrm>
            <a:off x="9774935" y="6720840"/>
            <a:ext cx="420625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1" name="Connector 158"/>
          <p:cNvSpPr/>
          <p:nvPr/>
        </p:nvSpPr>
        <p:spPr>
          <a:xfrm>
            <a:off x="9866376" y="6720840"/>
            <a:ext cx="1097281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" name="Connector 159"/>
          <p:cNvSpPr/>
          <p:nvPr/>
        </p:nvSpPr>
        <p:spPr>
          <a:xfrm>
            <a:off x="9957816" y="6720840"/>
            <a:ext cx="1773936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3" name="Connector 160"/>
          <p:cNvSpPr/>
          <p:nvPr/>
        </p:nvSpPr>
        <p:spPr>
          <a:xfrm>
            <a:off x="10049256" y="6720840"/>
            <a:ext cx="2450593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" name="Connector 161"/>
          <p:cNvSpPr/>
          <p:nvPr/>
        </p:nvSpPr>
        <p:spPr>
          <a:xfrm>
            <a:off x="10140695" y="6720840"/>
            <a:ext cx="3127249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" name="Connector 162"/>
          <p:cNvSpPr/>
          <p:nvPr/>
        </p:nvSpPr>
        <p:spPr>
          <a:xfrm flipH="1">
            <a:off x="7973568" y="6720840"/>
            <a:ext cx="2414017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" name="Connector 163"/>
          <p:cNvSpPr/>
          <p:nvPr/>
        </p:nvSpPr>
        <p:spPr>
          <a:xfrm flipH="1">
            <a:off x="8741664" y="6720840"/>
            <a:ext cx="1737361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7" name="Connector 164"/>
          <p:cNvSpPr/>
          <p:nvPr/>
        </p:nvSpPr>
        <p:spPr>
          <a:xfrm flipH="1">
            <a:off x="9509759" y="6720840"/>
            <a:ext cx="1060705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8" name="Connector 165"/>
          <p:cNvSpPr/>
          <p:nvPr/>
        </p:nvSpPr>
        <p:spPr>
          <a:xfrm flipH="1">
            <a:off x="10277856" y="6720840"/>
            <a:ext cx="384049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9" name="Connector 166"/>
          <p:cNvSpPr/>
          <p:nvPr/>
        </p:nvSpPr>
        <p:spPr>
          <a:xfrm>
            <a:off x="10753343" y="6720840"/>
            <a:ext cx="292609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0" name="Connector 167"/>
          <p:cNvSpPr/>
          <p:nvPr/>
        </p:nvSpPr>
        <p:spPr>
          <a:xfrm>
            <a:off x="10844783" y="6720840"/>
            <a:ext cx="969265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1" name="Connector 168"/>
          <p:cNvSpPr/>
          <p:nvPr/>
        </p:nvSpPr>
        <p:spPr>
          <a:xfrm>
            <a:off x="10936223" y="6720840"/>
            <a:ext cx="1645921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2" name="Connector 169"/>
          <p:cNvSpPr/>
          <p:nvPr/>
        </p:nvSpPr>
        <p:spPr>
          <a:xfrm>
            <a:off x="11027664" y="6720840"/>
            <a:ext cx="2322577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3" name="Connector 170"/>
          <p:cNvSpPr/>
          <p:nvPr/>
        </p:nvSpPr>
        <p:spPr>
          <a:xfrm flipH="1">
            <a:off x="8055864" y="6720840"/>
            <a:ext cx="3218689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4" name="Connector 171"/>
          <p:cNvSpPr/>
          <p:nvPr/>
        </p:nvSpPr>
        <p:spPr>
          <a:xfrm flipH="1">
            <a:off x="8823959" y="6720840"/>
            <a:ext cx="2542033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5" name="Connector 172"/>
          <p:cNvSpPr/>
          <p:nvPr/>
        </p:nvSpPr>
        <p:spPr>
          <a:xfrm flipH="1">
            <a:off x="9592056" y="6720840"/>
            <a:ext cx="1865377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6" name="Connector 173"/>
          <p:cNvSpPr/>
          <p:nvPr/>
        </p:nvSpPr>
        <p:spPr>
          <a:xfrm flipH="1">
            <a:off x="10360152" y="6720840"/>
            <a:ext cx="1188721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7" name="Connector 174"/>
          <p:cNvSpPr/>
          <p:nvPr/>
        </p:nvSpPr>
        <p:spPr>
          <a:xfrm flipH="1">
            <a:off x="11128247" y="6720840"/>
            <a:ext cx="512065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8" name="Connector 175"/>
          <p:cNvSpPr/>
          <p:nvPr/>
        </p:nvSpPr>
        <p:spPr>
          <a:xfrm>
            <a:off x="11731752" y="6720840"/>
            <a:ext cx="164593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9" name="Connector 176"/>
          <p:cNvSpPr/>
          <p:nvPr/>
        </p:nvSpPr>
        <p:spPr>
          <a:xfrm>
            <a:off x="11823192" y="6720840"/>
            <a:ext cx="841249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0" name="Connector 177"/>
          <p:cNvSpPr/>
          <p:nvPr/>
        </p:nvSpPr>
        <p:spPr>
          <a:xfrm>
            <a:off x="11914631" y="6720840"/>
            <a:ext cx="1517905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1" name="Connector 178"/>
          <p:cNvSpPr/>
          <p:nvPr/>
        </p:nvSpPr>
        <p:spPr>
          <a:xfrm flipH="1">
            <a:off x="8138160" y="6720840"/>
            <a:ext cx="4023360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2" name="Connector 179"/>
          <p:cNvSpPr/>
          <p:nvPr/>
        </p:nvSpPr>
        <p:spPr>
          <a:xfrm flipH="1">
            <a:off x="8906257" y="6720840"/>
            <a:ext cx="3346704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3" name="Connector 180"/>
          <p:cNvSpPr/>
          <p:nvPr/>
        </p:nvSpPr>
        <p:spPr>
          <a:xfrm flipH="1">
            <a:off x="9674352" y="6720840"/>
            <a:ext cx="2670049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4" name="Connector 181"/>
          <p:cNvSpPr/>
          <p:nvPr/>
        </p:nvSpPr>
        <p:spPr>
          <a:xfrm flipH="1">
            <a:off x="10442447" y="6720840"/>
            <a:ext cx="1993394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5" name="Connector 182"/>
          <p:cNvSpPr/>
          <p:nvPr/>
        </p:nvSpPr>
        <p:spPr>
          <a:xfrm flipH="1">
            <a:off x="11210543" y="6720840"/>
            <a:ext cx="1316737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6" name="Connector 183"/>
          <p:cNvSpPr/>
          <p:nvPr/>
        </p:nvSpPr>
        <p:spPr>
          <a:xfrm flipH="1">
            <a:off x="11978640" y="6720840"/>
            <a:ext cx="640081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7" name="Connector 184"/>
          <p:cNvSpPr/>
          <p:nvPr/>
        </p:nvSpPr>
        <p:spPr>
          <a:xfrm>
            <a:off x="12710159" y="6720840"/>
            <a:ext cx="36577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8" name="Connector 185"/>
          <p:cNvSpPr/>
          <p:nvPr/>
        </p:nvSpPr>
        <p:spPr>
          <a:xfrm>
            <a:off x="12801600" y="6720840"/>
            <a:ext cx="713233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9" name="Connector 186"/>
          <p:cNvSpPr/>
          <p:nvPr/>
        </p:nvSpPr>
        <p:spPr>
          <a:xfrm flipH="1">
            <a:off x="8220456" y="6720840"/>
            <a:ext cx="4828033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0" name="Connector 187"/>
          <p:cNvSpPr/>
          <p:nvPr/>
        </p:nvSpPr>
        <p:spPr>
          <a:xfrm flipH="1">
            <a:off x="8988552" y="6720840"/>
            <a:ext cx="4151377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1" name="Connector 188"/>
          <p:cNvSpPr/>
          <p:nvPr/>
        </p:nvSpPr>
        <p:spPr>
          <a:xfrm flipH="1">
            <a:off x="9756647" y="6720840"/>
            <a:ext cx="3474721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2" name="Connector 189"/>
          <p:cNvSpPr/>
          <p:nvPr/>
        </p:nvSpPr>
        <p:spPr>
          <a:xfrm flipH="1">
            <a:off x="10524743" y="6720840"/>
            <a:ext cx="2798065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3" name="Connector 190"/>
          <p:cNvSpPr/>
          <p:nvPr/>
        </p:nvSpPr>
        <p:spPr>
          <a:xfrm flipH="1">
            <a:off x="11292840" y="6720840"/>
            <a:ext cx="2121409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4" name="Connector 191"/>
          <p:cNvSpPr/>
          <p:nvPr/>
        </p:nvSpPr>
        <p:spPr>
          <a:xfrm flipH="1">
            <a:off x="12060935" y="6720840"/>
            <a:ext cx="1444753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5" name="Connector 192"/>
          <p:cNvSpPr/>
          <p:nvPr/>
        </p:nvSpPr>
        <p:spPr>
          <a:xfrm flipH="1">
            <a:off x="12829031" y="6720840"/>
            <a:ext cx="768097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6" name="Connector 193"/>
          <p:cNvSpPr/>
          <p:nvPr/>
        </p:nvSpPr>
        <p:spPr>
          <a:xfrm flipH="1">
            <a:off x="13597128" y="6720840"/>
            <a:ext cx="91441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7" name="Connector 194"/>
          <p:cNvSpPr/>
          <p:nvPr/>
        </p:nvSpPr>
        <p:spPr>
          <a:xfrm>
            <a:off x="15133319" y="6720840"/>
            <a:ext cx="1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8" name="Connector 195"/>
          <p:cNvSpPr/>
          <p:nvPr/>
        </p:nvSpPr>
        <p:spPr>
          <a:xfrm>
            <a:off x="15224759" y="6720840"/>
            <a:ext cx="676658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9" name="Connector 196"/>
          <p:cNvSpPr/>
          <p:nvPr/>
        </p:nvSpPr>
        <p:spPr>
          <a:xfrm>
            <a:off x="15316199" y="6720840"/>
            <a:ext cx="1353313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" name="Connector 197"/>
          <p:cNvSpPr/>
          <p:nvPr/>
        </p:nvSpPr>
        <p:spPr>
          <a:xfrm>
            <a:off x="15407639" y="6720840"/>
            <a:ext cx="2029969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" name="Connector 198"/>
          <p:cNvSpPr/>
          <p:nvPr/>
        </p:nvSpPr>
        <p:spPr>
          <a:xfrm>
            <a:off x="15499080" y="6720840"/>
            <a:ext cx="2706625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" name="Connector 199"/>
          <p:cNvSpPr/>
          <p:nvPr/>
        </p:nvSpPr>
        <p:spPr>
          <a:xfrm>
            <a:off x="15590519" y="6720840"/>
            <a:ext cx="3383281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3" name="Connector 200"/>
          <p:cNvSpPr/>
          <p:nvPr/>
        </p:nvSpPr>
        <p:spPr>
          <a:xfrm>
            <a:off x="15681959" y="6720840"/>
            <a:ext cx="4059938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4" name="Connector 201"/>
          <p:cNvSpPr/>
          <p:nvPr/>
        </p:nvSpPr>
        <p:spPr>
          <a:xfrm>
            <a:off x="15773400" y="6720840"/>
            <a:ext cx="4736593" cy="3611881"/>
          </a:xfrm>
          <a:prstGeom prst="line">
            <a:avLst/>
          </a:prstGeom>
          <a:ln w="11887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" name="Connector 202"/>
          <p:cNvSpPr/>
          <p:nvPr/>
        </p:nvSpPr>
        <p:spPr>
          <a:xfrm flipH="1">
            <a:off x="15215615" y="6720840"/>
            <a:ext cx="804673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" name="Connector 203"/>
          <p:cNvSpPr/>
          <p:nvPr/>
        </p:nvSpPr>
        <p:spPr>
          <a:xfrm flipH="1">
            <a:off x="15983712" y="6720840"/>
            <a:ext cx="128017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7" name="Connector 204"/>
          <p:cNvSpPr/>
          <p:nvPr/>
        </p:nvSpPr>
        <p:spPr>
          <a:xfrm>
            <a:off x="16203167" y="6720840"/>
            <a:ext cx="548642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8" name="Connector 205"/>
          <p:cNvSpPr/>
          <p:nvPr/>
        </p:nvSpPr>
        <p:spPr>
          <a:xfrm>
            <a:off x="16294608" y="6720840"/>
            <a:ext cx="1225297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9" name="Connector 206"/>
          <p:cNvSpPr/>
          <p:nvPr/>
        </p:nvSpPr>
        <p:spPr>
          <a:xfrm>
            <a:off x="16386047" y="6720840"/>
            <a:ext cx="1901952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0" name="Connector 207"/>
          <p:cNvSpPr/>
          <p:nvPr/>
        </p:nvSpPr>
        <p:spPr>
          <a:xfrm>
            <a:off x="16477487" y="6720840"/>
            <a:ext cx="2578609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1" name="Connector 208"/>
          <p:cNvSpPr/>
          <p:nvPr/>
        </p:nvSpPr>
        <p:spPr>
          <a:xfrm>
            <a:off x="16568928" y="6720840"/>
            <a:ext cx="3255265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2" name="Connector 209"/>
          <p:cNvSpPr/>
          <p:nvPr/>
        </p:nvSpPr>
        <p:spPr>
          <a:xfrm>
            <a:off x="16660367" y="6720840"/>
            <a:ext cx="3931921" cy="3611881"/>
          </a:xfrm>
          <a:prstGeom prst="line">
            <a:avLst/>
          </a:prstGeom>
          <a:ln w="11887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3" name="Connector 210"/>
          <p:cNvSpPr/>
          <p:nvPr/>
        </p:nvSpPr>
        <p:spPr>
          <a:xfrm flipH="1">
            <a:off x="15297912" y="6720840"/>
            <a:ext cx="1609345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4" name="Connector 211"/>
          <p:cNvSpPr/>
          <p:nvPr/>
        </p:nvSpPr>
        <p:spPr>
          <a:xfrm flipH="1">
            <a:off x="16066008" y="6720840"/>
            <a:ext cx="932689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5" name="Connector 212"/>
          <p:cNvSpPr/>
          <p:nvPr/>
        </p:nvSpPr>
        <p:spPr>
          <a:xfrm flipH="1">
            <a:off x="16834104" y="6720840"/>
            <a:ext cx="256033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6" name="Connector 213"/>
          <p:cNvSpPr/>
          <p:nvPr/>
        </p:nvSpPr>
        <p:spPr>
          <a:xfrm>
            <a:off x="17181576" y="6720840"/>
            <a:ext cx="420625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7" name="Connector 214"/>
          <p:cNvSpPr/>
          <p:nvPr/>
        </p:nvSpPr>
        <p:spPr>
          <a:xfrm>
            <a:off x="17273015" y="6720840"/>
            <a:ext cx="1097281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8" name="Connector 215"/>
          <p:cNvSpPr/>
          <p:nvPr/>
        </p:nvSpPr>
        <p:spPr>
          <a:xfrm>
            <a:off x="17364456" y="6720840"/>
            <a:ext cx="1773936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9" name="Connector 216"/>
          <p:cNvSpPr/>
          <p:nvPr/>
        </p:nvSpPr>
        <p:spPr>
          <a:xfrm>
            <a:off x="17455895" y="6720840"/>
            <a:ext cx="2450593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0" name="Connector 217"/>
          <p:cNvSpPr/>
          <p:nvPr/>
        </p:nvSpPr>
        <p:spPr>
          <a:xfrm>
            <a:off x="17547336" y="6720840"/>
            <a:ext cx="3127249" cy="3611881"/>
          </a:xfrm>
          <a:prstGeom prst="line">
            <a:avLst/>
          </a:prstGeom>
          <a:ln w="11887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1" name="Connector 218"/>
          <p:cNvSpPr/>
          <p:nvPr/>
        </p:nvSpPr>
        <p:spPr>
          <a:xfrm flipH="1">
            <a:off x="15380208" y="6720840"/>
            <a:ext cx="2414017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2" name="Connector 219"/>
          <p:cNvSpPr/>
          <p:nvPr/>
        </p:nvSpPr>
        <p:spPr>
          <a:xfrm flipH="1">
            <a:off x="16148304" y="6720840"/>
            <a:ext cx="1737361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3" name="Connector 220"/>
          <p:cNvSpPr/>
          <p:nvPr/>
        </p:nvSpPr>
        <p:spPr>
          <a:xfrm flipH="1">
            <a:off x="16916400" y="6720840"/>
            <a:ext cx="1060704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4" name="Connector 221"/>
          <p:cNvSpPr/>
          <p:nvPr/>
        </p:nvSpPr>
        <p:spPr>
          <a:xfrm flipH="1">
            <a:off x="17684495" y="6720840"/>
            <a:ext cx="384049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5" name="Connector 222"/>
          <p:cNvSpPr/>
          <p:nvPr/>
        </p:nvSpPr>
        <p:spPr>
          <a:xfrm>
            <a:off x="18159984" y="6720840"/>
            <a:ext cx="292609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6" name="Connector 223"/>
          <p:cNvSpPr/>
          <p:nvPr/>
        </p:nvSpPr>
        <p:spPr>
          <a:xfrm>
            <a:off x="18251423" y="6720840"/>
            <a:ext cx="969265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7" name="Connector 224"/>
          <p:cNvSpPr/>
          <p:nvPr/>
        </p:nvSpPr>
        <p:spPr>
          <a:xfrm>
            <a:off x="18342863" y="6720840"/>
            <a:ext cx="1645921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8" name="Connector 225"/>
          <p:cNvSpPr/>
          <p:nvPr/>
        </p:nvSpPr>
        <p:spPr>
          <a:xfrm>
            <a:off x="18434304" y="6720840"/>
            <a:ext cx="2322577" cy="3611881"/>
          </a:xfrm>
          <a:prstGeom prst="line">
            <a:avLst/>
          </a:prstGeom>
          <a:ln w="11887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9" name="Connector 226"/>
          <p:cNvSpPr/>
          <p:nvPr/>
        </p:nvSpPr>
        <p:spPr>
          <a:xfrm flipH="1">
            <a:off x="15462504" y="6720840"/>
            <a:ext cx="3218689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0" name="Connector 227"/>
          <p:cNvSpPr/>
          <p:nvPr/>
        </p:nvSpPr>
        <p:spPr>
          <a:xfrm flipH="1">
            <a:off x="16230600" y="6720840"/>
            <a:ext cx="2542033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1" name="Connector 228"/>
          <p:cNvSpPr/>
          <p:nvPr/>
        </p:nvSpPr>
        <p:spPr>
          <a:xfrm flipH="1">
            <a:off x="16998695" y="6720840"/>
            <a:ext cx="1865377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2" name="Connector 229"/>
          <p:cNvSpPr/>
          <p:nvPr/>
        </p:nvSpPr>
        <p:spPr>
          <a:xfrm flipH="1">
            <a:off x="17766791" y="6720840"/>
            <a:ext cx="1188721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3" name="Connector 230"/>
          <p:cNvSpPr/>
          <p:nvPr/>
        </p:nvSpPr>
        <p:spPr>
          <a:xfrm flipH="1">
            <a:off x="18534887" y="6720840"/>
            <a:ext cx="512065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4" name="Connector 231"/>
          <p:cNvSpPr/>
          <p:nvPr/>
        </p:nvSpPr>
        <p:spPr>
          <a:xfrm>
            <a:off x="19138391" y="6720840"/>
            <a:ext cx="164593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5" name="Connector 232"/>
          <p:cNvSpPr/>
          <p:nvPr/>
        </p:nvSpPr>
        <p:spPr>
          <a:xfrm>
            <a:off x="19229832" y="6720840"/>
            <a:ext cx="841249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6" name="Connector 233"/>
          <p:cNvSpPr/>
          <p:nvPr/>
        </p:nvSpPr>
        <p:spPr>
          <a:xfrm>
            <a:off x="19321271" y="6720840"/>
            <a:ext cx="1517905" cy="3611881"/>
          </a:xfrm>
          <a:prstGeom prst="line">
            <a:avLst/>
          </a:prstGeom>
          <a:ln w="11887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7" name="Connector 234"/>
          <p:cNvSpPr/>
          <p:nvPr/>
        </p:nvSpPr>
        <p:spPr>
          <a:xfrm flipH="1">
            <a:off x="15544800" y="6720840"/>
            <a:ext cx="4023360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8" name="Connector 235"/>
          <p:cNvSpPr/>
          <p:nvPr/>
        </p:nvSpPr>
        <p:spPr>
          <a:xfrm flipH="1">
            <a:off x="16312896" y="6720840"/>
            <a:ext cx="3346704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9" name="Connector 236"/>
          <p:cNvSpPr/>
          <p:nvPr/>
        </p:nvSpPr>
        <p:spPr>
          <a:xfrm flipH="1">
            <a:off x="17080991" y="6720840"/>
            <a:ext cx="2670049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0" name="Connector 237"/>
          <p:cNvSpPr/>
          <p:nvPr/>
        </p:nvSpPr>
        <p:spPr>
          <a:xfrm flipH="1">
            <a:off x="17849087" y="6720840"/>
            <a:ext cx="1993393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1" name="Connector 238"/>
          <p:cNvSpPr/>
          <p:nvPr/>
        </p:nvSpPr>
        <p:spPr>
          <a:xfrm flipH="1">
            <a:off x="18617184" y="6720840"/>
            <a:ext cx="1316737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2" name="Connector 239"/>
          <p:cNvSpPr/>
          <p:nvPr/>
        </p:nvSpPr>
        <p:spPr>
          <a:xfrm flipH="1">
            <a:off x="19385280" y="6720840"/>
            <a:ext cx="640081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3" name="Connector 240"/>
          <p:cNvSpPr/>
          <p:nvPr/>
        </p:nvSpPr>
        <p:spPr>
          <a:xfrm>
            <a:off x="20116799" y="6720840"/>
            <a:ext cx="36577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4" name="Connector 241"/>
          <p:cNvSpPr/>
          <p:nvPr/>
        </p:nvSpPr>
        <p:spPr>
          <a:xfrm>
            <a:off x="20208239" y="6720840"/>
            <a:ext cx="713233" cy="3611881"/>
          </a:xfrm>
          <a:prstGeom prst="line">
            <a:avLst/>
          </a:prstGeom>
          <a:ln w="11887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5" name="Connector 242"/>
          <p:cNvSpPr/>
          <p:nvPr/>
        </p:nvSpPr>
        <p:spPr>
          <a:xfrm flipH="1">
            <a:off x="15627095" y="6720840"/>
            <a:ext cx="4828033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6" name="Connector 243"/>
          <p:cNvSpPr/>
          <p:nvPr/>
        </p:nvSpPr>
        <p:spPr>
          <a:xfrm flipH="1">
            <a:off x="16395191" y="6720840"/>
            <a:ext cx="4151377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7" name="Connector 244"/>
          <p:cNvSpPr/>
          <p:nvPr/>
        </p:nvSpPr>
        <p:spPr>
          <a:xfrm flipH="1">
            <a:off x="17163287" y="6720840"/>
            <a:ext cx="3474721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8" name="Connector 245"/>
          <p:cNvSpPr/>
          <p:nvPr/>
        </p:nvSpPr>
        <p:spPr>
          <a:xfrm flipH="1">
            <a:off x="17931384" y="6720840"/>
            <a:ext cx="2798065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9" name="Connector 246"/>
          <p:cNvSpPr/>
          <p:nvPr/>
        </p:nvSpPr>
        <p:spPr>
          <a:xfrm flipH="1">
            <a:off x="18699480" y="6720840"/>
            <a:ext cx="2121409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0" name="Connector 247"/>
          <p:cNvSpPr/>
          <p:nvPr/>
        </p:nvSpPr>
        <p:spPr>
          <a:xfrm flipH="1">
            <a:off x="19467576" y="6720840"/>
            <a:ext cx="1444753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1" name="Connector 248"/>
          <p:cNvSpPr/>
          <p:nvPr/>
        </p:nvSpPr>
        <p:spPr>
          <a:xfrm flipH="1">
            <a:off x="20235671" y="6720840"/>
            <a:ext cx="768097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2" name="Connector 249"/>
          <p:cNvSpPr/>
          <p:nvPr/>
        </p:nvSpPr>
        <p:spPr>
          <a:xfrm flipH="1">
            <a:off x="21003767" y="6720840"/>
            <a:ext cx="91441" cy="3611881"/>
          </a:xfrm>
          <a:prstGeom prst="line">
            <a:avLst/>
          </a:prstGeom>
          <a:ln w="11887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3" name="Rectangle 250"/>
          <p:cNvSpPr/>
          <p:nvPr/>
        </p:nvSpPr>
        <p:spPr>
          <a:xfrm>
            <a:off x="731519" y="1993392"/>
            <a:ext cx="768097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4" name="TextBox 251"/>
          <p:cNvSpPr txBox="1"/>
          <p:nvPr/>
        </p:nvSpPr>
        <p:spPr>
          <a:xfrm>
            <a:off x="1029827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345" name="TextBox 252"/>
          <p:cNvSpPr txBox="1"/>
          <p:nvPr/>
        </p:nvSpPr>
        <p:spPr>
          <a:xfrm>
            <a:off x="867781" y="2224277"/>
            <a:ext cx="49557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L2-P0-S0</a:t>
            </a:r>
          </a:p>
        </p:txBody>
      </p:sp>
      <p:sp>
        <p:nvSpPr>
          <p:cNvPr id="346" name="Rectangle 253"/>
          <p:cNvSpPr/>
          <p:nvPr/>
        </p:nvSpPr>
        <p:spPr>
          <a:xfrm>
            <a:off x="1655064" y="1993392"/>
            <a:ext cx="768097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TextBox 254"/>
          <p:cNvSpPr txBox="1"/>
          <p:nvPr/>
        </p:nvSpPr>
        <p:spPr>
          <a:xfrm>
            <a:off x="1953371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348" name="TextBox 255"/>
          <p:cNvSpPr txBox="1"/>
          <p:nvPr/>
        </p:nvSpPr>
        <p:spPr>
          <a:xfrm>
            <a:off x="1791325" y="2224277"/>
            <a:ext cx="49557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L2-P0-S1</a:t>
            </a:r>
          </a:p>
        </p:txBody>
      </p:sp>
      <p:sp>
        <p:nvSpPr>
          <p:cNvPr id="349" name="Rectangle 256"/>
          <p:cNvSpPr/>
          <p:nvPr/>
        </p:nvSpPr>
        <p:spPr>
          <a:xfrm>
            <a:off x="2578607" y="1993392"/>
            <a:ext cx="768097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" name="TextBox 257"/>
          <p:cNvSpPr txBox="1"/>
          <p:nvPr/>
        </p:nvSpPr>
        <p:spPr>
          <a:xfrm>
            <a:off x="2876915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351" name="TextBox 258"/>
          <p:cNvSpPr txBox="1"/>
          <p:nvPr/>
        </p:nvSpPr>
        <p:spPr>
          <a:xfrm>
            <a:off x="2683085" y="2224277"/>
            <a:ext cx="5591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L2-P0-S15</a:t>
            </a:r>
          </a:p>
        </p:txBody>
      </p:sp>
      <p:sp>
        <p:nvSpPr>
          <p:cNvPr id="352" name="TextBox 259"/>
          <p:cNvSpPr txBox="1"/>
          <p:nvPr/>
        </p:nvSpPr>
        <p:spPr>
          <a:xfrm>
            <a:off x="1239316" y="1792223"/>
            <a:ext cx="163616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555555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S2-S14 omitted; same wiring</a:t>
            </a:r>
          </a:p>
        </p:txBody>
      </p:sp>
      <p:sp>
        <p:nvSpPr>
          <p:cNvPr id="353" name="Rectangle 260"/>
          <p:cNvSpPr/>
          <p:nvPr/>
        </p:nvSpPr>
        <p:spPr>
          <a:xfrm>
            <a:off x="3749038" y="1993392"/>
            <a:ext cx="768097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TextBox 261"/>
          <p:cNvSpPr txBox="1"/>
          <p:nvPr/>
        </p:nvSpPr>
        <p:spPr>
          <a:xfrm>
            <a:off x="4047347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355" name="TextBox 262"/>
          <p:cNvSpPr txBox="1"/>
          <p:nvPr/>
        </p:nvSpPr>
        <p:spPr>
          <a:xfrm>
            <a:off x="3885301" y="2224277"/>
            <a:ext cx="49557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L2-P1-S0</a:t>
            </a:r>
          </a:p>
        </p:txBody>
      </p:sp>
      <p:sp>
        <p:nvSpPr>
          <p:cNvPr id="356" name="Rectangle 263"/>
          <p:cNvSpPr/>
          <p:nvPr/>
        </p:nvSpPr>
        <p:spPr>
          <a:xfrm>
            <a:off x="4672584" y="1993392"/>
            <a:ext cx="768097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TextBox 264"/>
          <p:cNvSpPr txBox="1"/>
          <p:nvPr/>
        </p:nvSpPr>
        <p:spPr>
          <a:xfrm>
            <a:off x="4970891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358" name="TextBox 265"/>
          <p:cNvSpPr txBox="1"/>
          <p:nvPr/>
        </p:nvSpPr>
        <p:spPr>
          <a:xfrm>
            <a:off x="4808845" y="2224277"/>
            <a:ext cx="49557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L2-P1-S1</a:t>
            </a:r>
          </a:p>
        </p:txBody>
      </p:sp>
      <p:sp>
        <p:nvSpPr>
          <p:cNvPr id="359" name="Rectangle 266"/>
          <p:cNvSpPr/>
          <p:nvPr/>
        </p:nvSpPr>
        <p:spPr>
          <a:xfrm>
            <a:off x="5596128" y="1993392"/>
            <a:ext cx="768097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TextBox 267"/>
          <p:cNvSpPr txBox="1"/>
          <p:nvPr/>
        </p:nvSpPr>
        <p:spPr>
          <a:xfrm>
            <a:off x="5894435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361" name="TextBox 268"/>
          <p:cNvSpPr txBox="1"/>
          <p:nvPr/>
        </p:nvSpPr>
        <p:spPr>
          <a:xfrm>
            <a:off x="5700605" y="2224277"/>
            <a:ext cx="5591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L2-P1-S15</a:t>
            </a:r>
          </a:p>
        </p:txBody>
      </p:sp>
      <p:sp>
        <p:nvSpPr>
          <p:cNvPr id="362" name="TextBox 269"/>
          <p:cNvSpPr txBox="1"/>
          <p:nvPr/>
        </p:nvSpPr>
        <p:spPr>
          <a:xfrm>
            <a:off x="4256836" y="1792223"/>
            <a:ext cx="163616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555555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S2-S14 omitted; same wiring</a:t>
            </a:r>
          </a:p>
        </p:txBody>
      </p:sp>
      <p:sp>
        <p:nvSpPr>
          <p:cNvPr id="363" name="Rectangle 270"/>
          <p:cNvSpPr/>
          <p:nvPr/>
        </p:nvSpPr>
        <p:spPr>
          <a:xfrm>
            <a:off x="6766559" y="1993392"/>
            <a:ext cx="768097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" name="TextBox 271"/>
          <p:cNvSpPr txBox="1"/>
          <p:nvPr/>
        </p:nvSpPr>
        <p:spPr>
          <a:xfrm>
            <a:off x="7064867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365" name="TextBox 272"/>
          <p:cNvSpPr txBox="1"/>
          <p:nvPr/>
        </p:nvSpPr>
        <p:spPr>
          <a:xfrm>
            <a:off x="6902821" y="2224277"/>
            <a:ext cx="49557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L2-P2-S0</a:t>
            </a:r>
          </a:p>
        </p:txBody>
      </p:sp>
      <p:sp>
        <p:nvSpPr>
          <p:cNvPr id="366" name="Rectangle 273"/>
          <p:cNvSpPr/>
          <p:nvPr/>
        </p:nvSpPr>
        <p:spPr>
          <a:xfrm>
            <a:off x="7690104" y="1993392"/>
            <a:ext cx="768097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TextBox 274"/>
          <p:cNvSpPr txBox="1"/>
          <p:nvPr/>
        </p:nvSpPr>
        <p:spPr>
          <a:xfrm>
            <a:off x="7988411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368" name="TextBox 275"/>
          <p:cNvSpPr txBox="1"/>
          <p:nvPr/>
        </p:nvSpPr>
        <p:spPr>
          <a:xfrm>
            <a:off x="7826365" y="2224277"/>
            <a:ext cx="49557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L2-P2-S1</a:t>
            </a:r>
          </a:p>
        </p:txBody>
      </p:sp>
      <p:sp>
        <p:nvSpPr>
          <p:cNvPr id="369" name="Rectangle 276"/>
          <p:cNvSpPr/>
          <p:nvPr/>
        </p:nvSpPr>
        <p:spPr>
          <a:xfrm>
            <a:off x="8613647" y="1993392"/>
            <a:ext cx="768097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TextBox 277"/>
          <p:cNvSpPr txBox="1"/>
          <p:nvPr/>
        </p:nvSpPr>
        <p:spPr>
          <a:xfrm>
            <a:off x="8911955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371" name="TextBox 278"/>
          <p:cNvSpPr txBox="1"/>
          <p:nvPr/>
        </p:nvSpPr>
        <p:spPr>
          <a:xfrm>
            <a:off x="8718125" y="2224277"/>
            <a:ext cx="5591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L2-P2-S15</a:t>
            </a:r>
          </a:p>
        </p:txBody>
      </p:sp>
      <p:sp>
        <p:nvSpPr>
          <p:cNvPr id="372" name="TextBox 279"/>
          <p:cNvSpPr txBox="1"/>
          <p:nvPr/>
        </p:nvSpPr>
        <p:spPr>
          <a:xfrm>
            <a:off x="7274356" y="1792223"/>
            <a:ext cx="163616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555555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S2-S14 omitted; same wiring</a:t>
            </a:r>
          </a:p>
        </p:txBody>
      </p:sp>
      <p:sp>
        <p:nvSpPr>
          <p:cNvPr id="373" name="Rectangle 280"/>
          <p:cNvSpPr/>
          <p:nvPr/>
        </p:nvSpPr>
        <p:spPr>
          <a:xfrm>
            <a:off x="9784080" y="1993392"/>
            <a:ext cx="768097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TextBox 281"/>
          <p:cNvSpPr txBox="1"/>
          <p:nvPr/>
        </p:nvSpPr>
        <p:spPr>
          <a:xfrm>
            <a:off x="10082387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375" name="TextBox 282"/>
          <p:cNvSpPr txBox="1"/>
          <p:nvPr/>
        </p:nvSpPr>
        <p:spPr>
          <a:xfrm>
            <a:off x="9920341" y="2224277"/>
            <a:ext cx="49557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L2-P3-S0</a:t>
            </a:r>
          </a:p>
        </p:txBody>
      </p:sp>
      <p:sp>
        <p:nvSpPr>
          <p:cNvPr id="376" name="Rectangle 283"/>
          <p:cNvSpPr/>
          <p:nvPr/>
        </p:nvSpPr>
        <p:spPr>
          <a:xfrm>
            <a:off x="10707623" y="1993392"/>
            <a:ext cx="768097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7" name="TextBox 284"/>
          <p:cNvSpPr txBox="1"/>
          <p:nvPr/>
        </p:nvSpPr>
        <p:spPr>
          <a:xfrm>
            <a:off x="11005930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378" name="TextBox 285"/>
          <p:cNvSpPr txBox="1"/>
          <p:nvPr/>
        </p:nvSpPr>
        <p:spPr>
          <a:xfrm>
            <a:off x="10843884" y="2224277"/>
            <a:ext cx="49557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L2-P3-S1</a:t>
            </a:r>
          </a:p>
        </p:txBody>
      </p:sp>
      <p:sp>
        <p:nvSpPr>
          <p:cNvPr id="379" name="Rectangle 286"/>
          <p:cNvSpPr/>
          <p:nvPr/>
        </p:nvSpPr>
        <p:spPr>
          <a:xfrm>
            <a:off x="11631168" y="1993392"/>
            <a:ext cx="768097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0" name="TextBox 287"/>
          <p:cNvSpPr txBox="1"/>
          <p:nvPr/>
        </p:nvSpPr>
        <p:spPr>
          <a:xfrm>
            <a:off x="11929475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381" name="TextBox 288"/>
          <p:cNvSpPr txBox="1"/>
          <p:nvPr/>
        </p:nvSpPr>
        <p:spPr>
          <a:xfrm>
            <a:off x="11735645" y="2224277"/>
            <a:ext cx="5591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L2-P3-S15</a:t>
            </a:r>
          </a:p>
        </p:txBody>
      </p:sp>
      <p:sp>
        <p:nvSpPr>
          <p:cNvPr id="382" name="TextBox 289"/>
          <p:cNvSpPr txBox="1"/>
          <p:nvPr/>
        </p:nvSpPr>
        <p:spPr>
          <a:xfrm>
            <a:off x="10291876" y="1792223"/>
            <a:ext cx="163616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555555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S2-S14 omitted; same wiring</a:t>
            </a:r>
          </a:p>
        </p:txBody>
      </p:sp>
      <p:sp>
        <p:nvSpPr>
          <p:cNvPr id="383" name="Rectangle 290"/>
          <p:cNvSpPr/>
          <p:nvPr/>
        </p:nvSpPr>
        <p:spPr>
          <a:xfrm>
            <a:off x="12801600" y="1993392"/>
            <a:ext cx="768096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4" name="TextBox 291"/>
          <p:cNvSpPr txBox="1"/>
          <p:nvPr/>
        </p:nvSpPr>
        <p:spPr>
          <a:xfrm>
            <a:off x="13099907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385" name="TextBox 292"/>
          <p:cNvSpPr txBox="1"/>
          <p:nvPr/>
        </p:nvSpPr>
        <p:spPr>
          <a:xfrm>
            <a:off x="12937861" y="2224277"/>
            <a:ext cx="49557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L2-P4-S0</a:t>
            </a:r>
          </a:p>
        </p:txBody>
      </p:sp>
      <p:sp>
        <p:nvSpPr>
          <p:cNvPr id="386" name="Rectangle 293"/>
          <p:cNvSpPr/>
          <p:nvPr/>
        </p:nvSpPr>
        <p:spPr>
          <a:xfrm>
            <a:off x="13725143" y="1993392"/>
            <a:ext cx="768097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7" name="TextBox 294"/>
          <p:cNvSpPr txBox="1"/>
          <p:nvPr/>
        </p:nvSpPr>
        <p:spPr>
          <a:xfrm>
            <a:off x="14023450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388" name="TextBox 295"/>
          <p:cNvSpPr txBox="1"/>
          <p:nvPr/>
        </p:nvSpPr>
        <p:spPr>
          <a:xfrm>
            <a:off x="13861404" y="2224277"/>
            <a:ext cx="49557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L2-P4-S1</a:t>
            </a:r>
          </a:p>
        </p:txBody>
      </p:sp>
      <p:sp>
        <p:nvSpPr>
          <p:cNvPr id="389" name="Rectangle 296"/>
          <p:cNvSpPr/>
          <p:nvPr/>
        </p:nvSpPr>
        <p:spPr>
          <a:xfrm>
            <a:off x="14648687" y="1993392"/>
            <a:ext cx="768097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0" name="TextBox 297"/>
          <p:cNvSpPr txBox="1"/>
          <p:nvPr/>
        </p:nvSpPr>
        <p:spPr>
          <a:xfrm>
            <a:off x="14946995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391" name="TextBox 298"/>
          <p:cNvSpPr txBox="1"/>
          <p:nvPr/>
        </p:nvSpPr>
        <p:spPr>
          <a:xfrm>
            <a:off x="14753165" y="2224277"/>
            <a:ext cx="5591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L2-P4-S15</a:t>
            </a:r>
          </a:p>
        </p:txBody>
      </p:sp>
      <p:sp>
        <p:nvSpPr>
          <p:cNvPr id="392" name="TextBox 299"/>
          <p:cNvSpPr txBox="1"/>
          <p:nvPr/>
        </p:nvSpPr>
        <p:spPr>
          <a:xfrm>
            <a:off x="13309396" y="1792223"/>
            <a:ext cx="163616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555555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S2-S14 omitted; same wiring</a:t>
            </a:r>
          </a:p>
        </p:txBody>
      </p:sp>
      <p:sp>
        <p:nvSpPr>
          <p:cNvPr id="393" name="Rectangle 300"/>
          <p:cNvSpPr/>
          <p:nvPr/>
        </p:nvSpPr>
        <p:spPr>
          <a:xfrm>
            <a:off x="15819119" y="1993392"/>
            <a:ext cx="768097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4" name="TextBox 301"/>
          <p:cNvSpPr txBox="1"/>
          <p:nvPr/>
        </p:nvSpPr>
        <p:spPr>
          <a:xfrm>
            <a:off x="16117427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395" name="TextBox 302"/>
          <p:cNvSpPr txBox="1"/>
          <p:nvPr/>
        </p:nvSpPr>
        <p:spPr>
          <a:xfrm>
            <a:off x="15955381" y="2224277"/>
            <a:ext cx="49557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L2-P5-S0</a:t>
            </a:r>
          </a:p>
        </p:txBody>
      </p:sp>
      <p:sp>
        <p:nvSpPr>
          <p:cNvPr id="396" name="Rectangle 303"/>
          <p:cNvSpPr/>
          <p:nvPr/>
        </p:nvSpPr>
        <p:spPr>
          <a:xfrm>
            <a:off x="16742663" y="1993392"/>
            <a:ext cx="768097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7" name="TextBox 304"/>
          <p:cNvSpPr txBox="1"/>
          <p:nvPr/>
        </p:nvSpPr>
        <p:spPr>
          <a:xfrm>
            <a:off x="17040971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398" name="TextBox 305"/>
          <p:cNvSpPr txBox="1"/>
          <p:nvPr/>
        </p:nvSpPr>
        <p:spPr>
          <a:xfrm>
            <a:off x="16878925" y="2224277"/>
            <a:ext cx="49557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L2-P5-S1</a:t>
            </a:r>
          </a:p>
        </p:txBody>
      </p:sp>
      <p:sp>
        <p:nvSpPr>
          <p:cNvPr id="399" name="Rectangle 306"/>
          <p:cNvSpPr/>
          <p:nvPr/>
        </p:nvSpPr>
        <p:spPr>
          <a:xfrm>
            <a:off x="17666208" y="1993392"/>
            <a:ext cx="768097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0" name="TextBox 307"/>
          <p:cNvSpPr txBox="1"/>
          <p:nvPr/>
        </p:nvSpPr>
        <p:spPr>
          <a:xfrm>
            <a:off x="17964515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401" name="TextBox 308"/>
          <p:cNvSpPr txBox="1"/>
          <p:nvPr/>
        </p:nvSpPr>
        <p:spPr>
          <a:xfrm>
            <a:off x="17770685" y="2224277"/>
            <a:ext cx="5591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L2-P5-S15</a:t>
            </a:r>
          </a:p>
        </p:txBody>
      </p:sp>
      <p:sp>
        <p:nvSpPr>
          <p:cNvPr id="402" name="TextBox 309"/>
          <p:cNvSpPr txBox="1"/>
          <p:nvPr/>
        </p:nvSpPr>
        <p:spPr>
          <a:xfrm>
            <a:off x="16326916" y="1792223"/>
            <a:ext cx="163616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555555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S2-S14 omitted; same wiring</a:t>
            </a:r>
          </a:p>
        </p:txBody>
      </p:sp>
      <p:sp>
        <p:nvSpPr>
          <p:cNvPr id="403" name="Rectangle 310"/>
          <p:cNvSpPr/>
          <p:nvPr/>
        </p:nvSpPr>
        <p:spPr>
          <a:xfrm>
            <a:off x="18836639" y="1993392"/>
            <a:ext cx="768097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4" name="TextBox 311"/>
          <p:cNvSpPr txBox="1"/>
          <p:nvPr/>
        </p:nvSpPr>
        <p:spPr>
          <a:xfrm>
            <a:off x="19134947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405" name="TextBox 312"/>
          <p:cNvSpPr txBox="1"/>
          <p:nvPr/>
        </p:nvSpPr>
        <p:spPr>
          <a:xfrm>
            <a:off x="18972901" y="2224277"/>
            <a:ext cx="49557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L2-P6-S0</a:t>
            </a:r>
          </a:p>
        </p:txBody>
      </p:sp>
      <p:sp>
        <p:nvSpPr>
          <p:cNvPr id="406" name="Rectangle 313"/>
          <p:cNvSpPr/>
          <p:nvPr/>
        </p:nvSpPr>
        <p:spPr>
          <a:xfrm>
            <a:off x="19760184" y="1993392"/>
            <a:ext cx="768097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7" name="TextBox 314"/>
          <p:cNvSpPr txBox="1"/>
          <p:nvPr/>
        </p:nvSpPr>
        <p:spPr>
          <a:xfrm>
            <a:off x="20058491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408" name="TextBox 315"/>
          <p:cNvSpPr txBox="1"/>
          <p:nvPr/>
        </p:nvSpPr>
        <p:spPr>
          <a:xfrm>
            <a:off x="19896445" y="2224277"/>
            <a:ext cx="49557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L2-P6-S1</a:t>
            </a:r>
          </a:p>
        </p:txBody>
      </p:sp>
      <p:sp>
        <p:nvSpPr>
          <p:cNvPr id="409" name="Rectangle 316"/>
          <p:cNvSpPr/>
          <p:nvPr/>
        </p:nvSpPr>
        <p:spPr>
          <a:xfrm>
            <a:off x="20683728" y="1993392"/>
            <a:ext cx="768097" cy="585217"/>
          </a:xfrm>
          <a:prstGeom prst="rect">
            <a:avLst/>
          </a:prstGeom>
          <a:solidFill>
            <a:srgbClr val="B5DC86"/>
          </a:solidFill>
          <a:ln w="9144">
            <a:solidFill>
              <a:srgbClr val="66666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0" name="TextBox 317"/>
          <p:cNvSpPr txBox="1"/>
          <p:nvPr/>
        </p:nvSpPr>
        <p:spPr>
          <a:xfrm>
            <a:off x="20982035" y="2075688"/>
            <a:ext cx="171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</a:t>
            </a:r>
          </a:p>
        </p:txBody>
      </p:sp>
      <p:sp>
        <p:nvSpPr>
          <p:cNvPr id="411" name="TextBox 318"/>
          <p:cNvSpPr txBox="1"/>
          <p:nvPr/>
        </p:nvSpPr>
        <p:spPr>
          <a:xfrm>
            <a:off x="20788205" y="2224277"/>
            <a:ext cx="5591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L2-P6-S15</a:t>
            </a:r>
          </a:p>
        </p:txBody>
      </p:sp>
      <p:sp>
        <p:nvSpPr>
          <p:cNvPr id="412" name="TextBox 319"/>
          <p:cNvSpPr txBox="1"/>
          <p:nvPr/>
        </p:nvSpPr>
        <p:spPr>
          <a:xfrm>
            <a:off x="19344436" y="1792223"/>
            <a:ext cx="163616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555555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S2-S14 omitted; same wiring</a:t>
            </a:r>
          </a:p>
        </p:txBody>
      </p:sp>
      <p:sp>
        <p:nvSpPr>
          <p:cNvPr id="413" name="Rectangle 320"/>
          <p:cNvSpPr/>
          <p:nvPr/>
        </p:nvSpPr>
        <p:spPr>
          <a:xfrm>
            <a:off x="749808" y="5897879"/>
            <a:ext cx="76809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4" name="TextBox 321"/>
          <p:cNvSpPr txBox="1"/>
          <p:nvPr/>
        </p:nvSpPr>
        <p:spPr>
          <a:xfrm>
            <a:off x="834625" y="6080759"/>
            <a:ext cx="59846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415" name="TextBox 322"/>
          <p:cNvSpPr txBox="1"/>
          <p:nvPr/>
        </p:nvSpPr>
        <p:spPr>
          <a:xfrm>
            <a:off x="855740" y="6240779"/>
            <a:ext cx="55623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L1-N0-S0</a:t>
            </a:r>
          </a:p>
        </p:txBody>
      </p:sp>
      <p:sp>
        <p:nvSpPr>
          <p:cNvPr id="416" name="Rectangle 323"/>
          <p:cNvSpPr/>
          <p:nvPr/>
        </p:nvSpPr>
        <p:spPr>
          <a:xfrm>
            <a:off x="1636776" y="5897879"/>
            <a:ext cx="76809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7" name="TextBox 324"/>
          <p:cNvSpPr txBox="1"/>
          <p:nvPr/>
        </p:nvSpPr>
        <p:spPr>
          <a:xfrm>
            <a:off x="1721593" y="6080759"/>
            <a:ext cx="5984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418" name="TextBox 325"/>
          <p:cNvSpPr txBox="1"/>
          <p:nvPr/>
        </p:nvSpPr>
        <p:spPr>
          <a:xfrm>
            <a:off x="1742708" y="6240779"/>
            <a:ext cx="55623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L1-N0-S1</a:t>
            </a:r>
          </a:p>
        </p:txBody>
      </p:sp>
      <p:sp>
        <p:nvSpPr>
          <p:cNvPr id="419" name="Rectangle 326"/>
          <p:cNvSpPr/>
          <p:nvPr/>
        </p:nvSpPr>
        <p:spPr>
          <a:xfrm>
            <a:off x="2523744" y="5897879"/>
            <a:ext cx="76809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0" name="TextBox 327"/>
          <p:cNvSpPr txBox="1"/>
          <p:nvPr/>
        </p:nvSpPr>
        <p:spPr>
          <a:xfrm>
            <a:off x="2608560" y="6080759"/>
            <a:ext cx="5984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421" name="TextBox 328"/>
          <p:cNvSpPr txBox="1"/>
          <p:nvPr/>
        </p:nvSpPr>
        <p:spPr>
          <a:xfrm>
            <a:off x="2629675" y="6240779"/>
            <a:ext cx="55623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L1-N0-S2</a:t>
            </a:r>
          </a:p>
        </p:txBody>
      </p:sp>
      <p:sp>
        <p:nvSpPr>
          <p:cNvPr id="422" name="Rectangle 329"/>
          <p:cNvSpPr/>
          <p:nvPr/>
        </p:nvSpPr>
        <p:spPr>
          <a:xfrm>
            <a:off x="3410711" y="5897879"/>
            <a:ext cx="76809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3" name="TextBox 330"/>
          <p:cNvSpPr txBox="1"/>
          <p:nvPr/>
        </p:nvSpPr>
        <p:spPr>
          <a:xfrm>
            <a:off x="3495528" y="6080759"/>
            <a:ext cx="5984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424" name="TextBox 331"/>
          <p:cNvSpPr txBox="1"/>
          <p:nvPr/>
        </p:nvSpPr>
        <p:spPr>
          <a:xfrm>
            <a:off x="3516643" y="6240779"/>
            <a:ext cx="55623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L1-N0-S3</a:t>
            </a:r>
          </a:p>
        </p:txBody>
      </p:sp>
      <p:sp>
        <p:nvSpPr>
          <p:cNvPr id="425" name="Rectangle 332"/>
          <p:cNvSpPr/>
          <p:nvPr/>
        </p:nvSpPr>
        <p:spPr>
          <a:xfrm>
            <a:off x="4297679" y="5897879"/>
            <a:ext cx="76809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A77D2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6" name="TextBox 333"/>
          <p:cNvSpPr txBox="1"/>
          <p:nvPr/>
        </p:nvSpPr>
        <p:spPr>
          <a:xfrm>
            <a:off x="4382496" y="6080759"/>
            <a:ext cx="5984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427" name="TextBox 334"/>
          <p:cNvSpPr txBox="1"/>
          <p:nvPr/>
        </p:nvSpPr>
        <p:spPr>
          <a:xfrm>
            <a:off x="4403611" y="6240779"/>
            <a:ext cx="55623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L1-N0-S4</a:t>
            </a:r>
          </a:p>
        </p:txBody>
      </p:sp>
      <p:sp>
        <p:nvSpPr>
          <p:cNvPr id="428" name="Rectangle 335"/>
          <p:cNvSpPr/>
          <p:nvPr/>
        </p:nvSpPr>
        <p:spPr>
          <a:xfrm>
            <a:off x="5184647" y="5897879"/>
            <a:ext cx="76809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329CA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9" name="TextBox 336"/>
          <p:cNvSpPr txBox="1"/>
          <p:nvPr/>
        </p:nvSpPr>
        <p:spPr>
          <a:xfrm>
            <a:off x="5269464" y="6080759"/>
            <a:ext cx="5984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430" name="TextBox 337"/>
          <p:cNvSpPr txBox="1"/>
          <p:nvPr/>
        </p:nvSpPr>
        <p:spPr>
          <a:xfrm>
            <a:off x="5290579" y="6240779"/>
            <a:ext cx="55623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L1-N0-S5</a:t>
            </a:r>
          </a:p>
        </p:txBody>
      </p:sp>
      <p:sp>
        <p:nvSpPr>
          <p:cNvPr id="431" name="Rectangle 338"/>
          <p:cNvSpPr/>
          <p:nvPr/>
        </p:nvSpPr>
        <p:spPr>
          <a:xfrm>
            <a:off x="6071615" y="5897879"/>
            <a:ext cx="76809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CF4B4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2" name="TextBox 339"/>
          <p:cNvSpPr txBox="1"/>
          <p:nvPr/>
        </p:nvSpPr>
        <p:spPr>
          <a:xfrm>
            <a:off x="6156432" y="6080759"/>
            <a:ext cx="5984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433" name="TextBox 340"/>
          <p:cNvSpPr txBox="1"/>
          <p:nvPr/>
        </p:nvSpPr>
        <p:spPr>
          <a:xfrm>
            <a:off x="6177547" y="6240779"/>
            <a:ext cx="55623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L1-N0-S6</a:t>
            </a:r>
          </a:p>
        </p:txBody>
      </p:sp>
      <p:sp>
        <p:nvSpPr>
          <p:cNvPr id="434" name="Rectangle 341"/>
          <p:cNvSpPr/>
          <p:nvPr/>
        </p:nvSpPr>
        <p:spPr>
          <a:xfrm>
            <a:off x="749807" y="10332719"/>
            <a:ext cx="676658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5" name="TextBox 342"/>
          <p:cNvSpPr txBox="1"/>
          <p:nvPr/>
        </p:nvSpPr>
        <p:spPr>
          <a:xfrm>
            <a:off x="857353" y="10424159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0</a:t>
            </a:r>
          </a:p>
        </p:txBody>
      </p:sp>
      <p:sp>
        <p:nvSpPr>
          <p:cNvPr id="436" name="TextBox 343"/>
          <p:cNvSpPr txBox="1"/>
          <p:nvPr/>
        </p:nvSpPr>
        <p:spPr>
          <a:xfrm>
            <a:off x="984377" y="10618469"/>
            <a:ext cx="20751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R0</a:t>
            </a:r>
          </a:p>
        </p:txBody>
      </p:sp>
      <p:sp>
        <p:nvSpPr>
          <p:cNvPr id="437" name="Rectangle 344"/>
          <p:cNvSpPr/>
          <p:nvPr/>
        </p:nvSpPr>
        <p:spPr>
          <a:xfrm>
            <a:off x="1517903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8" name="TextBox 345"/>
          <p:cNvSpPr txBox="1"/>
          <p:nvPr/>
        </p:nvSpPr>
        <p:spPr>
          <a:xfrm>
            <a:off x="1625448" y="10424159"/>
            <a:ext cx="4615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1</a:t>
            </a:r>
          </a:p>
        </p:txBody>
      </p:sp>
      <p:sp>
        <p:nvSpPr>
          <p:cNvPr id="439" name="TextBox 346"/>
          <p:cNvSpPr txBox="1"/>
          <p:nvPr/>
        </p:nvSpPr>
        <p:spPr>
          <a:xfrm>
            <a:off x="1752473" y="10618469"/>
            <a:ext cx="20751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</a:t>
            </a:r>
          </a:p>
        </p:txBody>
      </p:sp>
      <p:sp>
        <p:nvSpPr>
          <p:cNvPr id="440" name="Rectangle 347"/>
          <p:cNvSpPr/>
          <p:nvPr/>
        </p:nvSpPr>
        <p:spPr>
          <a:xfrm>
            <a:off x="2285999" y="10332719"/>
            <a:ext cx="676658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1" name="TextBox 348"/>
          <p:cNvSpPr txBox="1"/>
          <p:nvPr/>
        </p:nvSpPr>
        <p:spPr>
          <a:xfrm>
            <a:off x="2393545" y="10424159"/>
            <a:ext cx="4615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2</a:t>
            </a:r>
          </a:p>
        </p:txBody>
      </p:sp>
      <p:sp>
        <p:nvSpPr>
          <p:cNvPr id="442" name="TextBox 349"/>
          <p:cNvSpPr txBox="1"/>
          <p:nvPr/>
        </p:nvSpPr>
        <p:spPr>
          <a:xfrm>
            <a:off x="2520570" y="10618469"/>
            <a:ext cx="20751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R2</a:t>
            </a:r>
          </a:p>
        </p:txBody>
      </p:sp>
      <p:sp>
        <p:nvSpPr>
          <p:cNvPr id="443" name="Rectangle 350"/>
          <p:cNvSpPr/>
          <p:nvPr/>
        </p:nvSpPr>
        <p:spPr>
          <a:xfrm>
            <a:off x="3054095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4" name="TextBox 351"/>
          <p:cNvSpPr txBox="1"/>
          <p:nvPr/>
        </p:nvSpPr>
        <p:spPr>
          <a:xfrm>
            <a:off x="3161641" y="10424159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3</a:t>
            </a:r>
          </a:p>
        </p:txBody>
      </p:sp>
      <p:sp>
        <p:nvSpPr>
          <p:cNvPr id="445" name="TextBox 352"/>
          <p:cNvSpPr txBox="1"/>
          <p:nvPr/>
        </p:nvSpPr>
        <p:spPr>
          <a:xfrm>
            <a:off x="3288665" y="10618469"/>
            <a:ext cx="20751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R3</a:t>
            </a:r>
          </a:p>
        </p:txBody>
      </p:sp>
      <p:sp>
        <p:nvSpPr>
          <p:cNvPr id="446" name="Rectangle 353"/>
          <p:cNvSpPr/>
          <p:nvPr/>
        </p:nvSpPr>
        <p:spPr>
          <a:xfrm>
            <a:off x="3822191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7" name="TextBox 354"/>
          <p:cNvSpPr txBox="1"/>
          <p:nvPr/>
        </p:nvSpPr>
        <p:spPr>
          <a:xfrm>
            <a:off x="3929737" y="10424159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4</a:t>
            </a:r>
          </a:p>
        </p:txBody>
      </p:sp>
      <p:sp>
        <p:nvSpPr>
          <p:cNvPr id="448" name="TextBox 355"/>
          <p:cNvSpPr txBox="1"/>
          <p:nvPr/>
        </p:nvSpPr>
        <p:spPr>
          <a:xfrm>
            <a:off x="4056762" y="10618469"/>
            <a:ext cx="20751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R4</a:t>
            </a:r>
          </a:p>
        </p:txBody>
      </p:sp>
      <p:sp>
        <p:nvSpPr>
          <p:cNvPr id="449" name="Rectangle 356"/>
          <p:cNvSpPr/>
          <p:nvPr/>
        </p:nvSpPr>
        <p:spPr>
          <a:xfrm>
            <a:off x="4590288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0" name="TextBox 357"/>
          <p:cNvSpPr txBox="1"/>
          <p:nvPr/>
        </p:nvSpPr>
        <p:spPr>
          <a:xfrm>
            <a:off x="4697833" y="10424159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5</a:t>
            </a:r>
          </a:p>
        </p:txBody>
      </p:sp>
      <p:sp>
        <p:nvSpPr>
          <p:cNvPr id="451" name="TextBox 358"/>
          <p:cNvSpPr txBox="1"/>
          <p:nvPr/>
        </p:nvSpPr>
        <p:spPr>
          <a:xfrm>
            <a:off x="4824857" y="10618469"/>
            <a:ext cx="20751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R5</a:t>
            </a:r>
          </a:p>
        </p:txBody>
      </p:sp>
      <p:sp>
        <p:nvSpPr>
          <p:cNvPr id="452" name="Rectangle 359"/>
          <p:cNvSpPr/>
          <p:nvPr/>
        </p:nvSpPr>
        <p:spPr>
          <a:xfrm>
            <a:off x="5358384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3" name="TextBox 360"/>
          <p:cNvSpPr txBox="1"/>
          <p:nvPr/>
        </p:nvSpPr>
        <p:spPr>
          <a:xfrm>
            <a:off x="5465929" y="10424159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6</a:t>
            </a:r>
          </a:p>
        </p:txBody>
      </p:sp>
      <p:sp>
        <p:nvSpPr>
          <p:cNvPr id="454" name="TextBox 361"/>
          <p:cNvSpPr txBox="1"/>
          <p:nvPr/>
        </p:nvSpPr>
        <p:spPr>
          <a:xfrm>
            <a:off x="5592953" y="10618469"/>
            <a:ext cx="20751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R6</a:t>
            </a:r>
          </a:p>
        </p:txBody>
      </p:sp>
      <p:sp>
        <p:nvSpPr>
          <p:cNvPr id="455" name="Rectangle 362"/>
          <p:cNvSpPr/>
          <p:nvPr/>
        </p:nvSpPr>
        <p:spPr>
          <a:xfrm>
            <a:off x="6126479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6" name="TextBox 363"/>
          <p:cNvSpPr txBox="1"/>
          <p:nvPr/>
        </p:nvSpPr>
        <p:spPr>
          <a:xfrm>
            <a:off x="6234025" y="10424159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7</a:t>
            </a:r>
          </a:p>
        </p:txBody>
      </p:sp>
      <p:sp>
        <p:nvSpPr>
          <p:cNvPr id="457" name="TextBox 364"/>
          <p:cNvSpPr txBox="1"/>
          <p:nvPr/>
        </p:nvSpPr>
        <p:spPr>
          <a:xfrm>
            <a:off x="6361050" y="10618469"/>
            <a:ext cx="20751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R7</a:t>
            </a:r>
          </a:p>
        </p:txBody>
      </p:sp>
      <p:sp>
        <p:nvSpPr>
          <p:cNvPr id="458" name="TextBox 365"/>
          <p:cNvSpPr txBox="1"/>
          <p:nvPr/>
        </p:nvSpPr>
        <p:spPr>
          <a:xfrm>
            <a:off x="1866337" y="11265407"/>
            <a:ext cx="385684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0: 8 NPUs, 7 L1 switches, 56 NPU-L1 links</a:t>
            </a:r>
          </a:p>
        </p:txBody>
      </p:sp>
      <p:sp>
        <p:nvSpPr>
          <p:cNvPr id="459" name="Rectangle 366"/>
          <p:cNvSpPr/>
          <p:nvPr/>
        </p:nvSpPr>
        <p:spPr>
          <a:xfrm>
            <a:off x="7653526" y="5897879"/>
            <a:ext cx="76809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0" name="TextBox 367"/>
          <p:cNvSpPr txBox="1"/>
          <p:nvPr/>
        </p:nvSpPr>
        <p:spPr>
          <a:xfrm>
            <a:off x="7738344" y="6080759"/>
            <a:ext cx="5984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461" name="TextBox 368"/>
          <p:cNvSpPr txBox="1"/>
          <p:nvPr/>
        </p:nvSpPr>
        <p:spPr>
          <a:xfrm>
            <a:off x="7759459" y="6240779"/>
            <a:ext cx="55623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L1-N1-S0</a:t>
            </a:r>
          </a:p>
        </p:txBody>
      </p:sp>
      <p:sp>
        <p:nvSpPr>
          <p:cNvPr id="462" name="Rectangle 369"/>
          <p:cNvSpPr/>
          <p:nvPr/>
        </p:nvSpPr>
        <p:spPr>
          <a:xfrm>
            <a:off x="8540495" y="5897879"/>
            <a:ext cx="76809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3" name="TextBox 370"/>
          <p:cNvSpPr txBox="1"/>
          <p:nvPr/>
        </p:nvSpPr>
        <p:spPr>
          <a:xfrm>
            <a:off x="8625312" y="6080759"/>
            <a:ext cx="5984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464" name="TextBox 371"/>
          <p:cNvSpPr txBox="1"/>
          <p:nvPr/>
        </p:nvSpPr>
        <p:spPr>
          <a:xfrm>
            <a:off x="8646427" y="6240779"/>
            <a:ext cx="55623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L1-N1-S1</a:t>
            </a:r>
          </a:p>
        </p:txBody>
      </p:sp>
      <p:sp>
        <p:nvSpPr>
          <p:cNvPr id="465" name="Rectangle 372"/>
          <p:cNvSpPr/>
          <p:nvPr/>
        </p:nvSpPr>
        <p:spPr>
          <a:xfrm>
            <a:off x="9427464" y="5897879"/>
            <a:ext cx="76809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6" name="TextBox 373"/>
          <p:cNvSpPr txBox="1"/>
          <p:nvPr/>
        </p:nvSpPr>
        <p:spPr>
          <a:xfrm>
            <a:off x="9512280" y="6080759"/>
            <a:ext cx="5984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467" name="TextBox 374"/>
          <p:cNvSpPr txBox="1"/>
          <p:nvPr/>
        </p:nvSpPr>
        <p:spPr>
          <a:xfrm>
            <a:off x="9533395" y="6240779"/>
            <a:ext cx="55623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L1-N1-S2</a:t>
            </a:r>
          </a:p>
        </p:txBody>
      </p:sp>
      <p:sp>
        <p:nvSpPr>
          <p:cNvPr id="468" name="Rectangle 375"/>
          <p:cNvSpPr/>
          <p:nvPr/>
        </p:nvSpPr>
        <p:spPr>
          <a:xfrm>
            <a:off x="10314431" y="5897879"/>
            <a:ext cx="76809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9" name="TextBox 376"/>
          <p:cNvSpPr txBox="1"/>
          <p:nvPr/>
        </p:nvSpPr>
        <p:spPr>
          <a:xfrm>
            <a:off x="10399248" y="6080759"/>
            <a:ext cx="5984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470" name="TextBox 377"/>
          <p:cNvSpPr txBox="1"/>
          <p:nvPr/>
        </p:nvSpPr>
        <p:spPr>
          <a:xfrm>
            <a:off x="10420363" y="6240779"/>
            <a:ext cx="55623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L1-N1-S3</a:t>
            </a:r>
          </a:p>
        </p:txBody>
      </p:sp>
      <p:sp>
        <p:nvSpPr>
          <p:cNvPr id="471" name="Rectangle 378"/>
          <p:cNvSpPr/>
          <p:nvPr/>
        </p:nvSpPr>
        <p:spPr>
          <a:xfrm>
            <a:off x="11201400" y="5897879"/>
            <a:ext cx="768096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A77D2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2" name="TextBox 379"/>
          <p:cNvSpPr txBox="1"/>
          <p:nvPr/>
        </p:nvSpPr>
        <p:spPr>
          <a:xfrm>
            <a:off x="11286216" y="6080759"/>
            <a:ext cx="5984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473" name="TextBox 380"/>
          <p:cNvSpPr txBox="1"/>
          <p:nvPr/>
        </p:nvSpPr>
        <p:spPr>
          <a:xfrm>
            <a:off x="11307331" y="6240779"/>
            <a:ext cx="55623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L1-N1-S4</a:t>
            </a:r>
          </a:p>
        </p:txBody>
      </p:sp>
      <p:sp>
        <p:nvSpPr>
          <p:cNvPr id="474" name="Rectangle 381"/>
          <p:cNvSpPr/>
          <p:nvPr/>
        </p:nvSpPr>
        <p:spPr>
          <a:xfrm>
            <a:off x="12088368" y="5897879"/>
            <a:ext cx="76809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329CA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TextBox 382"/>
          <p:cNvSpPr txBox="1"/>
          <p:nvPr/>
        </p:nvSpPr>
        <p:spPr>
          <a:xfrm>
            <a:off x="12173184" y="6080759"/>
            <a:ext cx="5984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476" name="TextBox 383"/>
          <p:cNvSpPr txBox="1"/>
          <p:nvPr/>
        </p:nvSpPr>
        <p:spPr>
          <a:xfrm>
            <a:off x="12194299" y="6240779"/>
            <a:ext cx="55623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L1-N1-S5</a:t>
            </a:r>
          </a:p>
        </p:txBody>
      </p:sp>
      <p:sp>
        <p:nvSpPr>
          <p:cNvPr id="477" name="Rectangle 384"/>
          <p:cNvSpPr/>
          <p:nvPr/>
        </p:nvSpPr>
        <p:spPr>
          <a:xfrm>
            <a:off x="12975335" y="5897879"/>
            <a:ext cx="76809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CF4B4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8" name="TextBox 385"/>
          <p:cNvSpPr txBox="1"/>
          <p:nvPr/>
        </p:nvSpPr>
        <p:spPr>
          <a:xfrm>
            <a:off x="13060152" y="6080759"/>
            <a:ext cx="5984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479" name="TextBox 386"/>
          <p:cNvSpPr txBox="1"/>
          <p:nvPr/>
        </p:nvSpPr>
        <p:spPr>
          <a:xfrm>
            <a:off x="13081267" y="6240779"/>
            <a:ext cx="55623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L1-N1-S6</a:t>
            </a:r>
          </a:p>
        </p:txBody>
      </p:sp>
      <p:sp>
        <p:nvSpPr>
          <p:cNvPr id="480" name="Rectangle 387"/>
          <p:cNvSpPr/>
          <p:nvPr/>
        </p:nvSpPr>
        <p:spPr>
          <a:xfrm>
            <a:off x="7653526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1" name="TextBox 388"/>
          <p:cNvSpPr txBox="1"/>
          <p:nvPr/>
        </p:nvSpPr>
        <p:spPr>
          <a:xfrm>
            <a:off x="7761074" y="10424159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0</a:t>
            </a:r>
          </a:p>
        </p:txBody>
      </p:sp>
      <p:sp>
        <p:nvSpPr>
          <p:cNvPr id="482" name="TextBox 389"/>
          <p:cNvSpPr txBox="1"/>
          <p:nvPr/>
        </p:nvSpPr>
        <p:spPr>
          <a:xfrm>
            <a:off x="7888098" y="10618469"/>
            <a:ext cx="20751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R8</a:t>
            </a:r>
          </a:p>
        </p:txBody>
      </p:sp>
      <p:sp>
        <p:nvSpPr>
          <p:cNvPr id="483" name="Rectangle 390"/>
          <p:cNvSpPr/>
          <p:nvPr/>
        </p:nvSpPr>
        <p:spPr>
          <a:xfrm>
            <a:off x="8421623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4" name="TextBox 391"/>
          <p:cNvSpPr txBox="1"/>
          <p:nvPr/>
        </p:nvSpPr>
        <p:spPr>
          <a:xfrm>
            <a:off x="8529169" y="10424159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1</a:t>
            </a:r>
          </a:p>
        </p:txBody>
      </p:sp>
      <p:sp>
        <p:nvSpPr>
          <p:cNvPr id="485" name="TextBox 392"/>
          <p:cNvSpPr txBox="1"/>
          <p:nvPr/>
        </p:nvSpPr>
        <p:spPr>
          <a:xfrm>
            <a:off x="8656194" y="10618469"/>
            <a:ext cx="20751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R9</a:t>
            </a:r>
          </a:p>
        </p:txBody>
      </p:sp>
      <p:sp>
        <p:nvSpPr>
          <p:cNvPr id="486" name="Rectangle 393"/>
          <p:cNvSpPr/>
          <p:nvPr/>
        </p:nvSpPr>
        <p:spPr>
          <a:xfrm>
            <a:off x="9189719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7" name="TextBox 394"/>
          <p:cNvSpPr txBox="1"/>
          <p:nvPr/>
        </p:nvSpPr>
        <p:spPr>
          <a:xfrm>
            <a:off x="9297265" y="10424159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2</a:t>
            </a:r>
          </a:p>
        </p:txBody>
      </p:sp>
      <p:sp>
        <p:nvSpPr>
          <p:cNvPr id="488" name="TextBox 395"/>
          <p:cNvSpPr txBox="1"/>
          <p:nvPr/>
        </p:nvSpPr>
        <p:spPr>
          <a:xfrm>
            <a:off x="9381911" y="10618469"/>
            <a:ext cx="29227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R10</a:t>
            </a:r>
          </a:p>
        </p:txBody>
      </p:sp>
      <p:sp>
        <p:nvSpPr>
          <p:cNvPr id="489" name="Rectangle 396"/>
          <p:cNvSpPr/>
          <p:nvPr/>
        </p:nvSpPr>
        <p:spPr>
          <a:xfrm>
            <a:off x="9957816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0" name="TextBox 397"/>
          <p:cNvSpPr txBox="1"/>
          <p:nvPr/>
        </p:nvSpPr>
        <p:spPr>
          <a:xfrm>
            <a:off x="10065361" y="10424159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3</a:t>
            </a:r>
          </a:p>
        </p:txBody>
      </p:sp>
      <p:sp>
        <p:nvSpPr>
          <p:cNvPr id="491" name="TextBox 398"/>
          <p:cNvSpPr txBox="1"/>
          <p:nvPr/>
        </p:nvSpPr>
        <p:spPr>
          <a:xfrm>
            <a:off x="10155625" y="10618469"/>
            <a:ext cx="28103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R11</a:t>
            </a:r>
          </a:p>
        </p:txBody>
      </p:sp>
      <p:sp>
        <p:nvSpPr>
          <p:cNvPr id="492" name="Rectangle 399"/>
          <p:cNvSpPr/>
          <p:nvPr/>
        </p:nvSpPr>
        <p:spPr>
          <a:xfrm>
            <a:off x="10725911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3" name="TextBox 400"/>
          <p:cNvSpPr txBox="1"/>
          <p:nvPr/>
        </p:nvSpPr>
        <p:spPr>
          <a:xfrm>
            <a:off x="10833457" y="10424159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4</a:t>
            </a:r>
          </a:p>
        </p:txBody>
      </p:sp>
      <p:sp>
        <p:nvSpPr>
          <p:cNvPr id="494" name="TextBox 401"/>
          <p:cNvSpPr txBox="1"/>
          <p:nvPr/>
        </p:nvSpPr>
        <p:spPr>
          <a:xfrm>
            <a:off x="10918103" y="10618469"/>
            <a:ext cx="29227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</a:t>
            </a:r>
          </a:p>
        </p:txBody>
      </p:sp>
      <p:sp>
        <p:nvSpPr>
          <p:cNvPr id="495" name="Rectangle 402"/>
          <p:cNvSpPr/>
          <p:nvPr/>
        </p:nvSpPr>
        <p:spPr>
          <a:xfrm>
            <a:off x="11494007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6" name="TextBox 403"/>
          <p:cNvSpPr txBox="1"/>
          <p:nvPr/>
        </p:nvSpPr>
        <p:spPr>
          <a:xfrm>
            <a:off x="11601553" y="10424159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5</a:t>
            </a:r>
          </a:p>
        </p:txBody>
      </p:sp>
      <p:sp>
        <p:nvSpPr>
          <p:cNvPr id="497" name="TextBox 404"/>
          <p:cNvSpPr txBox="1"/>
          <p:nvPr/>
        </p:nvSpPr>
        <p:spPr>
          <a:xfrm>
            <a:off x="11686199" y="10618469"/>
            <a:ext cx="29227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R13</a:t>
            </a:r>
          </a:p>
        </p:txBody>
      </p:sp>
      <p:sp>
        <p:nvSpPr>
          <p:cNvPr id="498" name="Rectangle 405"/>
          <p:cNvSpPr/>
          <p:nvPr/>
        </p:nvSpPr>
        <p:spPr>
          <a:xfrm>
            <a:off x="12262104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9" name="TextBox 406"/>
          <p:cNvSpPr txBox="1"/>
          <p:nvPr/>
        </p:nvSpPr>
        <p:spPr>
          <a:xfrm>
            <a:off x="12369649" y="10424159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6</a:t>
            </a:r>
          </a:p>
        </p:txBody>
      </p:sp>
      <p:sp>
        <p:nvSpPr>
          <p:cNvPr id="500" name="TextBox 407"/>
          <p:cNvSpPr txBox="1"/>
          <p:nvPr/>
        </p:nvSpPr>
        <p:spPr>
          <a:xfrm>
            <a:off x="12454295" y="10618469"/>
            <a:ext cx="29227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R14</a:t>
            </a:r>
          </a:p>
        </p:txBody>
      </p:sp>
      <p:sp>
        <p:nvSpPr>
          <p:cNvPr id="501" name="Rectangle 408"/>
          <p:cNvSpPr/>
          <p:nvPr/>
        </p:nvSpPr>
        <p:spPr>
          <a:xfrm>
            <a:off x="13030199" y="10332719"/>
            <a:ext cx="676658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2" name="TextBox 409"/>
          <p:cNvSpPr txBox="1"/>
          <p:nvPr/>
        </p:nvSpPr>
        <p:spPr>
          <a:xfrm>
            <a:off x="13137745" y="10424159"/>
            <a:ext cx="4615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7</a:t>
            </a:r>
          </a:p>
        </p:txBody>
      </p:sp>
      <p:sp>
        <p:nvSpPr>
          <p:cNvPr id="503" name="TextBox 410"/>
          <p:cNvSpPr txBox="1"/>
          <p:nvPr/>
        </p:nvSpPr>
        <p:spPr>
          <a:xfrm>
            <a:off x="13222391" y="10618469"/>
            <a:ext cx="29227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R15</a:t>
            </a:r>
          </a:p>
        </p:txBody>
      </p:sp>
      <p:sp>
        <p:nvSpPr>
          <p:cNvPr id="504" name="TextBox 411"/>
          <p:cNvSpPr txBox="1"/>
          <p:nvPr/>
        </p:nvSpPr>
        <p:spPr>
          <a:xfrm>
            <a:off x="8770058" y="11265407"/>
            <a:ext cx="385684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1: 8 NPUs, 7 L1 switches, 56 NPU-L1 links</a:t>
            </a:r>
          </a:p>
        </p:txBody>
      </p:sp>
      <p:sp>
        <p:nvSpPr>
          <p:cNvPr id="505" name="Rectangle 412"/>
          <p:cNvSpPr/>
          <p:nvPr/>
        </p:nvSpPr>
        <p:spPr>
          <a:xfrm>
            <a:off x="15060167" y="5897879"/>
            <a:ext cx="76809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6" name="TextBox 413"/>
          <p:cNvSpPr txBox="1"/>
          <p:nvPr/>
        </p:nvSpPr>
        <p:spPr>
          <a:xfrm>
            <a:off x="15144984" y="6080759"/>
            <a:ext cx="5984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507" name="TextBox 414"/>
          <p:cNvSpPr txBox="1"/>
          <p:nvPr/>
        </p:nvSpPr>
        <p:spPr>
          <a:xfrm>
            <a:off x="15130783" y="6240779"/>
            <a:ext cx="62686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L1-N15-S0</a:t>
            </a:r>
          </a:p>
        </p:txBody>
      </p:sp>
      <p:sp>
        <p:nvSpPr>
          <p:cNvPr id="508" name="Rectangle 415"/>
          <p:cNvSpPr/>
          <p:nvPr/>
        </p:nvSpPr>
        <p:spPr>
          <a:xfrm>
            <a:off x="15947136" y="5897879"/>
            <a:ext cx="76809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9" name="TextBox 416"/>
          <p:cNvSpPr txBox="1"/>
          <p:nvPr/>
        </p:nvSpPr>
        <p:spPr>
          <a:xfrm>
            <a:off x="16031952" y="6080759"/>
            <a:ext cx="5984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510" name="TextBox 417"/>
          <p:cNvSpPr txBox="1"/>
          <p:nvPr/>
        </p:nvSpPr>
        <p:spPr>
          <a:xfrm>
            <a:off x="16017752" y="6240779"/>
            <a:ext cx="62686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L1-N15-S1</a:t>
            </a:r>
          </a:p>
        </p:txBody>
      </p:sp>
      <p:sp>
        <p:nvSpPr>
          <p:cNvPr id="511" name="Rectangle 418"/>
          <p:cNvSpPr/>
          <p:nvPr/>
        </p:nvSpPr>
        <p:spPr>
          <a:xfrm>
            <a:off x="16834104" y="5897879"/>
            <a:ext cx="76809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268C6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2" name="TextBox 419"/>
          <p:cNvSpPr txBox="1"/>
          <p:nvPr/>
        </p:nvSpPr>
        <p:spPr>
          <a:xfrm>
            <a:off x="16918920" y="6080759"/>
            <a:ext cx="5984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513" name="TextBox 420"/>
          <p:cNvSpPr txBox="1"/>
          <p:nvPr/>
        </p:nvSpPr>
        <p:spPr>
          <a:xfrm>
            <a:off x="16904720" y="6240779"/>
            <a:ext cx="62686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L1-N15-S2</a:t>
            </a:r>
          </a:p>
        </p:txBody>
      </p:sp>
      <p:sp>
        <p:nvSpPr>
          <p:cNvPr id="514" name="Rectangle 421"/>
          <p:cNvSpPr/>
          <p:nvPr/>
        </p:nvSpPr>
        <p:spPr>
          <a:xfrm>
            <a:off x="17721071" y="5897879"/>
            <a:ext cx="76809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8062A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5" name="TextBox 422"/>
          <p:cNvSpPr txBox="1"/>
          <p:nvPr/>
        </p:nvSpPr>
        <p:spPr>
          <a:xfrm>
            <a:off x="17805888" y="6080759"/>
            <a:ext cx="5984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516" name="TextBox 423"/>
          <p:cNvSpPr txBox="1"/>
          <p:nvPr/>
        </p:nvSpPr>
        <p:spPr>
          <a:xfrm>
            <a:off x="17791687" y="6240779"/>
            <a:ext cx="62686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L1-N15-S3</a:t>
            </a:r>
          </a:p>
        </p:txBody>
      </p:sp>
      <p:sp>
        <p:nvSpPr>
          <p:cNvPr id="517" name="Rectangle 424"/>
          <p:cNvSpPr/>
          <p:nvPr/>
        </p:nvSpPr>
        <p:spPr>
          <a:xfrm>
            <a:off x="18608039" y="5897879"/>
            <a:ext cx="76809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A77D2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8" name="TextBox 425"/>
          <p:cNvSpPr txBox="1"/>
          <p:nvPr/>
        </p:nvSpPr>
        <p:spPr>
          <a:xfrm>
            <a:off x="18692856" y="6080759"/>
            <a:ext cx="5984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519" name="TextBox 426"/>
          <p:cNvSpPr txBox="1"/>
          <p:nvPr/>
        </p:nvSpPr>
        <p:spPr>
          <a:xfrm>
            <a:off x="18678656" y="6240779"/>
            <a:ext cx="62686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L1-N15-S4</a:t>
            </a:r>
          </a:p>
        </p:txBody>
      </p:sp>
      <p:sp>
        <p:nvSpPr>
          <p:cNvPr id="520" name="Rectangle 427"/>
          <p:cNvSpPr/>
          <p:nvPr/>
        </p:nvSpPr>
        <p:spPr>
          <a:xfrm>
            <a:off x="19495008" y="5897879"/>
            <a:ext cx="76809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329CA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1" name="TextBox 428"/>
          <p:cNvSpPr txBox="1"/>
          <p:nvPr/>
        </p:nvSpPr>
        <p:spPr>
          <a:xfrm>
            <a:off x="19579825" y="6080759"/>
            <a:ext cx="59846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522" name="TextBox 429"/>
          <p:cNvSpPr txBox="1"/>
          <p:nvPr/>
        </p:nvSpPr>
        <p:spPr>
          <a:xfrm>
            <a:off x="19565624" y="6240779"/>
            <a:ext cx="62686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L1-N15-S5</a:t>
            </a:r>
          </a:p>
        </p:txBody>
      </p:sp>
      <p:sp>
        <p:nvSpPr>
          <p:cNvPr id="523" name="Rectangle 430"/>
          <p:cNvSpPr/>
          <p:nvPr/>
        </p:nvSpPr>
        <p:spPr>
          <a:xfrm>
            <a:off x="20381976" y="5897879"/>
            <a:ext cx="76809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CF4B4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4" name="TextBox 431"/>
          <p:cNvSpPr txBox="1"/>
          <p:nvPr/>
        </p:nvSpPr>
        <p:spPr>
          <a:xfrm>
            <a:off x="20466792" y="6080759"/>
            <a:ext cx="59846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525" name="TextBox 432"/>
          <p:cNvSpPr txBox="1"/>
          <p:nvPr/>
        </p:nvSpPr>
        <p:spPr>
          <a:xfrm>
            <a:off x="20452591" y="6240779"/>
            <a:ext cx="62686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L1-N15-S6</a:t>
            </a:r>
          </a:p>
        </p:txBody>
      </p:sp>
      <p:sp>
        <p:nvSpPr>
          <p:cNvPr id="526" name="Rectangle 433"/>
          <p:cNvSpPr/>
          <p:nvPr/>
        </p:nvSpPr>
        <p:spPr>
          <a:xfrm>
            <a:off x="15060167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7" name="TextBox 434"/>
          <p:cNvSpPr txBox="1"/>
          <p:nvPr/>
        </p:nvSpPr>
        <p:spPr>
          <a:xfrm>
            <a:off x="15167713" y="10424159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0</a:t>
            </a:r>
          </a:p>
        </p:txBody>
      </p:sp>
      <p:sp>
        <p:nvSpPr>
          <p:cNvPr id="528" name="TextBox 435"/>
          <p:cNvSpPr txBox="1"/>
          <p:nvPr/>
        </p:nvSpPr>
        <p:spPr>
          <a:xfrm>
            <a:off x="15209980" y="10618469"/>
            <a:ext cx="37703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R120</a:t>
            </a:r>
          </a:p>
        </p:txBody>
      </p:sp>
      <p:sp>
        <p:nvSpPr>
          <p:cNvPr id="529" name="Rectangle 436"/>
          <p:cNvSpPr/>
          <p:nvPr/>
        </p:nvSpPr>
        <p:spPr>
          <a:xfrm>
            <a:off x="15828263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0" name="TextBox 437"/>
          <p:cNvSpPr txBox="1"/>
          <p:nvPr/>
        </p:nvSpPr>
        <p:spPr>
          <a:xfrm>
            <a:off x="15935809" y="10424159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1</a:t>
            </a:r>
          </a:p>
        </p:txBody>
      </p:sp>
      <p:sp>
        <p:nvSpPr>
          <p:cNvPr id="531" name="TextBox 438"/>
          <p:cNvSpPr txBox="1"/>
          <p:nvPr/>
        </p:nvSpPr>
        <p:spPr>
          <a:xfrm>
            <a:off x="15978076" y="10618469"/>
            <a:ext cx="37703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R121</a:t>
            </a:r>
          </a:p>
        </p:txBody>
      </p:sp>
      <p:sp>
        <p:nvSpPr>
          <p:cNvPr id="532" name="Rectangle 439"/>
          <p:cNvSpPr/>
          <p:nvPr/>
        </p:nvSpPr>
        <p:spPr>
          <a:xfrm>
            <a:off x="16596359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3" name="TextBox 440"/>
          <p:cNvSpPr txBox="1"/>
          <p:nvPr/>
        </p:nvSpPr>
        <p:spPr>
          <a:xfrm>
            <a:off x="16703905" y="10424159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2</a:t>
            </a:r>
          </a:p>
        </p:txBody>
      </p:sp>
      <p:sp>
        <p:nvSpPr>
          <p:cNvPr id="534" name="TextBox 441"/>
          <p:cNvSpPr txBox="1"/>
          <p:nvPr/>
        </p:nvSpPr>
        <p:spPr>
          <a:xfrm>
            <a:off x="16746172" y="10618469"/>
            <a:ext cx="37703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R122</a:t>
            </a:r>
          </a:p>
        </p:txBody>
      </p:sp>
      <p:sp>
        <p:nvSpPr>
          <p:cNvPr id="535" name="Rectangle 442"/>
          <p:cNvSpPr/>
          <p:nvPr/>
        </p:nvSpPr>
        <p:spPr>
          <a:xfrm>
            <a:off x="17364456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6" name="TextBox 443"/>
          <p:cNvSpPr txBox="1"/>
          <p:nvPr/>
        </p:nvSpPr>
        <p:spPr>
          <a:xfrm>
            <a:off x="17472000" y="10424159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3</a:t>
            </a:r>
          </a:p>
        </p:txBody>
      </p:sp>
      <p:sp>
        <p:nvSpPr>
          <p:cNvPr id="537" name="TextBox 444"/>
          <p:cNvSpPr txBox="1"/>
          <p:nvPr/>
        </p:nvSpPr>
        <p:spPr>
          <a:xfrm>
            <a:off x="17514267" y="10618469"/>
            <a:ext cx="37703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R123</a:t>
            </a:r>
          </a:p>
        </p:txBody>
      </p:sp>
      <p:sp>
        <p:nvSpPr>
          <p:cNvPr id="538" name="Rectangle 445"/>
          <p:cNvSpPr/>
          <p:nvPr/>
        </p:nvSpPr>
        <p:spPr>
          <a:xfrm>
            <a:off x="18132552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9" name="TextBox 446"/>
          <p:cNvSpPr txBox="1"/>
          <p:nvPr/>
        </p:nvSpPr>
        <p:spPr>
          <a:xfrm>
            <a:off x="18240097" y="10424159"/>
            <a:ext cx="4615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4</a:t>
            </a:r>
          </a:p>
        </p:txBody>
      </p:sp>
      <p:sp>
        <p:nvSpPr>
          <p:cNvPr id="540" name="TextBox 447"/>
          <p:cNvSpPr txBox="1"/>
          <p:nvPr/>
        </p:nvSpPr>
        <p:spPr>
          <a:xfrm>
            <a:off x="18282364" y="10618469"/>
            <a:ext cx="37703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R124</a:t>
            </a:r>
          </a:p>
        </p:txBody>
      </p:sp>
      <p:sp>
        <p:nvSpPr>
          <p:cNvPr id="541" name="Rectangle 448"/>
          <p:cNvSpPr/>
          <p:nvPr/>
        </p:nvSpPr>
        <p:spPr>
          <a:xfrm>
            <a:off x="18900647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2" name="TextBox 449"/>
          <p:cNvSpPr txBox="1"/>
          <p:nvPr/>
        </p:nvSpPr>
        <p:spPr>
          <a:xfrm>
            <a:off x="19008193" y="10424159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5</a:t>
            </a:r>
          </a:p>
        </p:txBody>
      </p:sp>
      <p:sp>
        <p:nvSpPr>
          <p:cNvPr id="543" name="TextBox 450"/>
          <p:cNvSpPr txBox="1"/>
          <p:nvPr/>
        </p:nvSpPr>
        <p:spPr>
          <a:xfrm>
            <a:off x="19050460" y="10618469"/>
            <a:ext cx="37703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R125</a:t>
            </a:r>
          </a:p>
        </p:txBody>
      </p:sp>
      <p:sp>
        <p:nvSpPr>
          <p:cNvPr id="544" name="Rectangle 451"/>
          <p:cNvSpPr/>
          <p:nvPr/>
        </p:nvSpPr>
        <p:spPr>
          <a:xfrm>
            <a:off x="19668743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5" name="TextBox 452"/>
          <p:cNvSpPr txBox="1"/>
          <p:nvPr/>
        </p:nvSpPr>
        <p:spPr>
          <a:xfrm>
            <a:off x="19776289" y="10424159"/>
            <a:ext cx="4615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6</a:t>
            </a:r>
          </a:p>
        </p:txBody>
      </p:sp>
      <p:sp>
        <p:nvSpPr>
          <p:cNvPr id="546" name="TextBox 453"/>
          <p:cNvSpPr txBox="1"/>
          <p:nvPr/>
        </p:nvSpPr>
        <p:spPr>
          <a:xfrm>
            <a:off x="19818556" y="10618469"/>
            <a:ext cx="37703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R126</a:t>
            </a:r>
          </a:p>
        </p:txBody>
      </p:sp>
      <p:sp>
        <p:nvSpPr>
          <p:cNvPr id="547" name="Rectangle 454"/>
          <p:cNvSpPr/>
          <p:nvPr/>
        </p:nvSpPr>
        <p:spPr>
          <a:xfrm>
            <a:off x="20436839" y="10332719"/>
            <a:ext cx="676657" cy="704089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8" name="TextBox 455"/>
          <p:cNvSpPr txBox="1"/>
          <p:nvPr/>
        </p:nvSpPr>
        <p:spPr>
          <a:xfrm>
            <a:off x="20544385" y="10424159"/>
            <a:ext cx="4615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7</a:t>
            </a:r>
          </a:p>
        </p:txBody>
      </p:sp>
      <p:sp>
        <p:nvSpPr>
          <p:cNvPr id="549" name="TextBox 456"/>
          <p:cNvSpPr txBox="1"/>
          <p:nvPr/>
        </p:nvSpPr>
        <p:spPr>
          <a:xfrm>
            <a:off x="20586652" y="10618469"/>
            <a:ext cx="37703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R127</a:t>
            </a:r>
          </a:p>
        </p:txBody>
      </p:sp>
      <p:sp>
        <p:nvSpPr>
          <p:cNvPr id="550" name="TextBox 457"/>
          <p:cNvSpPr txBox="1"/>
          <p:nvPr/>
        </p:nvSpPr>
        <p:spPr>
          <a:xfrm>
            <a:off x="16127255" y="11265407"/>
            <a:ext cx="395572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15: 8 NPUs, 7 L1 switches, 56 NPU-L1 links</a:t>
            </a:r>
          </a:p>
        </p:txBody>
      </p:sp>
      <p:sp>
        <p:nvSpPr>
          <p:cNvPr id="551" name="TextBox 458"/>
          <p:cNvSpPr txBox="1"/>
          <p:nvPr/>
        </p:nvSpPr>
        <p:spPr>
          <a:xfrm>
            <a:off x="14244844" y="7406640"/>
            <a:ext cx="27733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...</a:t>
            </a:r>
          </a:p>
        </p:txBody>
      </p:sp>
      <p:sp>
        <p:nvSpPr>
          <p:cNvPr id="552" name="TextBox 459"/>
          <p:cNvSpPr txBox="1"/>
          <p:nvPr/>
        </p:nvSpPr>
        <p:spPr>
          <a:xfrm>
            <a:off x="14156896" y="7818119"/>
            <a:ext cx="45323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Nodes</a:t>
            </a:r>
          </a:p>
        </p:txBody>
      </p:sp>
      <p:sp>
        <p:nvSpPr>
          <p:cNvPr id="553" name="TextBox 460"/>
          <p:cNvSpPr txBox="1"/>
          <p:nvPr/>
        </p:nvSpPr>
        <p:spPr>
          <a:xfrm>
            <a:off x="14224650" y="8023859"/>
            <a:ext cx="31772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2-14</a:t>
            </a:r>
          </a:p>
        </p:txBody>
      </p:sp>
      <p:sp>
        <p:nvSpPr>
          <p:cNvPr id="554" name="TextBox 461"/>
          <p:cNvSpPr txBox="1"/>
          <p:nvPr/>
        </p:nvSpPr>
        <p:spPr>
          <a:xfrm>
            <a:off x="14127279" y="8229599"/>
            <a:ext cx="51246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omitted</a:t>
            </a:r>
          </a:p>
        </p:txBody>
      </p:sp>
      <p:sp>
        <p:nvSpPr>
          <p:cNvPr id="555" name="TextBox 462"/>
          <p:cNvSpPr txBox="1"/>
          <p:nvPr/>
        </p:nvSpPr>
        <p:spPr>
          <a:xfrm>
            <a:off x="640080" y="804672"/>
            <a:ext cx="7230964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L1-Nn-Sp connects to L2-Pp-S0 through L2-Pp-S15. Each plane is independent.</a:t>
            </a:r>
          </a:p>
        </p:txBody>
      </p:sp>
      <p:sp>
        <p:nvSpPr>
          <p:cNvPr id="556" name="TextBox 463"/>
          <p:cNvSpPr txBox="1"/>
          <p:nvPr/>
        </p:nvSpPr>
        <p:spPr>
          <a:xfrm>
            <a:off x="640080" y="1097280"/>
            <a:ext cx="8201423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Each NPU in Node n connects to L1-Nn-S0 through L1-Nn-S6. Crossings are not junctions.</a:t>
            </a:r>
          </a:p>
        </p:txBody>
      </p:sp>
      <p:sp>
        <p:nvSpPr>
          <p:cNvPr id="557" name="TextBox 464"/>
          <p:cNvSpPr txBox="1"/>
          <p:nvPr/>
        </p:nvSpPr>
        <p:spPr>
          <a:xfrm>
            <a:off x="640080" y="12070080"/>
            <a:ext cx="68001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5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Per-direction capacity: NPU-L1 = 56 GB/s (2 x 28 aggregated); L1-L2 = 28 GB/s.</a:t>
            </a:r>
          </a:p>
        </p:txBody>
      </p:sp>
      <p:sp>
        <p:nvSpPr>
          <p:cNvPr id="558" name="TextBox 465"/>
          <p:cNvSpPr txBox="1"/>
          <p:nvPr/>
        </p:nvSpPr>
        <p:spPr>
          <a:xfrm>
            <a:off x="640080" y="12390119"/>
            <a:ext cx="676488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128-NPU contest adaptation: retain 16 L2 switches per plane; populate 16 Node-facing ports per L2.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TextBox 1"/>
          <p:cNvSpPr txBox="1"/>
          <p:nvPr/>
        </p:nvSpPr>
        <p:spPr>
          <a:xfrm>
            <a:off x="640080" y="320040"/>
            <a:ext cx="897029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30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Node 0: every NPU connects to every local L1 switch</a:t>
            </a:r>
          </a:p>
        </p:txBody>
      </p:sp>
      <p:sp>
        <p:nvSpPr>
          <p:cNvPr id="561" name="TextBox 2"/>
          <p:cNvSpPr txBox="1"/>
          <p:nvPr/>
        </p:nvSpPr>
        <p:spPr>
          <a:xfrm>
            <a:off x="640080" y="1005839"/>
            <a:ext cx="806850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Switch IDs: L1-N0-S0 through L1-N0-S6. All 56 NPU-L1 connections are drawn.</a:t>
            </a:r>
          </a:p>
        </p:txBody>
      </p:sp>
      <p:sp>
        <p:nvSpPr>
          <p:cNvPr id="562" name="Connector 3"/>
          <p:cNvSpPr/>
          <p:nvPr/>
        </p:nvSpPr>
        <p:spPr>
          <a:xfrm flipH="1">
            <a:off x="1280160" y="3749038"/>
            <a:ext cx="411481" cy="576072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3" name="Connector 4"/>
          <p:cNvSpPr/>
          <p:nvPr/>
        </p:nvSpPr>
        <p:spPr>
          <a:xfrm>
            <a:off x="1828800" y="3749038"/>
            <a:ext cx="2011680" cy="576072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4" name="Connector 5"/>
          <p:cNvSpPr/>
          <p:nvPr/>
        </p:nvSpPr>
        <p:spPr>
          <a:xfrm>
            <a:off x="1965959" y="3749038"/>
            <a:ext cx="4434842" cy="576072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5" name="Connector 6"/>
          <p:cNvSpPr/>
          <p:nvPr/>
        </p:nvSpPr>
        <p:spPr>
          <a:xfrm>
            <a:off x="2103120" y="3749038"/>
            <a:ext cx="6858001" cy="576072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6" name="Connector 7"/>
          <p:cNvSpPr/>
          <p:nvPr/>
        </p:nvSpPr>
        <p:spPr>
          <a:xfrm>
            <a:off x="2240280" y="3749038"/>
            <a:ext cx="9281161" cy="576072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7" name="Connector 8"/>
          <p:cNvSpPr/>
          <p:nvPr/>
        </p:nvSpPr>
        <p:spPr>
          <a:xfrm>
            <a:off x="2377439" y="3749038"/>
            <a:ext cx="11704321" cy="576072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8" name="Connector 9"/>
          <p:cNvSpPr/>
          <p:nvPr/>
        </p:nvSpPr>
        <p:spPr>
          <a:xfrm>
            <a:off x="2514599" y="3749038"/>
            <a:ext cx="14127482" cy="576072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69" name="Connector 10"/>
          <p:cNvSpPr/>
          <p:nvPr/>
        </p:nvSpPr>
        <p:spPr>
          <a:xfrm>
            <a:off x="2651759" y="3749038"/>
            <a:ext cx="16550641" cy="5760722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0" name="Connector 11"/>
          <p:cNvSpPr/>
          <p:nvPr/>
        </p:nvSpPr>
        <p:spPr>
          <a:xfrm flipH="1">
            <a:off x="1444751" y="3749038"/>
            <a:ext cx="3035809" cy="576072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1" name="Connector 12"/>
          <p:cNvSpPr/>
          <p:nvPr/>
        </p:nvSpPr>
        <p:spPr>
          <a:xfrm flipH="1">
            <a:off x="4005071" y="3749038"/>
            <a:ext cx="612649" cy="576072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2" name="Connector 13"/>
          <p:cNvSpPr/>
          <p:nvPr/>
        </p:nvSpPr>
        <p:spPr>
          <a:xfrm>
            <a:off x="4754879" y="3749038"/>
            <a:ext cx="1810513" cy="576072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3" name="Connector 14"/>
          <p:cNvSpPr/>
          <p:nvPr/>
        </p:nvSpPr>
        <p:spPr>
          <a:xfrm>
            <a:off x="4892040" y="3749038"/>
            <a:ext cx="4233672" cy="576072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4" name="Connector 15"/>
          <p:cNvSpPr/>
          <p:nvPr/>
        </p:nvSpPr>
        <p:spPr>
          <a:xfrm>
            <a:off x="5029200" y="3749038"/>
            <a:ext cx="6656832" cy="576072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5" name="Connector 16"/>
          <p:cNvSpPr/>
          <p:nvPr/>
        </p:nvSpPr>
        <p:spPr>
          <a:xfrm>
            <a:off x="5166359" y="3749038"/>
            <a:ext cx="9079993" cy="576072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6" name="Connector 17"/>
          <p:cNvSpPr/>
          <p:nvPr/>
        </p:nvSpPr>
        <p:spPr>
          <a:xfrm>
            <a:off x="5303520" y="3749038"/>
            <a:ext cx="11503153" cy="576072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7" name="Connector 18"/>
          <p:cNvSpPr/>
          <p:nvPr/>
        </p:nvSpPr>
        <p:spPr>
          <a:xfrm>
            <a:off x="5440680" y="3749038"/>
            <a:ext cx="13926314" cy="5760722"/>
          </a:xfrm>
          <a:prstGeom prst="line">
            <a:avLst/>
          </a:prstGeom>
          <a:ln w="18288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8" name="Connector 19"/>
          <p:cNvSpPr/>
          <p:nvPr/>
        </p:nvSpPr>
        <p:spPr>
          <a:xfrm flipH="1">
            <a:off x="1609343" y="3749038"/>
            <a:ext cx="5660137" cy="576072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79" name="Connector 20"/>
          <p:cNvSpPr/>
          <p:nvPr/>
        </p:nvSpPr>
        <p:spPr>
          <a:xfrm flipH="1">
            <a:off x="4169662" y="3749038"/>
            <a:ext cx="3236978" cy="576072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0" name="Connector 21"/>
          <p:cNvSpPr/>
          <p:nvPr/>
        </p:nvSpPr>
        <p:spPr>
          <a:xfrm flipH="1">
            <a:off x="6729983" y="3749038"/>
            <a:ext cx="813817" cy="576072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1" name="Connector 22"/>
          <p:cNvSpPr/>
          <p:nvPr/>
        </p:nvSpPr>
        <p:spPr>
          <a:xfrm>
            <a:off x="7680959" y="3749038"/>
            <a:ext cx="1609345" cy="576072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2" name="Connector 23"/>
          <p:cNvSpPr/>
          <p:nvPr/>
        </p:nvSpPr>
        <p:spPr>
          <a:xfrm>
            <a:off x="7818119" y="3749038"/>
            <a:ext cx="4032504" cy="576072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3" name="Connector 24"/>
          <p:cNvSpPr/>
          <p:nvPr/>
        </p:nvSpPr>
        <p:spPr>
          <a:xfrm>
            <a:off x="7955278" y="3749038"/>
            <a:ext cx="6455666" cy="576072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4" name="Connector 25"/>
          <p:cNvSpPr/>
          <p:nvPr/>
        </p:nvSpPr>
        <p:spPr>
          <a:xfrm>
            <a:off x="8092440" y="3749038"/>
            <a:ext cx="8878825" cy="576072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5" name="Connector 26"/>
          <p:cNvSpPr/>
          <p:nvPr/>
        </p:nvSpPr>
        <p:spPr>
          <a:xfrm>
            <a:off x="8229600" y="3749038"/>
            <a:ext cx="11301985" cy="5760722"/>
          </a:xfrm>
          <a:prstGeom prst="line">
            <a:avLst/>
          </a:prstGeom>
          <a:ln w="18288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6" name="Connector 27"/>
          <p:cNvSpPr/>
          <p:nvPr/>
        </p:nvSpPr>
        <p:spPr>
          <a:xfrm flipH="1">
            <a:off x="1773935" y="3749038"/>
            <a:ext cx="8284466" cy="576072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7" name="Connector 28"/>
          <p:cNvSpPr/>
          <p:nvPr/>
        </p:nvSpPr>
        <p:spPr>
          <a:xfrm flipH="1">
            <a:off x="4334255" y="3749038"/>
            <a:ext cx="5861305" cy="576072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8" name="Connector 29"/>
          <p:cNvSpPr/>
          <p:nvPr/>
        </p:nvSpPr>
        <p:spPr>
          <a:xfrm flipH="1">
            <a:off x="6894576" y="3749038"/>
            <a:ext cx="3438145" cy="576072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9" name="Connector 30"/>
          <p:cNvSpPr/>
          <p:nvPr/>
        </p:nvSpPr>
        <p:spPr>
          <a:xfrm flipH="1">
            <a:off x="9454895" y="3749038"/>
            <a:ext cx="1014985" cy="576072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0" name="Connector 31"/>
          <p:cNvSpPr/>
          <p:nvPr/>
        </p:nvSpPr>
        <p:spPr>
          <a:xfrm>
            <a:off x="10607040" y="3749038"/>
            <a:ext cx="1408177" cy="576072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1" name="Connector 32"/>
          <p:cNvSpPr/>
          <p:nvPr/>
        </p:nvSpPr>
        <p:spPr>
          <a:xfrm>
            <a:off x="10744200" y="3749038"/>
            <a:ext cx="3831337" cy="576072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2" name="Connector 33"/>
          <p:cNvSpPr/>
          <p:nvPr/>
        </p:nvSpPr>
        <p:spPr>
          <a:xfrm>
            <a:off x="10881359" y="3749038"/>
            <a:ext cx="6254497" cy="576072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3" name="Connector 34"/>
          <p:cNvSpPr/>
          <p:nvPr/>
        </p:nvSpPr>
        <p:spPr>
          <a:xfrm>
            <a:off x="11018519" y="3749038"/>
            <a:ext cx="8677657" cy="5760722"/>
          </a:xfrm>
          <a:prstGeom prst="line">
            <a:avLst/>
          </a:prstGeom>
          <a:ln w="18288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4" name="Connector 35"/>
          <p:cNvSpPr/>
          <p:nvPr/>
        </p:nvSpPr>
        <p:spPr>
          <a:xfrm flipH="1">
            <a:off x="1938528" y="3749038"/>
            <a:ext cx="10908793" cy="576072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5" name="Connector 36"/>
          <p:cNvSpPr/>
          <p:nvPr/>
        </p:nvSpPr>
        <p:spPr>
          <a:xfrm flipH="1">
            <a:off x="4498848" y="3749038"/>
            <a:ext cx="8485632" cy="576072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6" name="Connector 37"/>
          <p:cNvSpPr/>
          <p:nvPr/>
        </p:nvSpPr>
        <p:spPr>
          <a:xfrm flipH="1">
            <a:off x="7059168" y="3749038"/>
            <a:ext cx="6062473" cy="576072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7" name="Connector 38"/>
          <p:cNvSpPr/>
          <p:nvPr/>
        </p:nvSpPr>
        <p:spPr>
          <a:xfrm flipH="1">
            <a:off x="9619487" y="3749038"/>
            <a:ext cx="3639313" cy="576072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8" name="Connector 39"/>
          <p:cNvSpPr/>
          <p:nvPr/>
        </p:nvSpPr>
        <p:spPr>
          <a:xfrm flipH="1">
            <a:off x="12179807" y="3749038"/>
            <a:ext cx="1216153" cy="576072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9" name="Connector 40"/>
          <p:cNvSpPr/>
          <p:nvPr/>
        </p:nvSpPr>
        <p:spPr>
          <a:xfrm>
            <a:off x="13533119" y="3749038"/>
            <a:ext cx="1207009" cy="576072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0" name="Connector 41"/>
          <p:cNvSpPr/>
          <p:nvPr/>
        </p:nvSpPr>
        <p:spPr>
          <a:xfrm>
            <a:off x="13670280" y="3749038"/>
            <a:ext cx="3630169" cy="576072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1" name="Connector 42"/>
          <p:cNvSpPr/>
          <p:nvPr/>
        </p:nvSpPr>
        <p:spPr>
          <a:xfrm>
            <a:off x="13807439" y="3749038"/>
            <a:ext cx="6053329" cy="5760722"/>
          </a:xfrm>
          <a:prstGeom prst="line">
            <a:avLst/>
          </a:prstGeom>
          <a:ln w="18288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2" name="Connector 43"/>
          <p:cNvSpPr/>
          <p:nvPr/>
        </p:nvSpPr>
        <p:spPr>
          <a:xfrm flipH="1">
            <a:off x="2103119" y="3749038"/>
            <a:ext cx="13533121" cy="576072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3" name="Connector 44"/>
          <p:cNvSpPr/>
          <p:nvPr/>
        </p:nvSpPr>
        <p:spPr>
          <a:xfrm flipH="1">
            <a:off x="4663439" y="3749038"/>
            <a:ext cx="11109961" cy="576072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4" name="Connector 45"/>
          <p:cNvSpPr/>
          <p:nvPr/>
        </p:nvSpPr>
        <p:spPr>
          <a:xfrm flipH="1">
            <a:off x="7223760" y="3749038"/>
            <a:ext cx="8686800" cy="576072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5" name="Connector 46"/>
          <p:cNvSpPr/>
          <p:nvPr/>
        </p:nvSpPr>
        <p:spPr>
          <a:xfrm flipH="1">
            <a:off x="9784080" y="3749038"/>
            <a:ext cx="6263641" cy="576072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6" name="Connector 47"/>
          <p:cNvSpPr/>
          <p:nvPr/>
        </p:nvSpPr>
        <p:spPr>
          <a:xfrm flipH="1">
            <a:off x="12344399" y="3749038"/>
            <a:ext cx="3840481" cy="576072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7" name="Connector 48"/>
          <p:cNvSpPr/>
          <p:nvPr/>
        </p:nvSpPr>
        <p:spPr>
          <a:xfrm flipH="1">
            <a:off x="14904719" y="3749038"/>
            <a:ext cx="1417321" cy="576072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8" name="Connector 49"/>
          <p:cNvSpPr/>
          <p:nvPr/>
        </p:nvSpPr>
        <p:spPr>
          <a:xfrm>
            <a:off x="16459200" y="3749038"/>
            <a:ext cx="1005840" cy="576072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9" name="Connector 50"/>
          <p:cNvSpPr/>
          <p:nvPr/>
        </p:nvSpPr>
        <p:spPr>
          <a:xfrm>
            <a:off x="16596358" y="3749038"/>
            <a:ext cx="3429003" cy="5760722"/>
          </a:xfrm>
          <a:prstGeom prst="line">
            <a:avLst/>
          </a:prstGeom>
          <a:ln w="18288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0" name="Connector 51"/>
          <p:cNvSpPr/>
          <p:nvPr/>
        </p:nvSpPr>
        <p:spPr>
          <a:xfrm flipH="1">
            <a:off x="2267711" y="3749038"/>
            <a:ext cx="16157449" cy="576072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1" name="Connector 52"/>
          <p:cNvSpPr/>
          <p:nvPr/>
        </p:nvSpPr>
        <p:spPr>
          <a:xfrm flipH="1">
            <a:off x="4828032" y="3749038"/>
            <a:ext cx="13734288" cy="576072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2" name="Connector 53"/>
          <p:cNvSpPr/>
          <p:nvPr/>
        </p:nvSpPr>
        <p:spPr>
          <a:xfrm flipH="1">
            <a:off x="7388352" y="3749038"/>
            <a:ext cx="11311129" cy="576072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3" name="Connector 54"/>
          <p:cNvSpPr/>
          <p:nvPr/>
        </p:nvSpPr>
        <p:spPr>
          <a:xfrm flipH="1">
            <a:off x="9948672" y="3749038"/>
            <a:ext cx="8887969" cy="576072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4" name="Connector 55"/>
          <p:cNvSpPr/>
          <p:nvPr/>
        </p:nvSpPr>
        <p:spPr>
          <a:xfrm flipH="1">
            <a:off x="12508992" y="3749038"/>
            <a:ext cx="6464809" cy="576072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5" name="Connector 56"/>
          <p:cNvSpPr/>
          <p:nvPr/>
        </p:nvSpPr>
        <p:spPr>
          <a:xfrm flipH="1">
            <a:off x="15069312" y="3749038"/>
            <a:ext cx="4041649" cy="576072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6" name="Connector 57"/>
          <p:cNvSpPr/>
          <p:nvPr/>
        </p:nvSpPr>
        <p:spPr>
          <a:xfrm flipH="1">
            <a:off x="17629632" y="3749038"/>
            <a:ext cx="1618489" cy="576072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7" name="Connector 58"/>
          <p:cNvSpPr/>
          <p:nvPr/>
        </p:nvSpPr>
        <p:spPr>
          <a:xfrm>
            <a:off x="19385280" y="3749038"/>
            <a:ext cx="804673" cy="5760722"/>
          </a:xfrm>
          <a:prstGeom prst="line">
            <a:avLst/>
          </a:prstGeom>
          <a:ln w="18288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8" name="Rectangle 59"/>
          <p:cNvSpPr/>
          <p:nvPr/>
        </p:nvSpPr>
        <p:spPr>
          <a:xfrm>
            <a:off x="1463039" y="2743200"/>
            <a:ext cx="1645921" cy="1005839"/>
          </a:xfrm>
          <a:prstGeom prst="rect">
            <a:avLst/>
          </a:prstGeom>
          <a:solidFill>
            <a:srgbClr val="B5DC86"/>
          </a:solidFill>
          <a:ln w="27432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TextBox 60"/>
          <p:cNvSpPr txBox="1"/>
          <p:nvPr/>
        </p:nvSpPr>
        <p:spPr>
          <a:xfrm>
            <a:off x="1752463" y="2889504"/>
            <a:ext cx="106707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620" name="TextBox 61"/>
          <p:cNvSpPr txBox="1"/>
          <p:nvPr/>
        </p:nvSpPr>
        <p:spPr>
          <a:xfrm>
            <a:off x="1790470" y="3175254"/>
            <a:ext cx="99106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L1-N0-S0</a:t>
            </a:r>
          </a:p>
        </p:txBody>
      </p:sp>
      <p:sp>
        <p:nvSpPr>
          <p:cNvPr id="621" name="TextBox 62"/>
          <p:cNvSpPr txBox="1"/>
          <p:nvPr/>
        </p:nvSpPr>
        <p:spPr>
          <a:xfrm>
            <a:off x="1726986" y="1874518"/>
            <a:ext cx="111802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E58A24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To ALL 16 L2</a:t>
            </a:r>
          </a:p>
        </p:txBody>
      </p:sp>
      <p:sp>
        <p:nvSpPr>
          <p:cNvPr id="622" name="TextBox 63"/>
          <p:cNvSpPr txBox="1"/>
          <p:nvPr/>
        </p:nvSpPr>
        <p:spPr>
          <a:xfrm>
            <a:off x="1665361" y="2125979"/>
            <a:ext cx="124127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E58A24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in Sub-plane 0</a:t>
            </a:r>
          </a:p>
        </p:txBody>
      </p:sp>
      <p:sp>
        <p:nvSpPr>
          <p:cNvPr id="623" name="Connector 64"/>
          <p:cNvSpPr/>
          <p:nvPr/>
        </p:nvSpPr>
        <p:spPr>
          <a:xfrm flipV="1">
            <a:off x="2286000" y="2450592"/>
            <a:ext cx="0" cy="292609"/>
          </a:xfrm>
          <a:prstGeom prst="line">
            <a:avLst/>
          </a:prstGeom>
          <a:ln w="27432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4" name="Rectangle 65"/>
          <p:cNvSpPr/>
          <p:nvPr/>
        </p:nvSpPr>
        <p:spPr>
          <a:xfrm>
            <a:off x="4251959" y="2743200"/>
            <a:ext cx="1645921" cy="1005839"/>
          </a:xfrm>
          <a:prstGeom prst="rect">
            <a:avLst/>
          </a:prstGeom>
          <a:solidFill>
            <a:srgbClr val="B5DC86"/>
          </a:solidFill>
          <a:ln w="27432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5" name="TextBox 66"/>
          <p:cNvSpPr txBox="1"/>
          <p:nvPr/>
        </p:nvSpPr>
        <p:spPr>
          <a:xfrm>
            <a:off x="4541383" y="2889504"/>
            <a:ext cx="106707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626" name="TextBox 67"/>
          <p:cNvSpPr txBox="1"/>
          <p:nvPr/>
        </p:nvSpPr>
        <p:spPr>
          <a:xfrm>
            <a:off x="4579390" y="3175254"/>
            <a:ext cx="99106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L1-N0-S1</a:t>
            </a:r>
          </a:p>
        </p:txBody>
      </p:sp>
      <p:sp>
        <p:nvSpPr>
          <p:cNvPr id="627" name="TextBox 68"/>
          <p:cNvSpPr txBox="1"/>
          <p:nvPr/>
        </p:nvSpPr>
        <p:spPr>
          <a:xfrm>
            <a:off x="4515906" y="1874518"/>
            <a:ext cx="111802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447AC3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To ALL 16 L2</a:t>
            </a:r>
          </a:p>
        </p:txBody>
      </p:sp>
      <p:sp>
        <p:nvSpPr>
          <p:cNvPr id="628" name="TextBox 69"/>
          <p:cNvSpPr txBox="1"/>
          <p:nvPr/>
        </p:nvSpPr>
        <p:spPr>
          <a:xfrm>
            <a:off x="4454281" y="2125979"/>
            <a:ext cx="124127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447AC3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in Sub-plane 1</a:t>
            </a:r>
          </a:p>
        </p:txBody>
      </p:sp>
      <p:sp>
        <p:nvSpPr>
          <p:cNvPr id="629" name="Connector 70"/>
          <p:cNvSpPr/>
          <p:nvPr/>
        </p:nvSpPr>
        <p:spPr>
          <a:xfrm flipV="1">
            <a:off x="5074920" y="2450592"/>
            <a:ext cx="1" cy="292609"/>
          </a:xfrm>
          <a:prstGeom prst="line">
            <a:avLst/>
          </a:prstGeom>
          <a:ln w="27432">
            <a:solidFill>
              <a:srgbClr val="447AC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0" name="Rectangle 71"/>
          <p:cNvSpPr/>
          <p:nvPr/>
        </p:nvSpPr>
        <p:spPr>
          <a:xfrm>
            <a:off x="7040880" y="2743200"/>
            <a:ext cx="1645921" cy="1005839"/>
          </a:xfrm>
          <a:prstGeom prst="rect">
            <a:avLst/>
          </a:prstGeom>
          <a:solidFill>
            <a:srgbClr val="B5DC86"/>
          </a:solidFill>
          <a:ln w="27432">
            <a:solidFill>
              <a:srgbClr val="268C6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1" name="TextBox 72"/>
          <p:cNvSpPr txBox="1"/>
          <p:nvPr/>
        </p:nvSpPr>
        <p:spPr>
          <a:xfrm>
            <a:off x="7330303" y="2889504"/>
            <a:ext cx="106707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632" name="TextBox 73"/>
          <p:cNvSpPr txBox="1"/>
          <p:nvPr/>
        </p:nvSpPr>
        <p:spPr>
          <a:xfrm>
            <a:off x="7368310" y="3175254"/>
            <a:ext cx="99106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L1-N0-S2</a:t>
            </a:r>
          </a:p>
        </p:txBody>
      </p:sp>
      <p:sp>
        <p:nvSpPr>
          <p:cNvPr id="633" name="TextBox 74"/>
          <p:cNvSpPr txBox="1"/>
          <p:nvPr/>
        </p:nvSpPr>
        <p:spPr>
          <a:xfrm>
            <a:off x="7304826" y="1874518"/>
            <a:ext cx="111802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68C68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To ALL 16 L2</a:t>
            </a:r>
          </a:p>
        </p:txBody>
      </p:sp>
      <p:sp>
        <p:nvSpPr>
          <p:cNvPr id="634" name="TextBox 75"/>
          <p:cNvSpPr txBox="1"/>
          <p:nvPr/>
        </p:nvSpPr>
        <p:spPr>
          <a:xfrm>
            <a:off x="7243201" y="2125979"/>
            <a:ext cx="124127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268C68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in Sub-plane 2</a:t>
            </a:r>
          </a:p>
        </p:txBody>
      </p:sp>
      <p:sp>
        <p:nvSpPr>
          <p:cNvPr id="635" name="Connector 76"/>
          <p:cNvSpPr/>
          <p:nvPr/>
        </p:nvSpPr>
        <p:spPr>
          <a:xfrm flipV="1">
            <a:off x="7863840" y="2450592"/>
            <a:ext cx="1" cy="292609"/>
          </a:xfrm>
          <a:prstGeom prst="line">
            <a:avLst/>
          </a:prstGeom>
          <a:ln w="27432">
            <a:solidFill>
              <a:srgbClr val="268C6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6" name="Rectangle 77"/>
          <p:cNvSpPr/>
          <p:nvPr/>
        </p:nvSpPr>
        <p:spPr>
          <a:xfrm>
            <a:off x="9829799" y="2743200"/>
            <a:ext cx="1645922" cy="1005839"/>
          </a:xfrm>
          <a:prstGeom prst="rect">
            <a:avLst/>
          </a:prstGeom>
          <a:solidFill>
            <a:srgbClr val="B5DC86"/>
          </a:solidFill>
          <a:ln w="27432">
            <a:solidFill>
              <a:srgbClr val="8062A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7" name="TextBox 78"/>
          <p:cNvSpPr txBox="1"/>
          <p:nvPr/>
        </p:nvSpPr>
        <p:spPr>
          <a:xfrm>
            <a:off x="10119223" y="2889504"/>
            <a:ext cx="106707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638" name="TextBox 79"/>
          <p:cNvSpPr txBox="1"/>
          <p:nvPr/>
        </p:nvSpPr>
        <p:spPr>
          <a:xfrm>
            <a:off x="10157230" y="3175254"/>
            <a:ext cx="99106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L1-N0-S3</a:t>
            </a:r>
          </a:p>
        </p:txBody>
      </p:sp>
      <p:sp>
        <p:nvSpPr>
          <p:cNvPr id="639" name="TextBox 80"/>
          <p:cNvSpPr txBox="1"/>
          <p:nvPr/>
        </p:nvSpPr>
        <p:spPr>
          <a:xfrm>
            <a:off x="10093746" y="1874518"/>
            <a:ext cx="111802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8062AC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To ALL 16 L2</a:t>
            </a:r>
          </a:p>
        </p:txBody>
      </p:sp>
      <p:sp>
        <p:nvSpPr>
          <p:cNvPr id="640" name="TextBox 81"/>
          <p:cNvSpPr txBox="1"/>
          <p:nvPr/>
        </p:nvSpPr>
        <p:spPr>
          <a:xfrm>
            <a:off x="10032121" y="2125979"/>
            <a:ext cx="124127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8062AC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in Sub-plane 3</a:t>
            </a:r>
          </a:p>
        </p:txBody>
      </p:sp>
      <p:sp>
        <p:nvSpPr>
          <p:cNvPr id="641" name="Connector 82"/>
          <p:cNvSpPr/>
          <p:nvPr/>
        </p:nvSpPr>
        <p:spPr>
          <a:xfrm flipV="1">
            <a:off x="10652759" y="2450592"/>
            <a:ext cx="1" cy="292609"/>
          </a:xfrm>
          <a:prstGeom prst="line">
            <a:avLst/>
          </a:prstGeom>
          <a:ln w="27432">
            <a:solidFill>
              <a:srgbClr val="8062AC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2" name="Rectangle 83"/>
          <p:cNvSpPr/>
          <p:nvPr/>
        </p:nvSpPr>
        <p:spPr>
          <a:xfrm>
            <a:off x="12618719" y="2743200"/>
            <a:ext cx="1645921" cy="1005839"/>
          </a:xfrm>
          <a:prstGeom prst="rect">
            <a:avLst/>
          </a:prstGeom>
          <a:solidFill>
            <a:srgbClr val="B5DC86"/>
          </a:solidFill>
          <a:ln w="27432">
            <a:solidFill>
              <a:srgbClr val="A77D2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3" name="TextBox 84"/>
          <p:cNvSpPr txBox="1"/>
          <p:nvPr/>
        </p:nvSpPr>
        <p:spPr>
          <a:xfrm>
            <a:off x="12908143" y="2889504"/>
            <a:ext cx="106707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644" name="TextBox 85"/>
          <p:cNvSpPr txBox="1"/>
          <p:nvPr/>
        </p:nvSpPr>
        <p:spPr>
          <a:xfrm>
            <a:off x="12946150" y="3175254"/>
            <a:ext cx="99106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L1-N0-S4</a:t>
            </a:r>
          </a:p>
        </p:txBody>
      </p:sp>
      <p:sp>
        <p:nvSpPr>
          <p:cNvPr id="645" name="TextBox 86"/>
          <p:cNvSpPr txBox="1"/>
          <p:nvPr/>
        </p:nvSpPr>
        <p:spPr>
          <a:xfrm>
            <a:off x="12882665" y="1874518"/>
            <a:ext cx="111802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A77D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To ALL 16 L2</a:t>
            </a:r>
          </a:p>
        </p:txBody>
      </p:sp>
      <p:sp>
        <p:nvSpPr>
          <p:cNvPr id="646" name="TextBox 87"/>
          <p:cNvSpPr txBox="1"/>
          <p:nvPr/>
        </p:nvSpPr>
        <p:spPr>
          <a:xfrm>
            <a:off x="12821041" y="2125979"/>
            <a:ext cx="124127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A77D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in Sub-plane 4</a:t>
            </a:r>
          </a:p>
        </p:txBody>
      </p:sp>
      <p:sp>
        <p:nvSpPr>
          <p:cNvPr id="647" name="Connector 88"/>
          <p:cNvSpPr/>
          <p:nvPr/>
        </p:nvSpPr>
        <p:spPr>
          <a:xfrm flipV="1">
            <a:off x="13441680" y="2450592"/>
            <a:ext cx="1" cy="292609"/>
          </a:xfrm>
          <a:prstGeom prst="line">
            <a:avLst/>
          </a:prstGeom>
          <a:ln w="27432">
            <a:solidFill>
              <a:srgbClr val="A77D2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8" name="Rectangle 89"/>
          <p:cNvSpPr/>
          <p:nvPr/>
        </p:nvSpPr>
        <p:spPr>
          <a:xfrm>
            <a:off x="15407639" y="2743200"/>
            <a:ext cx="1645921" cy="1005839"/>
          </a:xfrm>
          <a:prstGeom prst="rect">
            <a:avLst/>
          </a:prstGeom>
          <a:solidFill>
            <a:srgbClr val="B5DC86"/>
          </a:solidFill>
          <a:ln w="27432">
            <a:solidFill>
              <a:srgbClr val="329CA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9" name="TextBox 90"/>
          <p:cNvSpPr txBox="1"/>
          <p:nvPr/>
        </p:nvSpPr>
        <p:spPr>
          <a:xfrm>
            <a:off x="15697063" y="2889504"/>
            <a:ext cx="106707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650" name="TextBox 91"/>
          <p:cNvSpPr txBox="1"/>
          <p:nvPr/>
        </p:nvSpPr>
        <p:spPr>
          <a:xfrm>
            <a:off x="15735070" y="3175254"/>
            <a:ext cx="99106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L1-N0-S5</a:t>
            </a:r>
          </a:p>
        </p:txBody>
      </p:sp>
      <p:sp>
        <p:nvSpPr>
          <p:cNvPr id="651" name="TextBox 92"/>
          <p:cNvSpPr txBox="1"/>
          <p:nvPr/>
        </p:nvSpPr>
        <p:spPr>
          <a:xfrm>
            <a:off x="15671586" y="1874518"/>
            <a:ext cx="111802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329CA5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To ALL 16 L2</a:t>
            </a:r>
          </a:p>
        </p:txBody>
      </p:sp>
      <p:sp>
        <p:nvSpPr>
          <p:cNvPr id="652" name="TextBox 93"/>
          <p:cNvSpPr txBox="1"/>
          <p:nvPr/>
        </p:nvSpPr>
        <p:spPr>
          <a:xfrm>
            <a:off x="15609961" y="2125979"/>
            <a:ext cx="124127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329CA5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in Sub-plane 5</a:t>
            </a:r>
          </a:p>
        </p:txBody>
      </p:sp>
      <p:sp>
        <p:nvSpPr>
          <p:cNvPr id="653" name="Connector 94"/>
          <p:cNvSpPr/>
          <p:nvPr/>
        </p:nvSpPr>
        <p:spPr>
          <a:xfrm flipV="1">
            <a:off x="16230600" y="2450592"/>
            <a:ext cx="0" cy="292609"/>
          </a:xfrm>
          <a:prstGeom prst="line">
            <a:avLst/>
          </a:prstGeom>
          <a:ln w="27432">
            <a:solidFill>
              <a:srgbClr val="329CA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54" name="Rectangle 95"/>
          <p:cNvSpPr/>
          <p:nvPr/>
        </p:nvSpPr>
        <p:spPr>
          <a:xfrm>
            <a:off x="18196560" y="2743200"/>
            <a:ext cx="1645921" cy="1005839"/>
          </a:xfrm>
          <a:prstGeom prst="rect">
            <a:avLst/>
          </a:prstGeom>
          <a:solidFill>
            <a:srgbClr val="B5DC86"/>
          </a:solidFill>
          <a:ln w="27432">
            <a:solidFill>
              <a:srgbClr val="CF4B4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5" name="TextBox 96"/>
          <p:cNvSpPr txBox="1"/>
          <p:nvPr/>
        </p:nvSpPr>
        <p:spPr>
          <a:xfrm>
            <a:off x="18485983" y="2889504"/>
            <a:ext cx="106707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656" name="TextBox 97"/>
          <p:cNvSpPr txBox="1"/>
          <p:nvPr/>
        </p:nvSpPr>
        <p:spPr>
          <a:xfrm>
            <a:off x="18523990" y="3175254"/>
            <a:ext cx="99106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L1-N0-S6</a:t>
            </a:r>
          </a:p>
        </p:txBody>
      </p:sp>
      <p:sp>
        <p:nvSpPr>
          <p:cNvPr id="657" name="TextBox 98"/>
          <p:cNvSpPr txBox="1"/>
          <p:nvPr/>
        </p:nvSpPr>
        <p:spPr>
          <a:xfrm>
            <a:off x="18460505" y="1874518"/>
            <a:ext cx="111802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CF4B4B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To ALL 16 L2</a:t>
            </a:r>
          </a:p>
        </p:txBody>
      </p:sp>
      <p:sp>
        <p:nvSpPr>
          <p:cNvPr id="658" name="TextBox 99"/>
          <p:cNvSpPr txBox="1"/>
          <p:nvPr/>
        </p:nvSpPr>
        <p:spPr>
          <a:xfrm>
            <a:off x="18398881" y="2125979"/>
            <a:ext cx="124127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500">
                <a:solidFill>
                  <a:srgbClr val="CF4B4B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in Sub-plane 6</a:t>
            </a:r>
          </a:p>
        </p:txBody>
      </p:sp>
      <p:sp>
        <p:nvSpPr>
          <p:cNvPr id="659" name="Connector 100"/>
          <p:cNvSpPr/>
          <p:nvPr/>
        </p:nvSpPr>
        <p:spPr>
          <a:xfrm flipV="1">
            <a:off x="19019519" y="2450592"/>
            <a:ext cx="1" cy="292609"/>
          </a:xfrm>
          <a:prstGeom prst="line">
            <a:avLst/>
          </a:prstGeom>
          <a:ln w="27432">
            <a:solidFill>
              <a:srgbClr val="CF4B4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0" name="Rectangle 101"/>
          <p:cNvSpPr/>
          <p:nvPr/>
        </p:nvSpPr>
        <p:spPr>
          <a:xfrm>
            <a:off x="1051560" y="9509759"/>
            <a:ext cx="1737361" cy="96012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1" name="TextBox 102"/>
          <p:cNvSpPr txBox="1"/>
          <p:nvPr/>
        </p:nvSpPr>
        <p:spPr>
          <a:xfrm>
            <a:off x="1614646" y="9656064"/>
            <a:ext cx="61118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0</a:t>
            </a:r>
          </a:p>
        </p:txBody>
      </p:sp>
      <p:sp>
        <p:nvSpPr>
          <p:cNvPr id="662" name="TextBox 103"/>
          <p:cNvSpPr txBox="1"/>
          <p:nvPr/>
        </p:nvSpPr>
        <p:spPr>
          <a:xfrm>
            <a:off x="1591974" y="9918954"/>
            <a:ext cx="65653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Rank 0</a:t>
            </a:r>
          </a:p>
        </p:txBody>
      </p:sp>
      <p:sp>
        <p:nvSpPr>
          <p:cNvPr id="663" name="Rectangle 104"/>
          <p:cNvSpPr/>
          <p:nvPr/>
        </p:nvSpPr>
        <p:spPr>
          <a:xfrm>
            <a:off x="3611879" y="9509759"/>
            <a:ext cx="1737361" cy="96012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4" name="TextBox 105"/>
          <p:cNvSpPr txBox="1"/>
          <p:nvPr/>
        </p:nvSpPr>
        <p:spPr>
          <a:xfrm>
            <a:off x="4174966" y="9656064"/>
            <a:ext cx="61118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1</a:t>
            </a:r>
          </a:p>
        </p:txBody>
      </p:sp>
      <p:sp>
        <p:nvSpPr>
          <p:cNvPr id="665" name="TextBox 106"/>
          <p:cNvSpPr txBox="1"/>
          <p:nvPr/>
        </p:nvSpPr>
        <p:spPr>
          <a:xfrm>
            <a:off x="4152294" y="9918954"/>
            <a:ext cx="65653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Rank 1</a:t>
            </a:r>
          </a:p>
        </p:txBody>
      </p:sp>
      <p:sp>
        <p:nvSpPr>
          <p:cNvPr id="666" name="Rectangle 107"/>
          <p:cNvSpPr/>
          <p:nvPr/>
        </p:nvSpPr>
        <p:spPr>
          <a:xfrm>
            <a:off x="6172199" y="9509759"/>
            <a:ext cx="1737362" cy="96012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7" name="TextBox 108"/>
          <p:cNvSpPr txBox="1"/>
          <p:nvPr/>
        </p:nvSpPr>
        <p:spPr>
          <a:xfrm>
            <a:off x="6735286" y="9656064"/>
            <a:ext cx="61118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2</a:t>
            </a:r>
          </a:p>
        </p:txBody>
      </p:sp>
      <p:sp>
        <p:nvSpPr>
          <p:cNvPr id="668" name="TextBox 109"/>
          <p:cNvSpPr txBox="1"/>
          <p:nvPr/>
        </p:nvSpPr>
        <p:spPr>
          <a:xfrm>
            <a:off x="6712614" y="9918954"/>
            <a:ext cx="65653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Rank 2</a:t>
            </a:r>
          </a:p>
        </p:txBody>
      </p:sp>
      <p:sp>
        <p:nvSpPr>
          <p:cNvPr id="669" name="Rectangle 110"/>
          <p:cNvSpPr/>
          <p:nvPr/>
        </p:nvSpPr>
        <p:spPr>
          <a:xfrm>
            <a:off x="8732519" y="9509759"/>
            <a:ext cx="1737361" cy="96012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0" name="TextBox 111"/>
          <p:cNvSpPr txBox="1"/>
          <p:nvPr/>
        </p:nvSpPr>
        <p:spPr>
          <a:xfrm>
            <a:off x="9295606" y="9656064"/>
            <a:ext cx="61118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3</a:t>
            </a:r>
          </a:p>
        </p:txBody>
      </p:sp>
      <p:sp>
        <p:nvSpPr>
          <p:cNvPr id="671" name="TextBox 112"/>
          <p:cNvSpPr txBox="1"/>
          <p:nvPr/>
        </p:nvSpPr>
        <p:spPr>
          <a:xfrm>
            <a:off x="9272934" y="9918954"/>
            <a:ext cx="65653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Rank 3</a:t>
            </a:r>
          </a:p>
        </p:txBody>
      </p:sp>
      <p:sp>
        <p:nvSpPr>
          <p:cNvPr id="672" name="Rectangle 113"/>
          <p:cNvSpPr/>
          <p:nvPr/>
        </p:nvSpPr>
        <p:spPr>
          <a:xfrm>
            <a:off x="11292840" y="9509759"/>
            <a:ext cx="1737361" cy="96012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3" name="TextBox 114"/>
          <p:cNvSpPr txBox="1"/>
          <p:nvPr/>
        </p:nvSpPr>
        <p:spPr>
          <a:xfrm>
            <a:off x="11855926" y="9656064"/>
            <a:ext cx="61118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4</a:t>
            </a:r>
          </a:p>
        </p:txBody>
      </p:sp>
      <p:sp>
        <p:nvSpPr>
          <p:cNvPr id="674" name="TextBox 115"/>
          <p:cNvSpPr txBox="1"/>
          <p:nvPr/>
        </p:nvSpPr>
        <p:spPr>
          <a:xfrm>
            <a:off x="11833254" y="9918954"/>
            <a:ext cx="65653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Rank 4</a:t>
            </a:r>
          </a:p>
        </p:txBody>
      </p:sp>
      <p:sp>
        <p:nvSpPr>
          <p:cNvPr id="675" name="Rectangle 116"/>
          <p:cNvSpPr/>
          <p:nvPr/>
        </p:nvSpPr>
        <p:spPr>
          <a:xfrm>
            <a:off x="13853160" y="9509759"/>
            <a:ext cx="1737361" cy="96012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" name="TextBox 117"/>
          <p:cNvSpPr txBox="1"/>
          <p:nvPr/>
        </p:nvSpPr>
        <p:spPr>
          <a:xfrm>
            <a:off x="14416246" y="9656064"/>
            <a:ext cx="61118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5</a:t>
            </a:r>
          </a:p>
        </p:txBody>
      </p:sp>
      <p:sp>
        <p:nvSpPr>
          <p:cNvPr id="677" name="TextBox 118"/>
          <p:cNvSpPr txBox="1"/>
          <p:nvPr/>
        </p:nvSpPr>
        <p:spPr>
          <a:xfrm>
            <a:off x="14393574" y="9918954"/>
            <a:ext cx="65653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Rank 5</a:t>
            </a:r>
          </a:p>
        </p:txBody>
      </p:sp>
      <p:sp>
        <p:nvSpPr>
          <p:cNvPr id="678" name="Rectangle 119"/>
          <p:cNvSpPr/>
          <p:nvPr/>
        </p:nvSpPr>
        <p:spPr>
          <a:xfrm>
            <a:off x="16413480" y="9509759"/>
            <a:ext cx="1737361" cy="96012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9" name="TextBox 120"/>
          <p:cNvSpPr txBox="1"/>
          <p:nvPr/>
        </p:nvSpPr>
        <p:spPr>
          <a:xfrm>
            <a:off x="16976566" y="9656064"/>
            <a:ext cx="61118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6</a:t>
            </a:r>
          </a:p>
        </p:txBody>
      </p:sp>
      <p:sp>
        <p:nvSpPr>
          <p:cNvPr id="680" name="TextBox 121"/>
          <p:cNvSpPr txBox="1"/>
          <p:nvPr/>
        </p:nvSpPr>
        <p:spPr>
          <a:xfrm>
            <a:off x="16953894" y="9918954"/>
            <a:ext cx="65653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Rank 6</a:t>
            </a:r>
          </a:p>
        </p:txBody>
      </p:sp>
      <p:sp>
        <p:nvSpPr>
          <p:cNvPr id="681" name="Rectangle 122"/>
          <p:cNvSpPr/>
          <p:nvPr/>
        </p:nvSpPr>
        <p:spPr>
          <a:xfrm>
            <a:off x="18973799" y="9509759"/>
            <a:ext cx="1737362" cy="960121"/>
          </a:xfrm>
          <a:prstGeom prst="rect">
            <a:avLst/>
          </a:prstGeom>
          <a:solidFill>
            <a:srgbClr val="E7EFFB"/>
          </a:solidFill>
          <a:ln w="18288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2" name="TextBox 123"/>
          <p:cNvSpPr txBox="1"/>
          <p:nvPr/>
        </p:nvSpPr>
        <p:spPr>
          <a:xfrm>
            <a:off x="19536886" y="9656064"/>
            <a:ext cx="61118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 7</a:t>
            </a:r>
          </a:p>
        </p:txBody>
      </p:sp>
      <p:sp>
        <p:nvSpPr>
          <p:cNvPr id="683" name="TextBox 124"/>
          <p:cNvSpPr txBox="1"/>
          <p:nvPr/>
        </p:nvSpPr>
        <p:spPr>
          <a:xfrm>
            <a:off x="19514215" y="9918954"/>
            <a:ext cx="65653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6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Rank 7</a:t>
            </a:r>
          </a:p>
        </p:txBody>
      </p:sp>
      <p:sp>
        <p:nvSpPr>
          <p:cNvPr id="684" name="TextBox 125"/>
          <p:cNvSpPr txBox="1"/>
          <p:nvPr/>
        </p:nvSpPr>
        <p:spPr>
          <a:xfrm>
            <a:off x="6895573" y="11155680"/>
            <a:ext cx="815445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9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Each colored line: one logical bidirectional edge, 56 GB/s in EACH direction.</a:t>
            </a:r>
          </a:p>
        </p:txBody>
      </p:sp>
      <p:sp>
        <p:nvSpPr>
          <p:cNvPr id="685" name="TextBox 126"/>
          <p:cNvSpPr txBox="1"/>
          <p:nvPr/>
        </p:nvSpPr>
        <p:spPr>
          <a:xfrm>
            <a:off x="7273010" y="11612880"/>
            <a:ext cx="739958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56 GB/s aggregates the two 910C dies: 28 + 28 GB/s to each local L1 switch.</a:t>
            </a:r>
          </a:p>
        </p:txBody>
      </p:sp>
      <p:sp>
        <p:nvSpPr>
          <p:cNvPr id="686" name="TextBox 127"/>
          <p:cNvSpPr txBox="1"/>
          <p:nvPr/>
        </p:nvSpPr>
        <p:spPr>
          <a:xfrm>
            <a:off x="7063593" y="12070080"/>
            <a:ext cx="7818414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Per NPU: 7 x 56 = 392 GB/s per direction. No direct NPU-NPU edges are implied.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TextBox 1"/>
          <p:cNvSpPr txBox="1"/>
          <p:nvPr/>
        </p:nvSpPr>
        <p:spPr>
          <a:xfrm>
            <a:off x="640080" y="320040"/>
            <a:ext cx="967735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One Sub-plane: all 16 L2 switches and all uplinks are expanded</a:t>
            </a:r>
          </a:p>
        </p:txBody>
      </p:sp>
      <p:sp>
        <p:nvSpPr>
          <p:cNvPr id="689" name="TextBox 2"/>
          <p:cNvSpPr txBox="1"/>
          <p:nvPr/>
        </p:nvSpPr>
        <p:spPr>
          <a:xfrm>
            <a:off x="640080" y="960119"/>
            <a:ext cx="818414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Shown: Node 0, Node 1 and Node 47. Nodes 2-46 repeat the same connections.</a:t>
            </a:r>
          </a:p>
        </p:txBody>
      </p:sp>
      <p:sp>
        <p:nvSpPr>
          <p:cNvPr id="690" name="Connector 3"/>
          <p:cNvSpPr/>
          <p:nvPr/>
        </p:nvSpPr>
        <p:spPr>
          <a:xfrm flipH="1" flipV="1">
            <a:off x="1188719" y="3017520"/>
            <a:ext cx="1600201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1" name="Connector 4"/>
          <p:cNvSpPr/>
          <p:nvPr/>
        </p:nvSpPr>
        <p:spPr>
          <a:xfrm flipH="1" flipV="1">
            <a:off x="2496311" y="3017520"/>
            <a:ext cx="374905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2" name="Connector 5"/>
          <p:cNvSpPr/>
          <p:nvPr/>
        </p:nvSpPr>
        <p:spPr>
          <a:xfrm flipV="1">
            <a:off x="2953511" y="3017520"/>
            <a:ext cx="850393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3" name="Connector 6"/>
          <p:cNvSpPr/>
          <p:nvPr/>
        </p:nvSpPr>
        <p:spPr>
          <a:xfrm flipV="1">
            <a:off x="3035807" y="3017520"/>
            <a:ext cx="2075689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4" name="Connector 7"/>
          <p:cNvSpPr/>
          <p:nvPr/>
        </p:nvSpPr>
        <p:spPr>
          <a:xfrm flipV="1">
            <a:off x="3118103" y="3017520"/>
            <a:ext cx="3300986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5" name="Connector 8"/>
          <p:cNvSpPr/>
          <p:nvPr/>
        </p:nvSpPr>
        <p:spPr>
          <a:xfrm flipV="1">
            <a:off x="3200399" y="3017520"/>
            <a:ext cx="4526280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6" name="Connector 9"/>
          <p:cNvSpPr/>
          <p:nvPr/>
        </p:nvSpPr>
        <p:spPr>
          <a:xfrm flipV="1">
            <a:off x="3282696" y="3017520"/>
            <a:ext cx="5751577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7" name="Connector 10"/>
          <p:cNvSpPr/>
          <p:nvPr/>
        </p:nvSpPr>
        <p:spPr>
          <a:xfrm flipV="1">
            <a:off x="3364991" y="3017520"/>
            <a:ext cx="6976874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8" name="Connector 11"/>
          <p:cNvSpPr/>
          <p:nvPr/>
        </p:nvSpPr>
        <p:spPr>
          <a:xfrm flipV="1">
            <a:off x="3447287" y="3017520"/>
            <a:ext cx="8202169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9" name="Connector 12"/>
          <p:cNvSpPr/>
          <p:nvPr/>
        </p:nvSpPr>
        <p:spPr>
          <a:xfrm flipV="1">
            <a:off x="3529584" y="3017520"/>
            <a:ext cx="9427465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0" name="Connector 13"/>
          <p:cNvSpPr/>
          <p:nvPr/>
        </p:nvSpPr>
        <p:spPr>
          <a:xfrm flipV="1">
            <a:off x="3611880" y="3017520"/>
            <a:ext cx="10652761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1" name="Connector 14"/>
          <p:cNvSpPr/>
          <p:nvPr/>
        </p:nvSpPr>
        <p:spPr>
          <a:xfrm flipV="1">
            <a:off x="3694175" y="3017520"/>
            <a:ext cx="11878058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2" name="Connector 15"/>
          <p:cNvSpPr/>
          <p:nvPr/>
        </p:nvSpPr>
        <p:spPr>
          <a:xfrm flipV="1">
            <a:off x="3776471" y="3017520"/>
            <a:ext cx="13103353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3" name="Connector 16"/>
          <p:cNvSpPr/>
          <p:nvPr/>
        </p:nvSpPr>
        <p:spPr>
          <a:xfrm flipV="1">
            <a:off x="3858768" y="3017520"/>
            <a:ext cx="14328649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4" name="Connector 17"/>
          <p:cNvSpPr/>
          <p:nvPr/>
        </p:nvSpPr>
        <p:spPr>
          <a:xfrm flipV="1">
            <a:off x="3941062" y="3017520"/>
            <a:ext cx="15553947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5" name="Connector 18"/>
          <p:cNvSpPr/>
          <p:nvPr/>
        </p:nvSpPr>
        <p:spPr>
          <a:xfrm flipV="1">
            <a:off x="4023360" y="3017520"/>
            <a:ext cx="16779239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6" name="Connector 19"/>
          <p:cNvSpPr/>
          <p:nvPr/>
        </p:nvSpPr>
        <p:spPr>
          <a:xfrm flipH="1" flipV="1">
            <a:off x="1188719" y="3017520"/>
            <a:ext cx="8915401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7" name="Connector 20"/>
          <p:cNvSpPr/>
          <p:nvPr/>
        </p:nvSpPr>
        <p:spPr>
          <a:xfrm flipH="1" flipV="1">
            <a:off x="2496312" y="3017520"/>
            <a:ext cx="7690105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8" name="Connector 21"/>
          <p:cNvSpPr/>
          <p:nvPr/>
        </p:nvSpPr>
        <p:spPr>
          <a:xfrm flipH="1" flipV="1">
            <a:off x="3803903" y="3017520"/>
            <a:ext cx="6464810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9" name="Connector 22"/>
          <p:cNvSpPr/>
          <p:nvPr/>
        </p:nvSpPr>
        <p:spPr>
          <a:xfrm flipH="1" flipV="1">
            <a:off x="5111496" y="3017520"/>
            <a:ext cx="5239513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0" name="Connector 23"/>
          <p:cNvSpPr/>
          <p:nvPr/>
        </p:nvSpPr>
        <p:spPr>
          <a:xfrm flipH="1" flipV="1">
            <a:off x="6419088" y="3017520"/>
            <a:ext cx="4014216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1" name="Connector 24"/>
          <p:cNvSpPr/>
          <p:nvPr/>
        </p:nvSpPr>
        <p:spPr>
          <a:xfrm flipH="1" flipV="1">
            <a:off x="7726678" y="3017520"/>
            <a:ext cx="2788922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2" name="Connector 25"/>
          <p:cNvSpPr/>
          <p:nvPr/>
        </p:nvSpPr>
        <p:spPr>
          <a:xfrm flipH="1" flipV="1">
            <a:off x="9034271" y="3017520"/>
            <a:ext cx="1563625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3" name="Connector 26"/>
          <p:cNvSpPr/>
          <p:nvPr/>
        </p:nvSpPr>
        <p:spPr>
          <a:xfrm flipH="1" flipV="1">
            <a:off x="10341864" y="3017520"/>
            <a:ext cx="338329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4" name="Connector 27"/>
          <p:cNvSpPr/>
          <p:nvPr/>
        </p:nvSpPr>
        <p:spPr>
          <a:xfrm flipV="1">
            <a:off x="10762488" y="3017520"/>
            <a:ext cx="886968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5" name="Connector 28"/>
          <p:cNvSpPr/>
          <p:nvPr/>
        </p:nvSpPr>
        <p:spPr>
          <a:xfrm flipV="1">
            <a:off x="10844783" y="3017520"/>
            <a:ext cx="2112265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6" name="Connector 29"/>
          <p:cNvSpPr/>
          <p:nvPr/>
        </p:nvSpPr>
        <p:spPr>
          <a:xfrm flipV="1">
            <a:off x="10927080" y="3017520"/>
            <a:ext cx="3337560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7" name="Connector 30"/>
          <p:cNvSpPr/>
          <p:nvPr/>
        </p:nvSpPr>
        <p:spPr>
          <a:xfrm flipV="1">
            <a:off x="11009376" y="3017520"/>
            <a:ext cx="4562857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8" name="Connector 31"/>
          <p:cNvSpPr/>
          <p:nvPr/>
        </p:nvSpPr>
        <p:spPr>
          <a:xfrm flipV="1">
            <a:off x="11091671" y="3017520"/>
            <a:ext cx="5788153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9" name="Connector 32"/>
          <p:cNvSpPr/>
          <p:nvPr/>
        </p:nvSpPr>
        <p:spPr>
          <a:xfrm flipV="1">
            <a:off x="11173968" y="3017520"/>
            <a:ext cx="7013449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0" name="Connector 33"/>
          <p:cNvSpPr/>
          <p:nvPr/>
        </p:nvSpPr>
        <p:spPr>
          <a:xfrm flipV="1">
            <a:off x="11256264" y="3017520"/>
            <a:ext cx="8238744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1" name="Connector 34"/>
          <p:cNvSpPr/>
          <p:nvPr/>
        </p:nvSpPr>
        <p:spPr>
          <a:xfrm flipV="1">
            <a:off x="11338559" y="3017520"/>
            <a:ext cx="9464041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2" name="Connector 35"/>
          <p:cNvSpPr/>
          <p:nvPr/>
        </p:nvSpPr>
        <p:spPr>
          <a:xfrm flipH="1" flipV="1">
            <a:off x="1188719" y="3017520"/>
            <a:ext cx="16230601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3" name="Connector 36"/>
          <p:cNvSpPr/>
          <p:nvPr/>
        </p:nvSpPr>
        <p:spPr>
          <a:xfrm flipH="1" flipV="1">
            <a:off x="2496312" y="3017520"/>
            <a:ext cx="15005305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4" name="Connector 37"/>
          <p:cNvSpPr/>
          <p:nvPr/>
        </p:nvSpPr>
        <p:spPr>
          <a:xfrm flipH="1" flipV="1">
            <a:off x="3803904" y="3017520"/>
            <a:ext cx="13780009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5" name="Connector 38"/>
          <p:cNvSpPr/>
          <p:nvPr/>
        </p:nvSpPr>
        <p:spPr>
          <a:xfrm flipH="1" flipV="1">
            <a:off x="5111495" y="3017520"/>
            <a:ext cx="12554714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6" name="Connector 39"/>
          <p:cNvSpPr/>
          <p:nvPr/>
        </p:nvSpPr>
        <p:spPr>
          <a:xfrm flipH="1" flipV="1">
            <a:off x="6419088" y="3017520"/>
            <a:ext cx="11329417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7" name="Connector 40"/>
          <p:cNvSpPr/>
          <p:nvPr/>
        </p:nvSpPr>
        <p:spPr>
          <a:xfrm flipH="1" flipV="1">
            <a:off x="7726678" y="3017520"/>
            <a:ext cx="10104123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8" name="Connector 41"/>
          <p:cNvSpPr/>
          <p:nvPr/>
        </p:nvSpPr>
        <p:spPr>
          <a:xfrm flipH="1" flipV="1">
            <a:off x="9034271" y="3017520"/>
            <a:ext cx="8878825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9" name="Connector 42"/>
          <p:cNvSpPr/>
          <p:nvPr/>
        </p:nvSpPr>
        <p:spPr>
          <a:xfrm flipH="1" flipV="1">
            <a:off x="10341864" y="3017520"/>
            <a:ext cx="7653529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0" name="Connector 43"/>
          <p:cNvSpPr/>
          <p:nvPr/>
        </p:nvSpPr>
        <p:spPr>
          <a:xfrm flipH="1" flipV="1">
            <a:off x="11649456" y="3017520"/>
            <a:ext cx="6428233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1" name="Connector 44"/>
          <p:cNvSpPr/>
          <p:nvPr/>
        </p:nvSpPr>
        <p:spPr>
          <a:xfrm flipH="1" flipV="1">
            <a:off x="12957047" y="3017520"/>
            <a:ext cx="5202937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2" name="Connector 45"/>
          <p:cNvSpPr/>
          <p:nvPr/>
        </p:nvSpPr>
        <p:spPr>
          <a:xfrm flipH="1" flipV="1">
            <a:off x="14264639" y="3017520"/>
            <a:ext cx="3977641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3" name="Connector 46"/>
          <p:cNvSpPr/>
          <p:nvPr/>
        </p:nvSpPr>
        <p:spPr>
          <a:xfrm flipH="1" flipV="1">
            <a:off x="15572232" y="3017520"/>
            <a:ext cx="2752345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4" name="Connector 47"/>
          <p:cNvSpPr/>
          <p:nvPr/>
        </p:nvSpPr>
        <p:spPr>
          <a:xfrm flipH="1" flipV="1">
            <a:off x="16879823" y="3017520"/>
            <a:ext cx="1527049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5" name="Connector 48"/>
          <p:cNvSpPr/>
          <p:nvPr/>
        </p:nvSpPr>
        <p:spPr>
          <a:xfrm flipH="1" flipV="1">
            <a:off x="18187415" y="3017520"/>
            <a:ext cx="301753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6" name="Connector 49"/>
          <p:cNvSpPr/>
          <p:nvPr/>
        </p:nvSpPr>
        <p:spPr>
          <a:xfrm flipV="1">
            <a:off x="18571463" y="3017520"/>
            <a:ext cx="923545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7" name="Connector 50"/>
          <p:cNvSpPr/>
          <p:nvPr/>
        </p:nvSpPr>
        <p:spPr>
          <a:xfrm flipV="1">
            <a:off x="18653760" y="3017520"/>
            <a:ext cx="2148841" cy="4206241"/>
          </a:xfrm>
          <a:prstGeom prst="line">
            <a:avLst/>
          </a:prstGeom>
          <a:ln w="14630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8" name="Rectangle 51"/>
          <p:cNvSpPr/>
          <p:nvPr/>
        </p:nvSpPr>
        <p:spPr>
          <a:xfrm>
            <a:off x="640080" y="2194560"/>
            <a:ext cx="113385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9" name="TextBox 52"/>
          <p:cNvSpPr txBox="1"/>
          <p:nvPr/>
        </p:nvSpPr>
        <p:spPr>
          <a:xfrm>
            <a:off x="905568" y="2322576"/>
            <a:ext cx="60287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L2-P0-S0</a:t>
            </a:r>
          </a:p>
        </p:txBody>
      </p:sp>
      <p:sp>
        <p:nvSpPr>
          <p:cNvPr id="740" name="TextBox 53"/>
          <p:cNvSpPr txBox="1"/>
          <p:nvPr/>
        </p:nvSpPr>
        <p:spPr>
          <a:xfrm>
            <a:off x="948304" y="2505455"/>
            <a:ext cx="51740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28 GB/s</a:t>
            </a:r>
          </a:p>
        </p:txBody>
      </p:sp>
      <p:sp>
        <p:nvSpPr>
          <p:cNvPr id="741" name="Rectangle 54"/>
          <p:cNvSpPr/>
          <p:nvPr/>
        </p:nvSpPr>
        <p:spPr>
          <a:xfrm>
            <a:off x="1947672" y="2194560"/>
            <a:ext cx="1133856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2" name="TextBox 55"/>
          <p:cNvSpPr txBox="1"/>
          <p:nvPr/>
        </p:nvSpPr>
        <p:spPr>
          <a:xfrm>
            <a:off x="2213161" y="2322576"/>
            <a:ext cx="60287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L2-P0-S1</a:t>
            </a:r>
          </a:p>
        </p:txBody>
      </p:sp>
      <p:sp>
        <p:nvSpPr>
          <p:cNvPr id="743" name="TextBox 56"/>
          <p:cNvSpPr txBox="1"/>
          <p:nvPr/>
        </p:nvSpPr>
        <p:spPr>
          <a:xfrm>
            <a:off x="2255896" y="2505455"/>
            <a:ext cx="51740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28 GB/s</a:t>
            </a:r>
          </a:p>
        </p:txBody>
      </p:sp>
      <p:sp>
        <p:nvSpPr>
          <p:cNvPr id="744" name="Rectangle 57"/>
          <p:cNvSpPr/>
          <p:nvPr/>
        </p:nvSpPr>
        <p:spPr>
          <a:xfrm>
            <a:off x="3255264" y="2194560"/>
            <a:ext cx="113385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5" name="TextBox 58"/>
          <p:cNvSpPr txBox="1"/>
          <p:nvPr/>
        </p:nvSpPr>
        <p:spPr>
          <a:xfrm>
            <a:off x="3520752" y="2322576"/>
            <a:ext cx="60287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L2-P0-S2</a:t>
            </a:r>
          </a:p>
        </p:txBody>
      </p:sp>
      <p:sp>
        <p:nvSpPr>
          <p:cNvPr id="746" name="TextBox 59"/>
          <p:cNvSpPr txBox="1"/>
          <p:nvPr/>
        </p:nvSpPr>
        <p:spPr>
          <a:xfrm>
            <a:off x="3563488" y="2505455"/>
            <a:ext cx="51740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28 GB/s</a:t>
            </a:r>
          </a:p>
        </p:txBody>
      </p:sp>
      <p:sp>
        <p:nvSpPr>
          <p:cNvPr id="747" name="Rectangle 60"/>
          <p:cNvSpPr/>
          <p:nvPr/>
        </p:nvSpPr>
        <p:spPr>
          <a:xfrm>
            <a:off x="4562855" y="2194560"/>
            <a:ext cx="113385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8" name="TextBox 61"/>
          <p:cNvSpPr txBox="1"/>
          <p:nvPr/>
        </p:nvSpPr>
        <p:spPr>
          <a:xfrm>
            <a:off x="4828345" y="2322576"/>
            <a:ext cx="60287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L2-P0-S3</a:t>
            </a:r>
          </a:p>
        </p:txBody>
      </p:sp>
      <p:sp>
        <p:nvSpPr>
          <p:cNvPr id="749" name="TextBox 62"/>
          <p:cNvSpPr txBox="1"/>
          <p:nvPr/>
        </p:nvSpPr>
        <p:spPr>
          <a:xfrm>
            <a:off x="4871080" y="2505455"/>
            <a:ext cx="51740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28 GB/s</a:t>
            </a:r>
          </a:p>
        </p:txBody>
      </p:sp>
      <p:sp>
        <p:nvSpPr>
          <p:cNvPr id="750" name="Rectangle 63"/>
          <p:cNvSpPr/>
          <p:nvPr/>
        </p:nvSpPr>
        <p:spPr>
          <a:xfrm>
            <a:off x="5870447" y="2194560"/>
            <a:ext cx="113385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1" name="TextBox 64"/>
          <p:cNvSpPr txBox="1"/>
          <p:nvPr/>
        </p:nvSpPr>
        <p:spPr>
          <a:xfrm>
            <a:off x="6135937" y="2322576"/>
            <a:ext cx="60287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L2-P0-S4</a:t>
            </a:r>
          </a:p>
        </p:txBody>
      </p:sp>
      <p:sp>
        <p:nvSpPr>
          <p:cNvPr id="752" name="TextBox 65"/>
          <p:cNvSpPr txBox="1"/>
          <p:nvPr/>
        </p:nvSpPr>
        <p:spPr>
          <a:xfrm>
            <a:off x="6178672" y="2505455"/>
            <a:ext cx="51740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28 GB/s</a:t>
            </a:r>
          </a:p>
        </p:txBody>
      </p:sp>
      <p:sp>
        <p:nvSpPr>
          <p:cNvPr id="753" name="Rectangle 66"/>
          <p:cNvSpPr/>
          <p:nvPr/>
        </p:nvSpPr>
        <p:spPr>
          <a:xfrm>
            <a:off x="7178040" y="2194560"/>
            <a:ext cx="113385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4" name="TextBox 67"/>
          <p:cNvSpPr txBox="1"/>
          <p:nvPr/>
        </p:nvSpPr>
        <p:spPr>
          <a:xfrm>
            <a:off x="7443528" y="2322576"/>
            <a:ext cx="60287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L2-P0-S5</a:t>
            </a:r>
          </a:p>
        </p:txBody>
      </p:sp>
      <p:sp>
        <p:nvSpPr>
          <p:cNvPr id="755" name="TextBox 68"/>
          <p:cNvSpPr txBox="1"/>
          <p:nvPr/>
        </p:nvSpPr>
        <p:spPr>
          <a:xfrm>
            <a:off x="7486264" y="2505455"/>
            <a:ext cx="51740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28 GB/s</a:t>
            </a:r>
          </a:p>
        </p:txBody>
      </p:sp>
      <p:sp>
        <p:nvSpPr>
          <p:cNvPr id="756" name="Rectangle 69"/>
          <p:cNvSpPr/>
          <p:nvPr/>
        </p:nvSpPr>
        <p:spPr>
          <a:xfrm>
            <a:off x="8485631" y="2194560"/>
            <a:ext cx="113385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7" name="TextBox 70"/>
          <p:cNvSpPr txBox="1"/>
          <p:nvPr/>
        </p:nvSpPr>
        <p:spPr>
          <a:xfrm>
            <a:off x="8751121" y="2322576"/>
            <a:ext cx="60287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L2-P0-S6</a:t>
            </a:r>
          </a:p>
        </p:txBody>
      </p:sp>
      <p:sp>
        <p:nvSpPr>
          <p:cNvPr id="758" name="TextBox 71"/>
          <p:cNvSpPr txBox="1"/>
          <p:nvPr/>
        </p:nvSpPr>
        <p:spPr>
          <a:xfrm>
            <a:off x="8793856" y="2505455"/>
            <a:ext cx="51740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28 GB/s</a:t>
            </a:r>
          </a:p>
        </p:txBody>
      </p:sp>
      <p:sp>
        <p:nvSpPr>
          <p:cNvPr id="759" name="Rectangle 72"/>
          <p:cNvSpPr/>
          <p:nvPr/>
        </p:nvSpPr>
        <p:spPr>
          <a:xfrm>
            <a:off x="9793223" y="2194560"/>
            <a:ext cx="113385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0" name="TextBox 73"/>
          <p:cNvSpPr txBox="1"/>
          <p:nvPr/>
        </p:nvSpPr>
        <p:spPr>
          <a:xfrm>
            <a:off x="10058713" y="2322576"/>
            <a:ext cx="60287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L2-P0-S7</a:t>
            </a:r>
          </a:p>
        </p:txBody>
      </p:sp>
      <p:sp>
        <p:nvSpPr>
          <p:cNvPr id="761" name="TextBox 74"/>
          <p:cNvSpPr txBox="1"/>
          <p:nvPr/>
        </p:nvSpPr>
        <p:spPr>
          <a:xfrm>
            <a:off x="10101448" y="2505455"/>
            <a:ext cx="51740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28 GB/s</a:t>
            </a:r>
          </a:p>
        </p:txBody>
      </p:sp>
      <p:sp>
        <p:nvSpPr>
          <p:cNvPr id="762" name="Rectangle 75"/>
          <p:cNvSpPr/>
          <p:nvPr/>
        </p:nvSpPr>
        <p:spPr>
          <a:xfrm>
            <a:off x="11100816" y="2194560"/>
            <a:ext cx="113385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3" name="TextBox 76"/>
          <p:cNvSpPr txBox="1"/>
          <p:nvPr/>
        </p:nvSpPr>
        <p:spPr>
          <a:xfrm>
            <a:off x="11366305" y="2322576"/>
            <a:ext cx="60287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L2-P0-S8</a:t>
            </a:r>
          </a:p>
        </p:txBody>
      </p:sp>
      <p:sp>
        <p:nvSpPr>
          <p:cNvPr id="764" name="TextBox 77"/>
          <p:cNvSpPr txBox="1"/>
          <p:nvPr/>
        </p:nvSpPr>
        <p:spPr>
          <a:xfrm>
            <a:off x="11409040" y="2505455"/>
            <a:ext cx="51740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28 GB/s</a:t>
            </a:r>
          </a:p>
        </p:txBody>
      </p:sp>
      <p:sp>
        <p:nvSpPr>
          <p:cNvPr id="765" name="Rectangle 78"/>
          <p:cNvSpPr/>
          <p:nvPr/>
        </p:nvSpPr>
        <p:spPr>
          <a:xfrm>
            <a:off x="12408407" y="2194560"/>
            <a:ext cx="113385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6" name="TextBox 79"/>
          <p:cNvSpPr txBox="1"/>
          <p:nvPr/>
        </p:nvSpPr>
        <p:spPr>
          <a:xfrm>
            <a:off x="12673896" y="2322576"/>
            <a:ext cx="60287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L2-P0-S9</a:t>
            </a:r>
          </a:p>
        </p:txBody>
      </p:sp>
      <p:sp>
        <p:nvSpPr>
          <p:cNvPr id="767" name="TextBox 80"/>
          <p:cNvSpPr txBox="1"/>
          <p:nvPr/>
        </p:nvSpPr>
        <p:spPr>
          <a:xfrm>
            <a:off x="12716632" y="2505455"/>
            <a:ext cx="51740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28 GB/s</a:t>
            </a:r>
          </a:p>
        </p:txBody>
      </p:sp>
      <p:sp>
        <p:nvSpPr>
          <p:cNvPr id="768" name="Rectangle 81"/>
          <p:cNvSpPr/>
          <p:nvPr/>
        </p:nvSpPr>
        <p:spPr>
          <a:xfrm>
            <a:off x="13716000" y="2194560"/>
            <a:ext cx="1133856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9" name="TextBox 82"/>
          <p:cNvSpPr txBox="1"/>
          <p:nvPr/>
        </p:nvSpPr>
        <p:spPr>
          <a:xfrm>
            <a:off x="13942641" y="2322576"/>
            <a:ext cx="68057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L2-P0-S10</a:t>
            </a:r>
          </a:p>
        </p:txBody>
      </p:sp>
      <p:sp>
        <p:nvSpPr>
          <p:cNvPr id="770" name="TextBox 83"/>
          <p:cNvSpPr txBox="1"/>
          <p:nvPr/>
        </p:nvSpPr>
        <p:spPr>
          <a:xfrm>
            <a:off x="14024224" y="2505455"/>
            <a:ext cx="51740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28 GB/s</a:t>
            </a:r>
          </a:p>
        </p:txBody>
      </p:sp>
      <p:sp>
        <p:nvSpPr>
          <p:cNvPr id="771" name="Rectangle 84"/>
          <p:cNvSpPr/>
          <p:nvPr/>
        </p:nvSpPr>
        <p:spPr>
          <a:xfrm>
            <a:off x="15023591" y="2194560"/>
            <a:ext cx="113385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2" name="TextBox 85"/>
          <p:cNvSpPr txBox="1"/>
          <p:nvPr/>
        </p:nvSpPr>
        <p:spPr>
          <a:xfrm>
            <a:off x="15255383" y="2322576"/>
            <a:ext cx="67027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L2-P0-S11</a:t>
            </a:r>
          </a:p>
        </p:txBody>
      </p:sp>
      <p:sp>
        <p:nvSpPr>
          <p:cNvPr id="773" name="TextBox 86"/>
          <p:cNvSpPr txBox="1"/>
          <p:nvPr/>
        </p:nvSpPr>
        <p:spPr>
          <a:xfrm>
            <a:off x="15331816" y="2505455"/>
            <a:ext cx="51740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28 GB/s</a:t>
            </a:r>
          </a:p>
        </p:txBody>
      </p:sp>
      <p:sp>
        <p:nvSpPr>
          <p:cNvPr id="774" name="Rectangle 87"/>
          <p:cNvSpPr/>
          <p:nvPr/>
        </p:nvSpPr>
        <p:spPr>
          <a:xfrm>
            <a:off x="16331184" y="2194560"/>
            <a:ext cx="113385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5" name="TextBox 88"/>
          <p:cNvSpPr txBox="1"/>
          <p:nvPr/>
        </p:nvSpPr>
        <p:spPr>
          <a:xfrm>
            <a:off x="16557825" y="2322576"/>
            <a:ext cx="68057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L2-P0-S12</a:t>
            </a:r>
          </a:p>
        </p:txBody>
      </p:sp>
      <p:sp>
        <p:nvSpPr>
          <p:cNvPr id="776" name="TextBox 89"/>
          <p:cNvSpPr txBox="1"/>
          <p:nvPr/>
        </p:nvSpPr>
        <p:spPr>
          <a:xfrm>
            <a:off x="16639408" y="2505455"/>
            <a:ext cx="51740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28 GB/s</a:t>
            </a:r>
          </a:p>
        </p:txBody>
      </p:sp>
      <p:sp>
        <p:nvSpPr>
          <p:cNvPr id="777" name="Rectangle 90"/>
          <p:cNvSpPr/>
          <p:nvPr/>
        </p:nvSpPr>
        <p:spPr>
          <a:xfrm>
            <a:off x="17638776" y="2194560"/>
            <a:ext cx="113385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8" name="TextBox 91"/>
          <p:cNvSpPr txBox="1"/>
          <p:nvPr/>
        </p:nvSpPr>
        <p:spPr>
          <a:xfrm>
            <a:off x="17865418" y="2322576"/>
            <a:ext cx="68057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L2-P0-S13</a:t>
            </a:r>
          </a:p>
        </p:txBody>
      </p:sp>
      <p:sp>
        <p:nvSpPr>
          <p:cNvPr id="779" name="TextBox 92"/>
          <p:cNvSpPr txBox="1"/>
          <p:nvPr/>
        </p:nvSpPr>
        <p:spPr>
          <a:xfrm>
            <a:off x="17947000" y="2505455"/>
            <a:ext cx="51740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28 GB/s</a:t>
            </a:r>
          </a:p>
        </p:txBody>
      </p:sp>
      <p:sp>
        <p:nvSpPr>
          <p:cNvPr id="780" name="Rectangle 93"/>
          <p:cNvSpPr/>
          <p:nvPr/>
        </p:nvSpPr>
        <p:spPr>
          <a:xfrm>
            <a:off x="18946367" y="2194560"/>
            <a:ext cx="113385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1" name="TextBox 94"/>
          <p:cNvSpPr txBox="1"/>
          <p:nvPr/>
        </p:nvSpPr>
        <p:spPr>
          <a:xfrm>
            <a:off x="19173009" y="2322576"/>
            <a:ext cx="68057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L2-P0-S14</a:t>
            </a:r>
          </a:p>
        </p:txBody>
      </p:sp>
      <p:sp>
        <p:nvSpPr>
          <p:cNvPr id="782" name="TextBox 95"/>
          <p:cNvSpPr txBox="1"/>
          <p:nvPr/>
        </p:nvSpPr>
        <p:spPr>
          <a:xfrm>
            <a:off x="19254592" y="2505455"/>
            <a:ext cx="51740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28 GB/s</a:t>
            </a:r>
          </a:p>
        </p:txBody>
      </p:sp>
      <p:sp>
        <p:nvSpPr>
          <p:cNvPr id="783" name="Rectangle 96"/>
          <p:cNvSpPr/>
          <p:nvPr/>
        </p:nvSpPr>
        <p:spPr>
          <a:xfrm>
            <a:off x="20253960" y="2194560"/>
            <a:ext cx="1133857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4" name="TextBox 97"/>
          <p:cNvSpPr txBox="1"/>
          <p:nvPr/>
        </p:nvSpPr>
        <p:spPr>
          <a:xfrm>
            <a:off x="20480601" y="2322576"/>
            <a:ext cx="68057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L2-P0-S15</a:t>
            </a:r>
          </a:p>
        </p:txBody>
      </p:sp>
      <p:sp>
        <p:nvSpPr>
          <p:cNvPr id="785" name="TextBox 98"/>
          <p:cNvSpPr txBox="1"/>
          <p:nvPr/>
        </p:nvSpPr>
        <p:spPr>
          <a:xfrm>
            <a:off x="20562184" y="2505455"/>
            <a:ext cx="51740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1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28 GB/s</a:t>
            </a:r>
          </a:p>
        </p:txBody>
      </p:sp>
      <p:sp>
        <p:nvSpPr>
          <p:cNvPr id="786" name="Connector 99"/>
          <p:cNvSpPr/>
          <p:nvPr/>
        </p:nvSpPr>
        <p:spPr>
          <a:xfrm flipH="1">
            <a:off x="1252728" y="8046719"/>
            <a:ext cx="1508761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7" name="Connector 100"/>
          <p:cNvSpPr/>
          <p:nvPr/>
        </p:nvSpPr>
        <p:spPr>
          <a:xfrm flipH="1">
            <a:off x="1865376" y="8046719"/>
            <a:ext cx="1078993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8" name="Connector 101"/>
          <p:cNvSpPr/>
          <p:nvPr/>
        </p:nvSpPr>
        <p:spPr>
          <a:xfrm flipH="1">
            <a:off x="2478023" y="8046719"/>
            <a:ext cx="649225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9" name="Connector 102"/>
          <p:cNvSpPr/>
          <p:nvPr/>
        </p:nvSpPr>
        <p:spPr>
          <a:xfrm flipH="1">
            <a:off x="3090672" y="8046719"/>
            <a:ext cx="219457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0" name="Connector 103"/>
          <p:cNvSpPr/>
          <p:nvPr/>
        </p:nvSpPr>
        <p:spPr>
          <a:xfrm>
            <a:off x="3493008" y="8046719"/>
            <a:ext cx="210313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1" name="Connector 104"/>
          <p:cNvSpPr/>
          <p:nvPr/>
        </p:nvSpPr>
        <p:spPr>
          <a:xfrm>
            <a:off x="3675886" y="8046719"/>
            <a:ext cx="640082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2" name="Connector 105"/>
          <p:cNvSpPr/>
          <p:nvPr/>
        </p:nvSpPr>
        <p:spPr>
          <a:xfrm>
            <a:off x="3858767" y="8046719"/>
            <a:ext cx="1069849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3" name="Connector 106"/>
          <p:cNvSpPr/>
          <p:nvPr/>
        </p:nvSpPr>
        <p:spPr>
          <a:xfrm>
            <a:off x="4041647" y="8046719"/>
            <a:ext cx="1499617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94" name="Rectangle 107"/>
          <p:cNvSpPr/>
          <p:nvPr/>
        </p:nvSpPr>
        <p:spPr>
          <a:xfrm>
            <a:off x="2651759" y="7223759"/>
            <a:ext cx="1645922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5" name="TextBox 108"/>
          <p:cNvSpPr txBox="1"/>
          <p:nvPr/>
        </p:nvSpPr>
        <p:spPr>
          <a:xfrm>
            <a:off x="3058335" y="7360919"/>
            <a:ext cx="83276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796" name="TextBox 109"/>
          <p:cNvSpPr txBox="1"/>
          <p:nvPr/>
        </p:nvSpPr>
        <p:spPr>
          <a:xfrm>
            <a:off x="3087896" y="7589519"/>
            <a:ext cx="77364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L1-N0-S0</a:t>
            </a:r>
          </a:p>
        </p:txBody>
      </p:sp>
      <p:sp>
        <p:nvSpPr>
          <p:cNvPr id="797" name="Rectangle 110"/>
          <p:cNvSpPr/>
          <p:nvPr/>
        </p:nvSpPr>
        <p:spPr>
          <a:xfrm>
            <a:off x="1005839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8" name="TextBox 111"/>
          <p:cNvSpPr txBox="1"/>
          <p:nvPr/>
        </p:nvSpPr>
        <p:spPr>
          <a:xfrm>
            <a:off x="1085494" y="10168128"/>
            <a:ext cx="3344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799" name="TextBox 112"/>
          <p:cNvSpPr txBox="1"/>
          <p:nvPr/>
        </p:nvSpPr>
        <p:spPr>
          <a:xfrm>
            <a:off x="1189228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800" name="Rectangle 113"/>
          <p:cNvSpPr/>
          <p:nvPr/>
        </p:nvSpPr>
        <p:spPr>
          <a:xfrm>
            <a:off x="1618488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1" name="TextBox 114"/>
          <p:cNvSpPr txBox="1"/>
          <p:nvPr/>
        </p:nvSpPr>
        <p:spPr>
          <a:xfrm>
            <a:off x="1698142" y="10168128"/>
            <a:ext cx="3344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02" name="TextBox 115"/>
          <p:cNvSpPr txBox="1"/>
          <p:nvPr/>
        </p:nvSpPr>
        <p:spPr>
          <a:xfrm>
            <a:off x="1801876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03" name="Rectangle 116"/>
          <p:cNvSpPr/>
          <p:nvPr/>
        </p:nvSpPr>
        <p:spPr>
          <a:xfrm>
            <a:off x="2231135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4" name="TextBox 117"/>
          <p:cNvSpPr txBox="1"/>
          <p:nvPr/>
        </p:nvSpPr>
        <p:spPr>
          <a:xfrm>
            <a:off x="2310791" y="10168128"/>
            <a:ext cx="3344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05" name="TextBox 118"/>
          <p:cNvSpPr txBox="1"/>
          <p:nvPr/>
        </p:nvSpPr>
        <p:spPr>
          <a:xfrm>
            <a:off x="2414524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06" name="Rectangle 119"/>
          <p:cNvSpPr/>
          <p:nvPr/>
        </p:nvSpPr>
        <p:spPr>
          <a:xfrm>
            <a:off x="2843783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7" name="TextBox 120"/>
          <p:cNvSpPr txBox="1"/>
          <p:nvPr/>
        </p:nvSpPr>
        <p:spPr>
          <a:xfrm>
            <a:off x="2923438" y="10168128"/>
            <a:ext cx="3344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08" name="TextBox 121"/>
          <p:cNvSpPr txBox="1"/>
          <p:nvPr/>
        </p:nvSpPr>
        <p:spPr>
          <a:xfrm>
            <a:off x="3027171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09" name="Rectangle 122"/>
          <p:cNvSpPr/>
          <p:nvPr/>
        </p:nvSpPr>
        <p:spPr>
          <a:xfrm>
            <a:off x="3456432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0" name="TextBox 123"/>
          <p:cNvSpPr txBox="1"/>
          <p:nvPr/>
        </p:nvSpPr>
        <p:spPr>
          <a:xfrm>
            <a:off x="3536086" y="10168128"/>
            <a:ext cx="3344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11" name="TextBox 124"/>
          <p:cNvSpPr txBox="1"/>
          <p:nvPr/>
        </p:nvSpPr>
        <p:spPr>
          <a:xfrm>
            <a:off x="3639820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12" name="Rectangle 125"/>
          <p:cNvSpPr/>
          <p:nvPr/>
        </p:nvSpPr>
        <p:spPr>
          <a:xfrm>
            <a:off x="4069079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3" name="TextBox 126"/>
          <p:cNvSpPr txBox="1"/>
          <p:nvPr/>
        </p:nvSpPr>
        <p:spPr>
          <a:xfrm>
            <a:off x="4148734" y="10168128"/>
            <a:ext cx="3344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14" name="TextBox 127"/>
          <p:cNvSpPr txBox="1"/>
          <p:nvPr/>
        </p:nvSpPr>
        <p:spPr>
          <a:xfrm>
            <a:off x="4252467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815" name="Rectangle 128"/>
          <p:cNvSpPr/>
          <p:nvPr/>
        </p:nvSpPr>
        <p:spPr>
          <a:xfrm>
            <a:off x="4681728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6" name="TextBox 129"/>
          <p:cNvSpPr txBox="1"/>
          <p:nvPr/>
        </p:nvSpPr>
        <p:spPr>
          <a:xfrm>
            <a:off x="4761382" y="10168128"/>
            <a:ext cx="3344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17" name="TextBox 130"/>
          <p:cNvSpPr txBox="1"/>
          <p:nvPr/>
        </p:nvSpPr>
        <p:spPr>
          <a:xfrm>
            <a:off x="4865115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818" name="Rectangle 131"/>
          <p:cNvSpPr/>
          <p:nvPr/>
        </p:nvSpPr>
        <p:spPr>
          <a:xfrm>
            <a:off x="5294376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9" name="TextBox 132"/>
          <p:cNvSpPr txBox="1"/>
          <p:nvPr/>
        </p:nvSpPr>
        <p:spPr>
          <a:xfrm>
            <a:off x="5374030" y="10168128"/>
            <a:ext cx="3344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20" name="TextBox 133"/>
          <p:cNvSpPr txBox="1"/>
          <p:nvPr/>
        </p:nvSpPr>
        <p:spPr>
          <a:xfrm>
            <a:off x="5477764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821" name="Connector 134"/>
          <p:cNvSpPr/>
          <p:nvPr/>
        </p:nvSpPr>
        <p:spPr>
          <a:xfrm flipH="1">
            <a:off x="8567928" y="8046719"/>
            <a:ext cx="1508761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2" name="Connector 135"/>
          <p:cNvSpPr/>
          <p:nvPr/>
        </p:nvSpPr>
        <p:spPr>
          <a:xfrm flipH="1">
            <a:off x="9180576" y="8046719"/>
            <a:ext cx="1078993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3" name="Connector 136"/>
          <p:cNvSpPr/>
          <p:nvPr/>
        </p:nvSpPr>
        <p:spPr>
          <a:xfrm flipH="1">
            <a:off x="9793223" y="8046719"/>
            <a:ext cx="649225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4" name="Connector 137"/>
          <p:cNvSpPr/>
          <p:nvPr/>
        </p:nvSpPr>
        <p:spPr>
          <a:xfrm flipH="1">
            <a:off x="10405871" y="8046719"/>
            <a:ext cx="219457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5" name="Connector 138"/>
          <p:cNvSpPr/>
          <p:nvPr/>
        </p:nvSpPr>
        <p:spPr>
          <a:xfrm>
            <a:off x="10808207" y="8046719"/>
            <a:ext cx="210313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6" name="Connector 139"/>
          <p:cNvSpPr/>
          <p:nvPr/>
        </p:nvSpPr>
        <p:spPr>
          <a:xfrm>
            <a:off x="10991088" y="8046719"/>
            <a:ext cx="640081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7" name="Connector 140"/>
          <p:cNvSpPr/>
          <p:nvPr/>
        </p:nvSpPr>
        <p:spPr>
          <a:xfrm>
            <a:off x="11173968" y="8046719"/>
            <a:ext cx="1069849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8" name="Connector 141"/>
          <p:cNvSpPr/>
          <p:nvPr/>
        </p:nvSpPr>
        <p:spPr>
          <a:xfrm>
            <a:off x="11356847" y="8046719"/>
            <a:ext cx="1499617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9" name="Rectangle 142"/>
          <p:cNvSpPr/>
          <p:nvPr/>
        </p:nvSpPr>
        <p:spPr>
          <a:xfrm>
            <a:off x="9966959" y="7223759"/>
            <a:ext cx="1645921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0" name="TextBox 143"/>
          <p:cNvSpPr txBox="1"/>
          <p:nvPr/>
        </p:nvSpPr>
        <p:spPr>
          <a:xfrm>
            <a:off x="10373536" y="7360919"/>
            <a:ext cx="83276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831" name="TextBox 144"/>
          <p:cNvSpPr txBox="1"/>
          <p:nvPr/>
        </p:nvSpPr>
        <p:spPr>
          <a:xfrm>
            <a:off x="10403097" y="7589519"/>
            <a:ext cx="77364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L1-N1-S0</a:t>
            </a:r>
          </a:p>
        </p:txBody>
      </p:sp>
      <p:sp>
        <p:nvSpPr>
          <p:cNvPr id="832" name="Rectangle 145"/>
          <p:cNvSpPr/>
          <p:nvPr/>
        </p:nvSpPr>
        <p:spPr>
          <a:xfrm>
            <a:off x="8321040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3" name="TextBox 146"/>
          <p:cNvSpPr txBox="1"/>
          <p:nvPr/>
        </p:nvSpPr>
        <p:spPr>
          <a:xfrm>
            <a:off x="8400694" y="10168128"/>
            <a:ext cx="3344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34" name="TextBox 147"/>
          <p:cNvSpPr txBox="1"/>
          <p:nvPr/>
        </p:nvSpPr>
        <p:spPr>
          <a:xfrm>
            <a:off x="8504427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835" name="Rectangle 148"/>
          <p:cNvSpPr/>
          <p:nvPr/>
        </p:nvSpPr>
        <p:spPr>
          <a:xfrm>
            <a:off x="8933688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6" name="TextBox 149"/>
          <p:cNvSpPr txBox="1"/>
          <p:nvPr/>
        </p:nvSpPr>
        <p:spPr>
          <a:xfrm>
            <a:off x="9013342" y="10168128"/>
            <a:ext cx="3344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37" name="TextBox 150"/>
          <p:cNvSpPr txBox="1"/>
          <p:nvPr/>
        </p:nvSpPr>
        <p:spPr>
          <a:xfrm>
            <a:off x="9117075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38" name="Rectangle 151"/>
          <p:cNvSpPr/>
          <p:nvPr/>
        </p:nvSpPr>
        <p:spPr>
          <a:xfrm>
            <a:off x="9546335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9" name="TextBox 152"/>
          <p:cNvSpPr txBox="1"/>
          <p:nvPr/>
        </p:nvSpPr>
        <p:spPr>
          <a:xfrm>
            <a:off x="9625990" y="10168128"/>
            <a:ext cx="3344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40" name="TextBox 153"/>
          <p:cNvSpPr txBox="1"/>
          <p:nvPr/>
        </p:nvSpPr>
        <p:spPr>
          <a:xfrm>
            <a:off x="9729724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41" name="Rectangle 154"/>
          <p:cNvSpPr/>
          <p:nvPr/>
        </p:nvSpPr>
        <p:spPr>
          <a:xfrm>
            <a:off x="10158983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2" name="TextBox 155"/>
          <p:cNvSpPr txBox="1"/>
          <p:nvPr/>
        </p:nvSpPr>
        <p:spPr>
          <a:xfrm>
            <a:off x="10238638" y="10168128"/>
            <a:ext cx="3344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43" name="TextBox 156"/>
          <p:cNvSpPr txBox="1"/>
          <p:nvPr/>
        </p:nvSpPr>
        <p:spPr>
          <a:xfrm>
            <a:off x="10342372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44" name="Rectangle 157"/>
          <p:cNvSpPr/>
          <p:nvPr/>
        </p:nvSpPr>
        <p:spPr>
          <a:xfrm>
            <a:off x="10771631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5" name="TextBox 158"/>
          <p:cNvSpPr txBox="1"/>
          <p:nvPr/>
        </p:nvSpPr>
        <p:spPr>
          <a:xfrm>
            <a:off x="10851286" y="10168128"/>
            <a:ext cx="3344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46" name="TextBox 159"/>
          <p:cNvSpPr txBox="1"/>
          <p:nvPr/>
        </p:nvSpPr>
        <p:spPr>
          <a:xfrm>
            <a:off x="10955019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47" name="Rectangle 160"/>
          <p:cNvSpPr/>
          <p:nvPr/>
        </p:nvSpPr>
        <p:spPr>
          <a:xfrm>
            <a:off x="11384280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8" name="TextBox 161"/>
          <p:cNvSpPr txBox="1"/>
          <p:nvPr/>
        </p:nvSpPr>
        <p:spPr>
          <a:xfrm>
            <a:off x="11463934" y="10168128"/>
            <a:ext cx="3344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49" name="TextBox 162"/>
          <p:cNvSpPr txBox="1"/>
          <p:nvPr/>
        </p:nvSpPr>
        <p:spPr>
          <a:xfrm>
            <a:off x="11567667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850" name="Rectangle 163"/>
          <p:cNvSpPr/>
          <p:nvPr/>
        </p:nvSpPr>
        <p:spPr>
          <a:xfrm>
            <a:off x="11996928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1" name="TextBox 164"/>
          <p:cNvSpPr txBox="1"/>
          <p:nvPr/>
        </p:nvSpPr>
        <p:spPr>
          <a:xfrm>
            <a:off x="12076582" y="10168128"/>
            <a:ext cx="3344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52" name="TextBox 165"/>
          <p:cNvSpPr txBox="1"/>
          <p:nvPr/>
        </p:nvSpPr>
        <p:spPr>
          <a:xfrm>
            <a:off x="12180316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853" name="Rectangle 166"/>
          <p:cNvSpPr/>
          <p:nvPr/>
        </p:nvSpPr>
        <p:spPr>
          <a:xfrm>
            <a:off x="12609576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4" name="TextBox 167"/>
          <p:cNvSpPr txBox="1"/>
          <p:nvPr/>
        </p:nvSpPr>
        <p:spPr>
          <a:xfrm>
            <a:off x="12689230" y="10168128"/>
            <a:ext cx="3344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55" name="TextBox 168"/>
          <p:cNvSpPr txBox="1"/>
          <p:nvPr/>
        </p:nvSpPr>
        <p:spPr>
          <a:xfrm>
            <a:off x="12792964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856" name="Connector 169"/>
          <p:cNvSpPr/>
          <p:nvPr/>
        </p:nvSpPr>
        <p:spPr>
          <a:xfrm flipH="1">
            <a:off x="15883128" y="8046719"/>
            <a:ext cx="1508761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7" name="Connector 170"/>
          <p:cNvSpPr/>
          <p:nvPr/>
        </p:nvSpPr>
        <p:spPr>
          <a:xfrm flipH="1">
            <a:off x="16495776" y="8046719"/>
            <a:ext cx="1078993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8" name="Connector 171"/>
          <p:cNvSpPr/>
          <p:nvPr/>
        </p:nvSpPr>
        <p:spPr>
          <a:xfrm flipH="1">
            <a:off x="17108423" y="8046719"/>
            <a:ext cx="649225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9" name="Connector 172"/>
          <p:cNvSpPr/>
          <p:nvPr/>
        </p:nvSpPr>
        <p:spPr>
          <a:xfrm flipH="1">
            <a:off x="17721071" y="8046719"/>
            <a:ext cx="219457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0" name="Connector 173"/>
          <p:cNvSpPr/>
          <p:nvPr/>
        </p:nvSpPr>
        <p:spPr>
          <a:xfrm>
            <a:off x="18123408" y="8046719"/>
            <a:ext cx="210313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1" name="Connector 174"/>
          <p:cNvSpPr/>
          <p:nvPr/>
        </p:nvSpPr>
        <p:spPr>
          <a:xfrm>
            <a:off x="18306287" y="8046719"/>
            <a:ext cx="640081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2" name="Connector 175"/>
          <p:cNvSpPr/>
          <p:nvPr/>
        </p:nvSpPr>
        <p:spPr>
          <a:xfrm>
            <a:off x="18489167" y="8046719"/>
            <a:ext cx="1069849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3" name="Connector 176"/>
          <p:cNvSpPr/>
          <p:nvPr/>
        </p:nvSpPr>
        <p:spPr>
          <a:xfrm>
            <a:off x="18672047" y="8046719"/>
            <a:ext cx="1499617" cy="2011680"/>
          </a:xfrm>
          <a:prstGeom prst="line">
            <a:avLst/>
          </a:prstGeom>
          <a:ln w="18288">
            <a:solidFill>
              <a:srgbClr val="E58A24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4" name="Rectangle 177"/>
          <p:cNvSpPr/>
          <p:nvPr/>
        </p:nvSpPr>
        <p:spPr>
          <a:xfrm>
            <a:off x="17282160" y="7223759"/>
            <a:ext cx="1645921" cy="822961"/>
          </a:xfrm>
          <a:prstGeom prst="rect">
            <a:avLst/>
          </a:prstGeom>
          <a:solidFill>
            <a:srgbClr val="B5DC86"/>
          </a:solidFill>
          <a:ln w="18288">
            <a:solidFill>
              <a:srgbClr val="E58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5" name="TextBox 178"/>
          <p:cNvSpPr txBox="1"/>
          <p:nvPr/>
        </p:nvSpPr>
        <p:spPr>
          <a:xfrm>
            <a:off x="17688735" y="7360919"/>
            <a:ext cx="83276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UB Switch</a:t>
            </a:r>
          </a:p>
        </p:txBody>
      </p:sp>
      <p:sp>
        <p:nvSpPr>
          <p:cNvPr id="866" name="TextBox 179"/>
          <p:cNvSpPr txBox="1"/>
          <p:nvPr/>
        </p:nvSpPr>
        <p:spPr>
          <a:xfrm>
            <a:off x="17668854" y="7589519"/>
            <a:ext cx="87253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L1-N47-S0</a:t>
            </a:r>
          </a:p>
        </p:txBody>
      </p:sp>
      <p:sp>
        <p:nvSpPr>
          <p:cNvPr id="867" name="Rectangle 180"/>
          <p:cNvSpPr/>
          <p:nvPr/>
        </p:nvSpPr>
        <p:spPr>
          <a:xfrm>
            <a:off x="15636239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8" name="TextBox 181"/>
          <p:cNvSpPr txBox="1"/>
          <p:nvPr/>
        </p:nvSpPr>
        <p:spPr>
          <a:xfrm>
            <a:off x="15715894" y="10168128"/>
            <a:ext cx="3344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69" name="TextBox 182"/>
          <p:cNvSpPr txBox="1"/>
          <p:nvPr/>
        </p:nvSpPr>
        <p:spPr>
          <a:xfrm>
            <a:off x="15819628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870" name="Rectangle 183"/>
          <p:cNvSpPr/>
          <p:nvPr/>
        </p:nvSpPr>
        <p:spPr>
          <a:xfrm>
            <a:off x="16248887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1" name="TextBox 184"/>
          <p:cNvSpPr txBox="1"/>
          <p:nvPr/>
        </p:nvSpPr>
        <p:spPr>
          <a:xfrm>
            <a:off x="16328542" y="10168128"/>
            <a:ext cx="3344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72" name="TextBox 185"/>
          <p:cNvSpPr txBox="1"/>
          <p:nvPr/>
        </p:nvSpPr>
        <p:spPr>
          <a:xfrm>
            <a:off x="16432276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73" name="Rectangle 186"/>
          <p:cNvSpPr/>
          <p:nvPr/>
        </p:nvSpPr>
        <p:spPr>
          <a:xfrm>
            <a:off x="16861536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4" name="TextBox 187"/>
          <p:cNvSpPr txBox="1"/>
          <p:nvPr/>
        </p:nvSpPr>
        <p:spPr>
          <a:xfrm>
            <a:off x="16941190" y="10168128"/>
            <a:ext cx="3344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75" name="TextBox 188"/>
          <p:cNvSpPr txBox="1"/>
          <p:nvPr/>
        </p:nvSpPr>
        <p:spPr>
          <a:xfrm>
            <a:off x="17044923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76" name="Rectangle 189"/>
          <p:cNvSpPr/>
          <p:nvPr/>
        </p:nvSpPr>
        <p:spPr>
          <a:xfrm>
            <a:off x="17474184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7" name="TextBox 190"/>
          <p:cNvSpPr txBox="1"/>
          <p:nvPr/>
        </p:nvSpPr>
        <p:spPr>
          <a:xfrm>
            <a:off x="17553838" y="10168128"/>
            <a:ext cx="3344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78" name="TextBox 191"/>
          <p:cNvSpPr txBox="1"/>
          <p:nvPr/>
        </p:nvSpPr>
        <p:spPr>
          <a:xfrm>
            <a:off x="17657571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79" name="Rectangle 192"/>
          <p:cNvSpPr/>
          <p:nvPr/>
        </p:nvSpPr>
        <p:spPr>
          <a:xfrm>
            <a:off x="18086832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0" name="TextBox 193"/>
          <p:cNvSpPr txBox="1"/>
          <p:nvPr/>
        </p:nvSpPr>
        <p:spPr>
          <a:xfrm>
            <a:off x="18166486" y="10168128"/>
            <a:ext cx="3344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81" name="TextBox 194"/>
          <p:cNvSpPr txBox="1"/>
          <p:nvPr/>
        </p:nvSpPr>
        <p:spPr>
          <a:xfrm>
            <a:off x="18270219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82" name="Rectangle 195"/>
          <p:cNvSpPr/>
          <p:nvPr/>
        </p:nvSpPr>
        <p:spPr>
          <a:xfrm>
            <a:off x="18699480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3" name="TextBox 196"/>
          <p:cNvSpPr txBox="1"/>
          <p:nvPr/>
        </p:nvSpPr>
        <p:spPr>
          <a:xfrm>
            <a:off x="18779135" y="10168128"/>
            <a:ext cx="3344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84" name="TextBox 197"/>
          <p:cNvSpPr txBox="1"/>
          <p:nvPr/>
        </p:nvSpPr>
        <p:spPr>
          <a:xfrm>
            <a:off x="18882868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885" name="Rectangle 198"/>
          <p:cNvSpPr/>
          <p:nvPr/>
        </p:nvSpPr>
        <p:spPr>
          <a:xfrm>
            <a:off x="19312128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6" name="TextBox 199"/>
          <p:cNvSpPr txBox="1"/>
          <p:nvPr/>
        </p:nvSpPr>
        <p:spPr>
          <a:xfrm>
            <a:off x="19391783" y="10168128"/>
            <a:ext cx="33446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87" name="TextBox 200"/>
          <p:cNvSpPr txBox="1"/>
          <p:nvPr/>
        </p:nvSpPr>
        <p:spPr>
          <a:xfrm>
            <a:off x="19495516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888" name="Rectangle 201"/>
          <p:cNvSpPr/>
          <p:nvPr/>
        </p:nvSpPr>
        <p:spPr>
          <a:xfrm>
            <a:off x="19924776" y="10058400"/>
            <a:ext cx="502920" cy="594360"/>
          </a:xfrm>
          <a:prstGeom prst="rect">
            <a:avLst/>
          </a:prstGeom>
          <a:solidFill>
            <a:srgbClr val="E7EFFB"/>
          </a:solidFill>
          <a:ln w="9144">
            <a:solidFill>
              <a:srgbClr val="447AC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9" name="TextBox 202"/>
          <p:cNvSpPr txBox="1"/>
          <p:nvPr/>
        </p:nvSpPr>
        <p:spPr>
          <a:xfrm>
            <a:off x="20004430" y="10168128"/>
            <a:ext cx="33446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NPU</a:t>
            </a:r>
          </a:p>
        </p:txBody>
      </p:sp>
      <p:sp>
        <p:nvSpPr>
          <p:cNvPr id="890" name="TextBox 203"/>
          <p:cNvSpPr txBox="1"/>
          <p:nvPr/>
        </p:nvSpPr>
        <p:spPr>
          <a:xfrm>
            <a:off x="20108164" y="10373868"/>
            <a:ext cx="127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2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891" name="TextBox 204"/>
          <p:cNvSpPr txBox="1"/>
          <p:nvPr/>
        </p:nvSpPr>
        <p:spPr>
          <a:xfrm>
            <a:off x="640080" y="11430000"/>
            <a:ext cx="699571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Each L1: 16 independent uplinks x 28 GB/s = 448 GB/s per direction.</a:t>
            </a:r>
          </a:p>
        </p:txBody>
      </p:sp>
      <p:sp>
        <p:nvSpPr>
          <p:cNvPr id="892" name="TextBox 205"/>
          <p:cNvSpPr txBox="1"/>
          <p:nvPr/>
        </p:nvSpPr>
        <p:spPr>
          <a:xfrm>
            <a:off x="640080" y="11887199"/>
            <a:ext cx="765785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7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Plane 0: L2-P0-S0 through L2-P0-S15 connect to L1-N0-S0 through L1-N47-S0.</a:t>
            </a:r>
          </a:p>
        </p:txBody>
      </p:sp>
      <p:sp>
        <p:nvSpPr>
          <p:cNvPr id="893" name="TextBox 206"/>
          <p:cNvSpPr txBox="1"/>
          <p:nvPr/>
        </p:nvSpPr>
        <p:spPr>
          <a:xfrm>
            <a:off x="640080" y="12298680"/>
            <a:ext cx="803774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202020"/>
                </a:solidFill>
                <a:latin typeface="DejaVu Sans"/>
                <a:ea typeface="DejaVu Sans"/>
                <a:cs typeface="DejaVu Sans"/>
                <a:sym typeface="DejaVu Sans"/>
              </a:defRPr>
            </a:lvl1pPr>
          </a:lstStyle>
          <a:p>
            <a:pPr/>
            <a:r>
              <a:t>For the 128-NPU contest: use Nodes 0-15 with the same plane wiring; remaining L2 ports are unused.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