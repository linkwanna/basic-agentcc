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21945600" cy="12801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1396960" cy="576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24">
                <a:solidFill>
                  <a:srgbClr val="202020"/>
                </a:solidFill>
                <a:latin typeface="DejaVu Sans"/>
              </a:rPr>
              <a:t>A5 1D-FullMesh + Clos: 128 NPUs / 2 cabinets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213969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8">
                <a:solidFill>
                  <a:srgbClr val="202020"/>
                </a:solidFill>
                <a:latin typeface="DejaVu Sans"/>
              </a:rPr>
              <a:t>Each cabinet: 8 Nodes x 8 NPUs, 8 L1 switches. Both cabinets share 4 L2 switches.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213969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8">
                <a:solidFill>
                  <a:srgbClr val="202020"/>
                </a:solidFill>
                <a:latin typeface="DejaVu Sans"/>
              </a:rPr>
              <a:t>Each NPU connects to all 8 local L1 switches. Each L1 connects to all 4 L2 switches.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480560"/>
            <a:ext cx="9875520" cy="7635240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0" y="4480560"/>
            <a:ext cx="9875520" cy="7635240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7772400"/>
            <a:ext cx="4434840" cy="4023360"/>
          </a:xfrm>
          <a:prstGeom prst="rect">
            <a:avLst/>
          </a:prstGeom>
          <a:solidFill>
            <a:srgbClr val="FFFFFF"/>
          </a:solidFill>
          <a:ln w="9144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3560" y="7772400"/>
            <a:ext cx="4434840" cy="4023360"/>
          </a:xfrm>
          <a:prstGeom prst="rect">
            <a:avLst/>
          </a:prstGeom>
          <a:solidFill>
            <a:srgbClr val="FFFFFF"/>
          </a:solidFill>
          <a:ln w="9144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12880" y="7772400"/>
            <a:ext cx="4434840" cy="4023360"/>
          </a:xfrm>
          <a:prstGeom prst="rect">
            <a:avLst/>
          </a:prstGeom>
          <a:solidFill>
            <a:srgbClr val="FFFFFF"/>
          </a:solidFill>
          <a:ln w="9144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504920" y="7772400"/>
            <a:ext cx="4434840" cy="4023360"/>
          </a:xfrm>
          <a:prstGeom prst="rect">
            <a:avLst/>
          </a:prstGeom>
          <a:solidFill>
            <a:srgbClr val="FFFFFF"/>
          </a:solidFill>
          <a:ln w="9144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886968" y="2971800"/>
            <a:ext cx="5148072" cy="2331720"/>
          </a:xfrm>
          <a:prstGeom prst="line">
            <a:avLst/>
          </a:prstGeom>
          <a:ln w="16459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06424" y="2971800"/>
            <a:ext cx="7808976" cy="2331720"/>
          </a:xfrm>
          <a:prstGeom prst="line">
            <a:avLst/>
          </a:prstGeom>
          <a:ln w="16459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25880" y="2971800"/>
            <a:ext cx="10469880" cy="2331720"/>
          </a:xfrm>
          <a:prstGeom prst="line">
            <a:avLst/>
          </a:prstGeom>
          <a:ln w="16459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45336" y="2971800"/>
            <a:ext cx="13130784" cy="2331720"/>
          </a:xfrm>
          <a:prstGeom prst="line">
            <a:avLst/>
          </a:prstGeom>
          <a:ln w="16459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093976" y="2971800"/>
            <a:ext cx="4023360" cy="2331720"/>
          </a:xfrm>
          <a:prstGeom prst="line">
            <a:avLst/>
          </a:prstGeom>
          <a:ln w="16459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313432" y="2971800"/>
            <a:ext cx="6684264" cy="2331720"/>
          </a:xfrm>
          <a:prstGeom prst="line">
            <a:avLst/>
          </a:prstGeom>
          <a:ln w="16459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532888" y="2971800"/>
            <a:ext cx="9345168" cy="2331720"/>
          </a:xfrm>
          <a:prstGeom prst="line">
            <a:avLst/>
          </a:prstGeom>
          <a:ln w="16459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752344" y="2971800"/>
            <a:ext cx="12006072" cy="2331720"/>
          </a:xfrm>
          <a:prstGeom prst="line">
            <a:avLst/>
          </a:prstGeom>
          <a:ln w="16459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300984" y="2971800"/>
            <a:ext cx="2898648" cy="2331720"/>
          </a:xfrm>
          <a:prstGeom prst="line">
            <a:avLst/>
          </a:prstGeom>
          <a:ln w="16459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520440" y="2971800"/>
            <a:ext cx="5559552" cy="2331720"/>
          </a:xfrm>
          <a:prstGeom prst="line">
            <a:avLst/>
          </a:prstGeom>
          <a:ln w="16459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39896" y="2971800"/>
            <a:ext cx="8220456" cy="2331720"/>
          </a:xfrm>
          <a:prstGeom prst="line">
            <a:avLst/>
          </a:prstGeom>
          <a:ln w="16459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959352" y="2971800"/>
            <a:ext cx="10881360" cy="2331720"/>
          </a:xfrm>
          <a:prstGeom prst="line">
            <a:avLst/>
          </a:prstGeom>
          <a:ln w="16459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507992" y="2971800"/>
            <a:ext cx="1773936" cy="2331720"/>
          </a:xfrm>
          <a:prstGeom prst="line">
            <a:avLst/>
          </a:prstGeom>
          <a:ln w="16459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727448" y="2971800"/>
            <a:ext cx="4434840" cy="2331720"/>
          </a:xfrm>
          <a:prstGeom prst="line">
            <a:avLst/>
          </a:prstGeom>
          <a:ln w="16459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946904" y="2971800"/>
            <a:ext cx="7095744" cy="2331720"/>
          </a:xfrm>
          <a:prstGeom prst="line">
            <a:avLst/>
          </a:prstGeom>
          <a:ln w="16459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166360" y="2971800"/>
            <a:ext cx="9756648" cy="2331720"/>
          </a:xfrm>
          <a:prstGeom prst="line">
            <a:avLst/>
          </a:prstGeom>
          <a:ln w="16459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715000" y="2971800"/>
            <a:ext cx="649224" cy="2331720"/>
          </a:xfrm>
          <a:prstGeom prst="line">
            <a:avLst/>
          </a:prstGeom>
          <a:ln w="16459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934456" y="2971800"/>
            <a:ext cx="3310128" cy="2331720"/>
          </a:xfrm>
          <a:prstGeom prst="line">
            <a:avLst/>
          </a:prstGeom>
          <a:ln w="16459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153912" y="2971800"/>
            <a:ext cx="5971032" cy="2331720"/>
          </a:xfrm>
          <a:prstGeom prst="line">
            <a:avLst/>
          </a:prstGeom>
          <a:ln w="16459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373368" y="2971800"/>
            <a:ext cx="8631936" cy="2331720"/>
          </a:xfrm>
          <a:prstGeom prst="line">
            <a:avLst/>
          </a:prstGeom>
          <a:ln w="16459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6446520" y="2971800"/>
            <a:ext cx="475488" cy="2331720"/>
          </a:xfrm>
          <a:prstGeom prst="line">
            <a:avLst/>
          </a:prstGeom>
          <a:ln w="16459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141464" y="2971800"/>
            <a:ext cx="2185416" cy="2331720"/>
          </a:xfrm>
          <a:prstGeom prst="line">
            <a:avLst/>
          </a:prstGeom>
          <a:ln w="16459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360920" y="2971800"/>
            <a:ext cx="4846320" cy="2331720"/>
          </a:xfrm>
          <a:prstGeom prst="line">
            <a:avLst/>
          </a:prstGeom>
          <a:ln w="16459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580375" y="2971800"/>
            <a:ext cx="7507225" cy="2331720"/>
          </a:xfrm>
          <a:prstGeom prst="line">
            <a:avLst/>
          </a:prstGeom>
          <a:ln w="16459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6528816" y="2971800"/>
            <a:ext cx="1600200" cy="2331720"/>
          </a:xfrm>
          <a:prstGeom prst="line">
            <a:avLst/>
          </a:prstGeom>
          <a:ln w="16459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348472" y="2971800"/>
            <a:ext cx="1060704" cy="2331720"/>
          </a:xfrm>
          <a:prstGeom prst="line">
            <a:avLst/>
          </a:prstGeom>
          <a:ln w="16459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567928" y="2971800"/>
            <a:ext cx="3721608" cy="2331720"/>
          </a:xfrm>
          <a:prstGeom prst="line">
            <a:avLst/>
          </a:prstGeom>
          <a:ln w="16459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87384" y="2971800"/>
            <a:ext cx="6382512" cy="2331720"/>
          </a:xfrm>
          <a:prstGeom prst="line">
            <a:avLst/>
          </a:prstGeom>
          <a:ln w="16459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6611112" y="2971800"/>
            <a:ext cx="2724912" cy="2331720"/>
          </a:xfrm>
          <a:prstGeom prst="line">
            <a:avLst/>
          </a:prstGeom>
          <a:ln w="16459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9491472" y="2971800"/>
            <a:ext cx="64008" cy="2331720"/>
          </a:xfrm>
          <a:prstGeom prst="line">
            <a:avLst/>
          </a:prstGeom>
          <a:ln w="16459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774936" y="2971800"/>
            <a:ext cx="2596896" cy="2331720"/>
          </a:xfrm>
          <a:prstGeom prst="line">
            <a:avLst/>
          </a:prstGeom>
          <a:ln w="16459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994392" y="2971800"/>
            <a:ext cx="5257800" cy="2331720"/>
          </a:xfrm>
          <a:prstGeom prst="line">
            <a:avLst/>
          </a:prstGeom>
          <a:ln w="16459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6355080" y="2971800"/>
            <a:ext cx="5413248" cy="2331720"/>
          </a:xfrm>
          <a:prstGeom prst="line">
            <a:avLst/>
          </a:prstGeom>
          <a:ln w="16459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9235440" y="2971800"/>
            <a:ext cx="2752344" cy="2331720"/>
          </a:xfrm>
          <a:prstGeom prst="line">
            <a:avLst/>
          </a:prstGeom>
          <a:ln w="16459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12115800" y="2971800"/>
            <a:ext cx="91440" cy="2331720"/>
          </a:xfrm>
          <a:prstGeom prst="line">
            <a:avLst/>
          </a:prstGeom>
          <a:ln w="16459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2426696" y="2971800"/>
            <a:ext cx="2569463" cy="2331720"/>
          </a:xfrm>
          <a:prstGeom prst="line">
            <a:avLst/>
          </a:prstGeom>
          <a:ln w="16459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6437376" y="2971800"/>
            <a:ext cx="6537960" cy="2331720"/>
          </a:xfrm>
          <a:prstGeom prst="line">
            <a:avLst/>
          </a:prstGeom>
          <a:ln w="16459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9317736" y="2971800"/>
            <a:ext cx="3877056" cy="2331720"/>
          </a:xfrm>
          <a:prstGeom prst="line">
            <a:avLst/>
          </a:prstGeom>
          <a:ln w="16459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12198096" y="2971800"/>
            <a:ext cx="1216152" cy="2331720"/>
          </a:xfrm>
          <a:prstGeom prst="line">
            <a:avLst/>
          </a:prstGeom>
          <a:ln w="16459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3633704" y="2971800"/>
            <a:ext cx="1444751" cy="2331720"/>
          </a:xfrm>
          <a:prstGeom prst="line">
            <a:avLst/>
          </a:prstGeom>
          <a:ln w="16459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6519672" y="2971800"/>
            <a:ext cx="7662672" cy="2331720"/>
          </a:xfrm>
          <a:prstGeom prst="line">
            <a:avLst/>
          </a:prstGeom>
          <a:ln w="16459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9400032" y="2971800"/>
            <a:ext cx="5001768" cy="2331720"/>
          </a:xfrm>
          <a:prstGeom prst="line">
            <a:avLst/>
          </a:prstGeom>
          <a:ln w="16459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12280392" y="2971800"/>
            <a:ext cx="2340864" cy="2331720"/>
          </a:xfrm>
          <a:prstGeom prst="line">
            <a:avLst/>
          </a:prstGeom>
          <a:ln w="16459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4840712" y="2971800"/>
            <a:ext cx="320039" cy="2331720"/>
          </a:xfrm>
          <a:prstGeom prst="line">
            <a:avLst/>
          </a:prstGeom>
          <a:ln w="16459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6601968" y="2971800"/>
            <a:ext cx="8787383" cy="2331720"/>
          </a:xfrm>
          <a:prstGeom prst="line">
            <a:avLst/>
          </a:prstGeom>
          <a:ln w="16459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9482328" y="2971800"/>
            <a:ext cx="6126480" cy="2331720"/>
          </a:xfrm>
          <a:prstGeom prst="line">
            <a:avLst/>
          </a:prstGeom>
          <a:ln w="16459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12362688" y="2971800"/>
            <a:ext cx="3465575" cy="2331720"/>
          </a:xfrm>
          <a:prstGeom prst="line">
            <a:avLst/>
          </a:prstGeom>
          <a:ln w="16459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15243048" y="2971800"/>
            <a:ext cx="804672" cy="2331720"/>
          </a:xfrm>
          <a:prstGeom prst="line">
            <a:avLst/>
          </a:prstGeom>
          <a:ln w="16459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6684264" y="2971800"/>
            <a:ext cx="9912095" cy="2331720"/>
          </a:xfrm>
          <a:prstGeom prst="line">
            <a:avLst/>
          </a:prstGeom>
          <a:ln w="16459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9564624" y="2971800"/>
            <a:ext cx="7251192" cy="2331720"/>
          </a:xfrm>
          <a:prstGeom prst="line">
            <a:avLst/>
          </a:prstGeom>
          <a:ln w="16459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12444984" y="2971800"/>
            <a:ext cx="4590288" cy="2331720"/>
          </a:xfrm>
          <a:prstGeom prst="line">
            <a:avLst/>
          </a:prstGeom>
          <a:ln w="16459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5325344" y="2971800"/>
            <a:ext cx="1929384" cy="2331720"/>
          </a:xfrm>
          <a:prstGeom prst="line">
            <a:avLst/>
          </a:prstGeom>
          <a:ln w="16459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6766560" y="2971800"/>
            <a:ext cx="11036808" cy="2331720"/>
          </a:xfrm>
          <a:prstGeom prst="line">
            <a:avLst/>
          </a:prstGeom>
          <a:ln w="16459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9646920" y="2971800"/>
            <a:ext cx="8375904" cy="2331720"/>
          </a:xfrm>
          <a:prstGeom prst="line">
            <a:avLst/>
          </a:prstGeom>
          <a:ln w="16459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2527280" y="2971800"/>
            <a:ext cx="5715000" cy="2331720"/>
          </a:xfrm>
          <a:prstGeom prst="line">
            <a:avLst/>
          </a:prstGeom>
          <a:ln w="16459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5407640" y="2971800"/>
            <a:ext cx="3054096" cy="2331720"/>
          </a:xfrm>
          <a:prstGeom prst="line">
            <a:avLst/>
          </a:prstGeom>
          <a:ln w="16459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6848856" y="2971800"/>
            <a:ext cx="12161520" cy="2331720"/>
          </a:xfrm>
          <a:prstGeom prst="line">
            <a:avLst/>
          </a:prstGeom>
          <a:ln w="16459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9729216" y="2971800"/>
            <a:ext cx="9500616" cy="2331720"/>
          </a:xfrm>
          <a:prstGeom prst="line">
            <a:avLst/>
          </a:prstGeom>
          <a:ln w="16459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2609576" y="2971800"/>
            <a:ext cx="6839712" cy="2331720"/>
          </a:xfrm>
          <a:prstGeom prst="line">
            <a:avLst/>
          </a:prstGeom>
          <a:ln w="16459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15489936" y="2971800"/>
            <a:ext cx="4178808" cy="2331720"/>
          </a:xfrm>
          <a:prstGeom prst="line">
            <a:avLst/>
          </a:prstGeom>
          <a:ln w="16459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6931152" y="2971800"/>
            <a:ext cx="13286232" cy="2331720"/>
          </a:xfrm>
          <a:prstGeom prst="line">
            <a:avLst/>
          </a:prstGeom>
          <a:ln w="16459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9811512" y="2971800"/>
            <a:ext cx="10625328" cy="2331720"/>
          </a:xfrm>
          <a:prstGeom prst="line">
            <a:avLst/>
          </a:prstGeom>
          <a:ln w="16459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2691872" y="2971800"/>
            <a:ext cx="7964424" cy="2331720"/>
          </a:xfrm>
          <a:prstGeom prst="line">
            <a:avLst/>
          </a:prstGeom>
          <a:ln w="16459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5572232" y="2971800"/>
            <a:ext cx="5303520" cy="2331720"/>
          </a:xfrm>
          <a:prstGeom prst="line">
            <a:avLst/>
          </a:prstGeom>
          <a:ln w="16459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95528" y="6172200"/>
            <a:ext cx="2153412" cy="22402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05256" y="6172200"/>
            <a:ext cx="3045880" cy="2655403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14984" y="6172200"/>
            <a:ext cx="3351276" cy="365760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24712" y="6172200"/>
            <a:ext cx="2826424" cy="4659796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234440" y="6172200"/>
            <a:ext cx="1714500" cy="507492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344168" y="6172200"/>
            <a:ext cx="602575" cy="4659796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453896" y="6172200"/>
            <a:ext cx="77724" cy="365760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563624" y="6172200"/>
            <a:ext cx="383119" cy="2655403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002536" y="6172200"/>
            <a:ext cx="946404" cy="22402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112264" y="6172200"/>
            <a:ext cx="1838872" cy="2655403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221992" y="6172200"/>
            <a:ext cx="2144268" cy="365760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331720" y="6172200"/>
            <a:ext cx="1619416" cy="4659796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441448" y="6172200"/>
            <a:ext cx="507492" cy="507492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946743" y="6172200"/>
            <a:ext cx="604433" cy="4659796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1531620" y="6172200"/>
            <a:ext cx="1129284" cy="365760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1946743" y="6172200"/>
            <a:ext cx="823889" cy="2655403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2948940" y="6172200"/>
            <a:ext cx="260604" cy="22402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319272" y="6172200"/>
            <a:ext cx="631864" cy="2655403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429000" y="6172200"/>
            <a:ext cx="937260" cy="365760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538728" y="6172200"/>
            <a:ext cx="412408" cy="4659796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2948940" y="6172200"/>
            <a:ext cx="699516" cy="507492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1946743" y="6172200"/>
            <a:ext cx="1811441" cy="4659796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1531620" y="6172200"/>
            <a:ext cx="2336292" cy="365760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946743" y="6172200"/>
            <a:ext cx="2030896" cy="2655403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2948940" y="6172200"/>
            <a:ext cx="1467612" cy="22402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3951136" y="6172200"/>
            <a:ext cx="575144" cy="2655403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4366260" y="6172200"/>
            <a:ext cx="269748" cy="365760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3951136" y="6172200"/>
            <a:ext cx="794600" cy="4659796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2948940" y="6172200"/>
            <a:ext cx="1906524" cy="507492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1946743" y="6172200"/>
            <a:ext cx="3018449" cy="4659796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1531620" y="6172200"/>
            <a:ext cx="3543300" cy="365760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1946743" y="6172200"/>
            <a:ext cx="3237905" cy="2655403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2948940" y="6172200"/>
            <a:ext cx="2674620" cy="224028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3951136" y="6172200"/>
            <a:ext cx="1782152" cy="2655403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4366260" y="6172200"/>
            <a:ext cx="1476756" cy="365760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3951136" y="6172200"/>
            <a:ext cx="2001608" cy="4659796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2948940" y="6172200"/>
            <a:ext cx="3113532" cy="507492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1946743" y="6172200"/>
            <a:ext cx="4225457" cy="4659796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1531620" y="6172200"/>
            <a:ext cx="4750308" cy="365760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1946743" y="6172200"/>
            <a:ext cx="4444913" cy="2655403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2948940" y="6172200"/>
            <a:ext cx="3881628" cy="224028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3951136" y="6172200"/>
            <a:ext cx="2989160" cy="2655403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4366260" y="6172200"/>
            <a:ext cx="2683764" cy="365760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3951136" y="6172200"/>
            <a:ext cx="3208616" cy="4659796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2948940" y="6172200"/>
            <a:ext cx="4320540" cy="507492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1946743" y="6172200"/>
            <a:ext cx="5432465" cy="4659796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1531620" y="6172200"/>
            <a:ext cx="5957316" cy="365760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1946743" y="6172200"/>
            <a:ext cx="5651921" cy="2655403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2948940" y="6172200"/>
            <a:ext cx="5088635" cy="224028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3951136" y="6172200"/>
            <a:ext cx="4196168" cy="2655403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4366260" y="6172200"/>
            <a:ext cx="3890771" cy="365760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3951136" y="6172200"/>
            <a:ext cx="4415624" cy="4659796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2948940" y="6172200"/>
            <a:ext cx="5527548" cy="507492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946743" y="6172200"/>
            <a:ext cx="6639473" cy="4659796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531620" y="6172200"/>
            <a:ext cx="7164324" cy="365760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946743" y="6172200"/>
            <a:ext cx="6858929" cy="2655403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2948940" y="6172200"/>
            <a:ext cx="6295644" cy="224028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3951136" y="6172200"/>
            <a:ext cx="5403176" cy="2655403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4366260" y="6172200"/>
            <a:ext cx="5097780" cy="365760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3951136" y="6172200"/>
            <a:ext cx="5622632" cy="4659796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2948940" y="6172200"/>
            <a:ext cx="6734556" cy="507492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946743" y="6172200"/>
            <a:ext cx="7846481" cy="4659796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531620" y="6172200"/>
            <a:ext cx="8371332" cy="365760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946743" y="6172200"/>
            <a:ext cx="8065937" cy="2655403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948940" y="8412480"/>
            <a:ext cx="1002196" cy="41512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948940" y="8412480"/>
            <a:ext cx="1417320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948940" y="8412480"/>
            <a:ext cx="1002196" cy="241951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948940" y="8412480"/>
            <a:ext cx="0" cy="283464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1946743" y="8412480"/>
            <a:ext cx="1002197" cy="241951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1531620" y="8412480"/>
            <a:ext cx="1417320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1946743" y="8412480"/>
            <a:ext cx="1002197" cy="41512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951136" y="8827603"/>
            <a:ext cx="415124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951136" y="8827603"/>
            <a:ext cx="0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2948940" y="8827603"/>
            <a:ext cx="1002196" cy="241951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1946743" y="8827603"/>
            <a:ext cx="2004393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>
            <a:off x="1531620" y="8827603"/>
            <a:ext cx="2419516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>
            <a:off x="1946743" y="8827603"/>
            <a:ext cx="200439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>
            <a:off x="3951136" y="9829800"/>
            <a:ext cx="415124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2948940" y="9829800"/>
            <a:ext cx="1417320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>
            <a:off x="1946743" y="9829800"/>
            <a:ext cx="2419517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>
            <a:off x="1531620" y="9829800"/>
            <a:ext cx="2834640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 flipV="1">
            <a:off x="1946743" y="8827603"/>
            <a:ext cx="2419517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>
            <a:off x="2948940" y="10831996"/>
            <a:ext cx="1002196" cy="415124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>
            <a:off x="1946743" y="10831996"/>
            <a:ext cx="200439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 flipV="1">
            <a:off x="1531620" y="9829800"/>
            <a:ext cx="2419516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 flipV="1">
            <a:off x="1946743" y="8827603"/>
            <a:ext cx="2004393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 flipV="1">
            <a:off x="1946743" y="10831996"/>
            <a:ext cx="1002197" cy="415124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H="1" flipV="1">
            <a:off x="1531620" y="9829800"/>
            <a:ext cx="1417320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H="1" flipV="1">
            <a:off x="1946743" y="8827603"/>
            <a:ext cx="1002197" cy="241951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H="1" flipV="1">
            <a:off x="1531620" y="9829800"/>
            <a:ext cx="415123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946743" y="8827603"/>
            <a:ext cx="0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531620" y="8827603"/>
            <a:ext cx="415123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795528" y="6172200"/>
            <a:ext cx="7045451" cy="22402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905256" y="6172200"/>
            <a:ext cx="7937920" cy="2655403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14984" y="6172200"/>
            <a:ext cx="8243316" cy="365760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124712" y="6172200"/>
            <a:ext cx="7718464" cy="4659796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234440" y="6172200"/>
            <a:ext cx="6606539" cy="507492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344168" y="6172200"/>
            <a:ext cx="5494615" cy="4659796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453896" y="6172200"/>
            <a:ext cx="4969764" cy="365760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563624" y="6172200"/>
            <a:ext cx="5275159" cy="2655403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2002536" y="6172200"/>
            <a:ext cx="5838443" cy="22402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2112264" y="6172200"/>
            <a:ext cx="6730912" cy="2655403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2221992" y="6172200"/>
            <a:ext cx="7036308" cy="365760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2331720" y="6172200"/>
            <a:ext cx="6511456" cy="4659796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2441448" y="6172200"/>
            <a:ext cx="5399531" cy="507492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2551176" y="6172200"/>
            <a:ext cx="4287607" cy="4659796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2660904" y="6172200"/>
            <a:ext cx="3762756" cy="365760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2770632" y="6172200"/>
            <a:ext cx="4068151" cy="2655403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3209544" y="6172200"/>
            <a:ext cx="4631435" cy="22402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3319272" y="6172200"/>
            <a:ext cx="5523904" cy="2655403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3429000" y="6172200"/>
            <a:ext cx="5829300" cy="365760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3538728" y="6172200"/>
            <a:ext cx="5304448" cy="4659796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3648456" y="6172200"/>
            <a:ext cx="4192523" cy="507492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3758184" y="6172200"/>
            <a:ext cx="3080599" cy="4659796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3867912" y="6172200"/>
            <a:ext cx="2555748" cy="365760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3977639" y="6172200"/>
            <a:ext cx="2861144" cy="2655403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4416552" y="6172200"/>
            <a:ext cx="3424427" cy="22402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4526280" y="6172200"/>
            <a:ext cx="4316896" cy="2655403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4636008" y="6172200"/>
            <a:ext cx="4622292" cy="365760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4745736" y="6172200"/>
            <a:ext cx="4097440" cy="4659796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4855464" y="6172200"/>
            <a:ext cx="2985515" cy="507492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4965192" y="6172200"/>
            <a:ext cx="1873591" cy="4659796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5074920" y="6172200"/>
            <a:ext cx="1348740" cy="365760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5184648" y="6172200"/>
            <a:ext cx="1654135" cy="2655403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5623560" y="6172200"/>
            <a:ext cx="2217419" cy="224028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5733288" y="6172200"/>
            <a:ext cx="3109888" cy="2655403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5843016" y="6172200"/>
            <a:ext cx="3415284" cy="365760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5952744" y="6172200"/>
            <a:ext cx="2890432" cy="4659796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6062472" y="6172200"/>
            <a:ext cx="1778507" cy="507492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6172200" y="6172200"/>
            <a:ext cx="666583" cy="4659796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6281928" y="6172200"/>
            <a:ext cx="141732" cy="365760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6391656" y="6172200"/>
            <a:ext cx="447127" cy="2655403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6830568" y="6172200"/>
            <a:ext cx="1010411" cy="224028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6940296" y="6172200"/>
            <a:ext cx="1902880" cy="2655403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7050024" y="6172200"/>
            <a:ext cx="2208276" cy="365760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7159752" y="6172200"/>
            <a:ext cx="1683424" cy="4659796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7269480" y="6172200"/>
            <a:ext cx="571499" cy="507492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H="1">
            <a:off x="6838783" y="6172200"/>
            <a:ext cx="540425" cy="4659796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H="1">
            <a:off x="6423660" y="6172200"/>
            <a:ext cx="1065276" cy="365760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H="1">
            <a:off x="6838783" y="6172200"/>
            <a:ext cx="759881" cy="2655403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H="1">
            <a:off x="7840979" y="6172200"/>
            <a:ext cx="196596" cy="224028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8147304" y="6172200"/>
            <a:ext cx="695872" cy="2655403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8257031" y="6172200"/>
            <a:ext cx="1001269" cy="365760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8366760" y="6172200"/>
            <a:ext cx="476416" cy="4659796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H="1">
            <a:off x="7840979" y="6172200"/>
            <a:ext cx="635509" cy="507492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H="1">
            <a:off x="6838783" y="6172200"/>
            <a:ext cx="1747433" cy="4659796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H="1">
            <a:off x="6423660" y="6172200"/>
            <a:ext cx="2272284" cy="365760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H="1">
            <a:off x="6838783" y="6172200"/>
            <a:ext cx="1966889" cy="2655403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H="1">
            <a:off x="7840979" y="6172200"/>
            <a:ext cx="1403605" cy="224028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H="1">
            <a:off x="8843176" y="6172200"/>
            <a:ext cx="511136" cy="2655403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H="1">
            <a:off x="9258300" y="6172200"/>
            <a:ext cx="205740" cy="365760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H="1">
            <a:off x="8843176" y="6172200"/>
            <a:ext cx="730592" cy="4659796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H="1">
            <a:off x="7840979" y="6172200"/>
            <a:ext cx="1842517" cy="507492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H="1">
            <a:off x="6838783" y="6172200"/>
            <a:ext cx="2954441" cy="4659796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H="1">
            <a:off x="6423660" y="6172200"/>
            <a:ext cx="3479292" cy="365760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H="1">
            <a:off x="6838783" y="6172200"/>
            <a:ext cx="3173897" cy="2655403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7840979" y="8412480"/>
            <a:ext cx="1002197" cy="41512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7840979" y="8412480"/>
            <a:ext cx="1417321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7840979" y="8412480"/>
            <a:ext cx="1002197" cy="241951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7840979" y="8412480"/>
            <a:ext cx="0" cy="283464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H="1">
            <a:off x="6838783" y="8412480"/>
            <a:ext cx="1002196" cy="241951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H="1">
            <a:off x="6423660" y="8412480"/>
            <a:ext cx="1417319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H="1">
            <a:off x="6838783" y="8412480"/>
            <a:ext cx="1002196" cy="41512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8843176" y="8827603"/>
            <a:ext cx="415124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8843176" y="8827603"/>
            <a:ext cx="0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H="1">
            <a:off x="7840979" y="8827603"/>
            <a:ext cx="1002197" cy="241951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H="1">
            <a:off x="6838783" y="8827603"/>
            <a:ext cx="2004393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H="1">
            <a:off x="6423660" y="8827603"/>
            <a:ext cx="2419516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H="1">
            <a:off x="6838783" y="8827603"/>
            <a:ext cx="200439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H="1">
            <a:off x="8843176" y="9829800"/>
            <a:ext cx="415124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H="1">
            <a:off x="7840979" y="9829800"/>
            <a:ext cx="1417321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H="1">
            <a:off x="6838783" y="9829800"/>
            <a:ext cx="2419517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H="1">
            <a:off x="6423660" y="9829800"/>
            <a:ext cx="2834640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H="1" flipV="1">
            <a:off x="6838783" y="8827603"/>
            <a:ext cx="2419517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H="1">
            <a:off x="7840979" y="10831996"/>
            <a:ext cx="1002197" cy="415124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H="1">
            <a:off x="6838783" y="10831996"/>
            <a:ext cx="200439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H="1" flipV="1">
            <a:off x="6423660" y="9829800"/>
            <a:ext cx="2419516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H="1" flipV="1">
            <a:off x="6838783" y="8827603"/>
            <a:ext cx="2004393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H="1" flipV="1">
            <a:off x="6838783" y="10831996"/>
            <a:ext cx="1002196" cy="415124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H="1" flipV="1">
            <a:off x="6423660" y="9829800"/>
            <a:ext cx="1417319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H="1" flipV="1">
            <a:off x="6838783" y="8827603"/>
            <a:ext cx="1002196" cy="241951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H="1" flipV="1">
            <a:off x="6423660" y="9829800"/>
            <a:ext cx="415123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6838783" y="8827603"/>
            <a:ext cx="0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6423660" y="8827603"/>
            <a:ext cx="415123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1676888" y="6172200"/>
            <a:ext cx="2153412" cy="22402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1786616" y="6172200"/>
            <a:ext cx="3045880" cy="2655403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1896344" y="6172200"/>
            <a:ext cx="3351276" cy="365760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2006072" y="6172200"/>
            <a:ext cx="2826424" cy="4659796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2115800" y="6172200"/>
            <a:ext cx="1714500" cy="507492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2225528" y="6172200"/>
            <a:ext cx="602575" cy="4659796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2335256" y="6172200"/>
            <a:ext cx="77724" cy="365760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2444984" y="6172200"/>
            <a:ext cx="383119" cy="2655403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2883896" y="6172200"/>
            <a:ext cx="946404" cy="22402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2993624" y="6172200"/>
            <a:ext cx="1838872" cy="2655403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3103352" y="6172200"/>
            <a:ext cx="2144268" cy="365760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13213080" y="6172200"/>
            <a:ext cx="1619416" cy="4659796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13322808" y="6172200"/>
            <a:ext cx="507492" cy="507492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H="1">
            <a:off x="12828103" y="6172200"/>
            <a:ext cx="604433" cy="4659796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H="1">
            <a:off x="12412980" y="6172200"/>
            <a:ext cx="1129284" cy="365760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H="1">
            <a:off x="12828103" y="6172200"/>
            <a:ext cx="823889" cy="2655403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H="1">
            <a:off x="13830300" y="6172200"/>
            <a:ext cx="260604" cy="22402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4200632" y="6172200"/>
            <a:ext cx="631864" cy="2655403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4310360" y="6172200"/>
            <a:ext cx="937260" cy="365760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14420088" y="6172200"/>
            <a:ext cx="412408" cy="4659796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H="1">
            <a:off x="13830300" y="6172200"/>
            <a:ext cx="699516" cy="507492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H="1">
            <a:off x="12828103" y="6172200"/>
            <a:ext cx="1811441" cy="4659796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H="1">
            <a:off x="12412980" y="6172200"/>
            <a:ext cx="2336292" cy="365760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H="1">
            <a:off x="12828103" y="6172200"/>
            <a:ext cx="2030897" cy="2655403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H="1">
            <a:off x="13830300" y="6172200"/>
            <a:ext cx="1467612" cy="22402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H="1">
            <a:off x="14832496" y="6172200"/>
            <a:ext cx="575144" cy="2655403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H="1">
            <a:off x="15247620" y="6172200"/>
            <a:ext cx="269747" cy="365760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H="1">
            <a:off x="14832496" y="6172200"/>
            <a:ext cx="794600" cy="4659796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H="1">
            <a:off x="13830300" y="6172200"/>
            <a:ext cx="1906524" cy="507492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H="1">
            <a:off x="12828103" y="6172200"/>
            <a:ext cx="3018448" cy="4659796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H="1">
            <a:off x="12412980" y="6172200"/>
            <a:ext cx="3543300" cy="365760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H="1">
            <a:off x="12828103" y="6172200"/>
            <a:ext cx="3237905" cy="2655403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H="1">
            <a:off x="13830300" y="6172200"/>
            <a:ext cx="2674620" cy="224028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H="1">
            <a:off x="14832496" y="6172200"/>
            <a:ext cx="1782152" cy="2655403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H="1">
            <a:off x="15247620" y="6172200"/>
            <a:ext cx="1476756" cy="365760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H="1">
            <a:off x="14832496" y="6172200"/>
            <a:ext cx="2001608" cy="4659796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H="1">
            <a:off x="13830300" y="6172200"/>
            <a:ext cx="3113532" cy="507492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H="1">
            <a:off x="12828103" y="6172200"/>
            <a:ext cx="4225457" cy="4659796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H="1">
            <a:off x="12412980" y="6172200"/>
            <a:ext cx="4750308" cy="365760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H="1">
            <a:off x="12828103" y="6172200"/>
            <a:ext cx="4444913" cy="2655403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H="1">
            <a:off x="13830300" y="6172200"/>
            <a:ext cx="3881628" cy="224028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H="1">
            <a:off x="14832496" y="6172200"/>
            <a:ext cx="2989160" cy="2655403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H="1">
            <a:off x="15247620" y="6172200"/>
            <a:ext cx="2683764" cy="365760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H="1">
            <a:off x="14832496" y="6172200"/>
            <a:ext cx="3208616" cy="4659796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H="1">
            <a:off x="13830300" y="6172200"/>
            <a:ext cx="4320540" cy="507492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H="1">
            <a:off x="12828103" y="6172200"/>
            <a:ext cx="5432465" cy="4659796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H="1">
            <a:off x="12412980" y="6172200"/>
            <a:ext cx="5957316" cy="365760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H="1">
            <a:off x="12828103" y="6172200"/>
            <a:ext cx="5651921" cy="2655403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H="1">
            <a:off x="13830300" y="6172200"/>
            <a:ext cx="5088636" cy="224028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H="1">
            <a:off x="14832496" y="6172200"/>
            <a:ext cx="4196168" cy="2655403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H="1">
            <a:off x="15247620" y="6172200"/>
            <a:ext cx="3890772" cy="365760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H="1">
            <a:off x="14832496" y="6172200"/>
            <a:ext cx="4415624" cy="4659796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H="1">
            <a:off x="13830300" y="6172200"/>
            <a:ext cx="5527548" cy="507492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H="1">
            <a:off x="12828103" y="6172200"/>
            <a:ext cx="6639473" cy="4659796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H="1">
            <a:off x="12412980" y="6172200"/>
            <a:ext cx="7164324" cy="365760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H="1">
            <a:off x="12828103" y="6172200"/>
            <a:ext cx="6858929" cy="2655403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H="1">
            <a:off x="13830300" y="6172200"/>
            <a:ext cx="6295644" cy="224028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H="1">
            <a:off x="14832496" y="6172200"/>
            <a:ext cx="5403176" cy="2655403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H="1">
            <a:off x="15247620" y="6172200"/>
            <a:ext cx="5097780" cy="365760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H="1">
            <a:off x="14832496" y="6172200"/>
            <a:ext cx="5622632" cy="4659796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H="1">
            <a:off x="13830300" y="6172200"/>
            <a:ext cx="6734556" cy="507492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H="1">
            <a:off x="12828103" y="6172200"/>
            <a:ext cx="7846481" cy="4659796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H="1">
            <a:off x="12412980" y="6172200"/>
            <a:ext cx="8371332" cy="365760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H="1">
            <a:off x="12828103" y="6172200"/>
            <a:ext cx="8065937" cy="2655403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13830300" y="8412480"/>
            <a:ext cx="1002196" cy="41512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13830300" y="8412480"/>
            <a:ext cx="1417320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3830300" y="8412480"/>
            <a:ext cx="1002196" cy="241951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13830300" y="8412480"/>
            <a:ext cx="0" cy="283464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H="1">
            <a:off x="12828103" y="8412480"/>
            <a:ext cx="1002197" cy="241951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H="1">
            <a:off x="12412980" y="8412480"/>
            <a:ext cx="1417320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H="1">
            <a:off x="12828103" y="8412480"/>
            <a:ext cx="1002197" cy="41512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4832496" y="8827603"/>
            <a:ext cx="415124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4832496" y="8827603"/>
            <a:ext cx="0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H="1">
            <a:off x="13830300" y="8827603"/>
            <a:ext cx="1002196" cy="241951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H="1">
            <a:off x="12828103" y="8827603"/>
            <a:ext cx="2004393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H="1">
            <a:off x="12412980" y="8827603"/>
            <a:ext cx="2419516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H="1">
            <a:off x="12828103" y="8827603"/>
            <a:ext cx="200439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H="1">
            <a:off x="14832496" y="9829800"/>
            <a:ext cx="415124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H="1">
            <a:off x="13830300" y="9829800"/>
            <a:ext cx="1417320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H="1">
            <a:off x="12828103" y="9829800"/>
            <a:ext cx="2419517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H="1">
            <a:off x="12412980" y="9829800"/>
            <a:ext cx="2834640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H="1" flipV="1">
            <a:off x="12828103" y="8827603"/>
            <a:ext cx="2419517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H="1">
            <a:off x="13830300" y="10831996"/>
            <a:ext cx="1002196" cy="415124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H="1">
            <a:off x="12828103" y="10831996"/>
            <a:ext cx="200439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H="1" flipV="1">
            <a:off x="12412980" y="9829800"/>
            <a:ext cx="2419516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H="1" flipV="1">
            <a:off x="12828103" y="8827603"/>
            <a:ext cx="2004393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H="1" flipV="1">
            <a:off x="12828103" y="10831996"/>
            <a:ext cx="1002197" cy="415124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H="1" flipV="1">
            <a:off x="12412980" y="9829800"/>
            <a:ext cx="1417320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H="1" flipV="1">
            <a:off x="12828103" y="8827603"/>
            <a:ext cx="1002197" cy="241951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H="1" flipV="1">
            <a:off x="12412980" y="9829800"/>
            <a:ext cx="415123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12828103" y="8827603"/>
            <a:ext cx="0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12412980" y="8827603"/>
            <a:ext cx="415123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11676888" y="6172200"/>
            <a:ext cx="7045452" cy="22402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11786616" y="6172200"/>
            <a:ext cx="7937920" cy="2655403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11896344" y="6172200"/>
            <a:ext cx="8243316" cy="365760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2006072" y="6172200"/>
            <a:ext cx="7718464" cy="4659796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2115800" y="6172200"/>
            <a:ext cx="6606540" cy="507492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12225528" y="6172200"/>
            <a:ext cx="5494615" cy="4659796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2335256" y="6172200"/>
            <a:ext cx="4969764" cy="365760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12444984" y="6172200"/>
            <a:ext cx="5275159" cy="2655403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12883896" y="6172200"/>
            <a:ext cx="5838444" cy="22402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12993624" y="6172200"/>
            <a:ext cx="6730912" cy="2655403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13103352" y="6172200"/>
            <a:ext cx="7036308" cy="365760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13213080" y="6172200"/>
            <a:ext cx="6511456" cy="4659796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13322808" y="6172200"/>
            <a:ext cx="5399532" cy="507492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13432536" y="6172200"/>
            <a:ext cx="4287607" cy="4659796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13542264" y="6172200"/>
            <a:ext cx="3762756" cy="365760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13651992" y="6172200"/>
            <a:ext cx="4068151" cy="2655403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14090904" y="6172200"/>
            <a:ext cx="4631436" cy="22402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14200632" y="6172200"/>
            <a:ext cx="5523904" cy="2655403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14310360" y="6172200"/>
            <a:ext cx="5829300" cy="365760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14420088" y="6172200"/>
            <a:ext cx="5304448" cy="4659796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14529816" y="6172200"/>
            <a:ext cx="4192524" cy="507492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14639544" y="6172200"/>
            <a:ext cx="3080599" cy="4659796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14749272" y="6172200"/>
            <a:ext cx="2555748" cy="365760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14859000" y="6172200"/>
            <a:ext cx="2861143" cy="2655403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15297912" y="6172200"/>
            <a:ext cx="3424428" cy="22402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15407640" y="6172200"/>
            <a:ext cx="4316896" cy="2655403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15517367" y="6172200"/>
            <a:ext cx="4622293" cy="365760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15627096" y="6172200"/>
            <a:ext cx="4097440" cy="4659796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15736824" y="6172200"/>
            <a:ext cx="2985516" cy="507492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15846551" y="6172200"/>
            <a:ext cx="1873592" cy="4659796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15956280" y="6172200"/>
            <a:ext cx="1348740" cy="365760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16066008" y="6172200"/>
            <a:ext cx="1654135" cy="2655403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16504920" y="6172200"/>
            <a:ext cx="2217420" cy="224028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16614648" y="6172200"/>
            <a:ext cx="3109888" cy="2655403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16724376" y="6172200"/>
            <a:ext cx="3415284" cy="365760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16834104" y="6172200"/>
            <a:ext cx="2890432" cy="4659796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16943832" y="6172200"/>
            <a:ext cx="1778508" cy="507492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17053560" y="6172200"/>
            <a:ext cx="666583" cy="4659796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17163288" y="6172200"/>
            <a:ext cx="141732" cy="3657600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17273016" y="6172200"/>
            <a:ext cx="447127" cy="2655403"/>
          </a:xfrm>
          <a:prstGeom prst="line">
            <a:avLst/>
          </a:prstGeom>
          <a:ln w="10972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17711928" y="6172200"/>
            <a:ext cx="1010412" cy="224028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17821656" y="6172200"/>
            <a:ext cx="1902880" cy="2655403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17931384" y="6172200"/>
            <a:ext cx="2208276" cy="365760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18041112" y="6172200"/>
            <a:ext cx="1683424" cy="4659796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18150840" y="6172200"/>
            <a:ext cx="571500" cy="507492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H="1">
            <a:off x="17720143" y="6172200"/>
            <a:ext cx="540425" cy="4659796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H="1">
            <a:off x="17305020" y="6172200"/>
            <a:ext cx="1065276" cy="3657600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H="1">
            <a:off x="17720143" y="6172200"/>
            <a:ext cx="759881" cy="2655403"/>
          </a:xfrm>
          <a:prstGeom prst="line">
            <a:avLst/>
          </a:prstGeom>
          <a:ln w="10972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H="1">
            <a:off x="18722340" y="6172200"/>
            <a:ext cx="196596" cy="224028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19028664" y="6172200"/>
            <a:ext cx="695872" cy="2655403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19138392" y="6172200"/>
            <a:ext cx="1001268" cy="365760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19248120" y="6172200"/>
            <a:ext cx="476416" cy="4659796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H="1">
            <a:off x="18722340" y="6172200"/>
            <a:ext cx="635508" cy="507492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H="1">
            <a:off x="17720143" y="6172200"/>
            <a:ext cx="1747433" cy="4659796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H="1">
            <a:off x="17305020" y="6172200"/>
            <a:ext cx="2272284" cy="3657600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H="1">
            <a:off x="17720143" y="6172200"/>
            <a:ext cx="1966889" cy="2655403"/>
          </a:xfrm>
          <a:prstGeom prst="line">
            <a:avLst/>
          </a:prstGeom>
          <a:ln w="10972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H="1">
            <a:off x="18722340" y="6172200"/>
            <a:ext cx="1403604" cy="224028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H="1">
            <a:off x="19724536" y="6172200"/>
            <a:ext cx="511136" cy="2655403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H="1">
            <a:off x="20139660" y="6172200"/>
            <a:ext cx="205740" cy="365760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H="1">
            <a:off x="19724536" y="6172200"/>
            <a:ext cx="730592" cy="4659796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H="1">
            <a:off x="18722340" y="6172200"/>
            <a:ext cx="1842516" cy="507492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H="1">
            <a:off x="17720143" y="6172200"/>
            <a:ext cx="2954441" cy="4659796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H="1">
            <a:off x="17305020" y="6172200"/>
            <a:ext cx="3479292" cy="3657600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H="1">
            <a:off x="17720143" y="6172200"/>
            <a:ext cx="3173897" cy="2655403"/>
          </a:xfrm>
          <a:prstGeom prst="line">
            <a:avLst/>
          </a:prstGeom>
          <a:ln w="10972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18722340" y="8412480"/>
            <a:ext cx="1002196" cy="41512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18722340" y="8412480"/>
            <a:ext cx="1417320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18722340" y="8412480"/>
            <a:ext cx="1002196" cy="241951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18722340" y="8412480"/>
            <a:ext cx="0" cy="283464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H="1">
            <a:off x="17720143" y="8412480"/>
            <a:ext cx="1002197" cy="241951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H="1">
            <a:off x="17305020" y="8412480"/>
            <a:ext cx="1417320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H="1">
            <a:off x="17720143" y="8412480"/>
            <a:ext cx="1002197" cy="41512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19724536" y="8827603"/>
            <a:ext cx="415124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19724536" y="8827603"/>
            <a:ext cx="0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H="1">
            <a:off x="18722340" y="8827603"/>
            <a:ext cx="1002196" cy="241951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H="1">
            <a:off x="17720143" y="8827603"/>
            <a:ext cx="2004393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H="1">
            <a:off x="17305020" y="8827603"/>
            <a:ext cx="2419516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H="1">
            <a:off x="17720143" y="8827603"/>
            <a:ext cx="200439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H="1">
            <a:off x="19724536" y="9829800"/>
            <a:ext cx="415124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H="1">
            <a:off x="18722340" y="9829800"/>
            <a:ext cx="1417320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H="1">
            <a:off x="17720143" y="9829800"/>
            <a:ext cx="2419517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H="1">
            <a:off x="17305020" y="9829800"/>
            <a:ext cx="2834640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H="1" flipV="1">
            <a:off x="17720143" y="8827603"/>
            <a:ext cx="2419517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H="1">
            <a:off x="18722340" y="10831996"/>
            <a:ext cx="1002196" cy="415124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H="1">
            <a:off x="17720143" y="10831996"/>
            <a:ext cx="2004393" cy="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H="1" flipV="1">
            <a:off x="17305020" y="9829800"/>
            <a:ext cx="2419516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H="1" flipV="1">
            <a:off x="17720143" y="8827603"/>
            <a:ext cx="2004393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 flipV="1">
            <a:off x="17720143" y="10831996"/>
            <a:ext cx="1002197" cy="415124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H="1" flipV="1">
            <a:off x="17305020" y="9829800"/>
            <a:ext cx="1417320" cy="1417320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H="1" flipV="1">
            <a:off x="17720143" y="8827603"/>
            <a:ext cx="1002197" cy="241951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H="1" flipV="1">
            <a:off x="17305020" y="9829800"/>
            <a:ext cx="415123" cy="1002196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17720143" y="8827603"/>
            <a:ext cx="0" cy="2004393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17305020" y="8827603"/>
            <a:ext cx="415123" cy="1002197"/>
          </a:xfrm>
          <a:prstGeom prst="line">
            <a:avLst/>
          </a:prstGeom>
          <a:ln w="16459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Rectangle 442"/>
          <p:cNvSpPr/>
          <p:nvPr/>
        </p:nvSpPr>
        <p:spPr>
          <a:xfrm>
            <a:off x="5577840" y="2148840"/>
            <a:ext cx="2103120" cy="822960"/>
          </a:xfrm>
          <a:prstGeom prst="rect">
            <a:avLst/>
          </a:prstGeom>
          <a:solidFill>
            <a:srgbClr val="B5DC86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-3429000" y="225856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-3429000" y="251002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L2-P0-S0</a:t>
            </a:r>
          </a:p>
        </p:txBody>
      </p:sp>
      <p:sp>
        <p:nvSpPr>
          <p:cNvPr id="446" name="Rectangle 445"/>
          <p:cNvSpPr/>
          <p:nvPr/>
        </p:nvSpPr>
        <p:spPr>
          <a:xfrm>
            <a:off x="8458200" y="2148840"/>
            <a:ext cx="2103120" cy="822960"/>
          </a:xfrm>
          <a:prstGeom prst="rect">
            <a:avLst/>
          </a:prstGeom>
          <a:solidFill>
            <a:srgbClr val="B5DC86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-548640" y="225856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-548640" y="251002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L2-P0-S1</a:t>
            </a:r>
          </a:p>
        </p:txBody>
      </p:sp>
      <p:sp>
        <p:nvSpPr>
          <p:cNvPr id="449" name="Rectangle 448"/>
          <p:cNvSpPr/>
          <p:nvPr/>
        </p:nvSpPr>
        <p:spPr>
          <a:xfrm>
            <a:off x="11338560" y="2148840"/>
            <a:ext cx="2103120" cy="822960"/>
          </a:xfrm>
          <a:prstGeom prst="rect">
            <a:avLst/>
          </a:prstGeom>
          <a:solidFill>
            <a:srgbClr val="B5DC86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2331720" y="225856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2331720" y="251002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L2-P0-S2</a:t>
            </a:r>
          </a:p>
        </p:txBody>
      </p:sp>
      <p:sp>
        <p:nvSpPr>
          <p:cNvPr id="452" name="Rectangle 451"/>
          <p:cNvSpPr/>
          <p:nvPr/>
        </p:nvSpPr>
        <p:spPr>
          <a:xfrm>
            <a:off x="14218920" y="2148840"/>
            <a:ext cx="2103120" cy="822960"/>
          </a:xfrm>
          <a:prstGeom prst="rect">
            <a:avLst/>
          </a:prstGeom>
          <a:solidFill>
            <a:srgbClr val="B5DC86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5212080" y="225856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5212080" y="2510028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L2-P0-S3</a:t>
            </a:r>
          </a:p>
        </p:txBody>
      </p:sp>
      <p:sp>
        <p:nvSpPr>
          <p:cNvPr id="455" name="Rectangle 454"/>
          <p:cNvSpPr/>
          <p:nvPr/>
        </p:nvSpPr>
        <p:spPr>
          <a:xfrm>
            <a:off x="2697480" y="4590288"/>
            <a:ext cx="5577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-4572000" y="4636008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202020"/>
                </a:solidFill>
                <a:latin typeface="DejaVu Sans"/>
              </a:rPr>
              <a:t>Cabinet 0: 64 NPUs</a:t>
            </a:r>
          </a:p>
        </p:txBody>
      </p:sp>
      <p:sp>
        <p:nvSpPr>
          <p:cNvPr id="457" name="Rectangle 456"/>
          <p:cNvSpPr/>
          <p:nvPr/>
        </p:nvSpPr>
        <p:spPr>
          <a:xfrm>
            <a:off x="685800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-8823960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-8823960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L1-C0-S0</a:t>
            </a:r>
          </a:p>
        </p:txBody>
      </p:sp>
      <p:sp>
        <p:nvSpPr>
          <p:cNvPr id="460" name="Rectangle 459"/>
          <p:cNvSpPr/>
          <p:nvPr/>
        </p:nvSpPr>
        <p:spPr>
          <a:xfrm>
            <a:off x="1892807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-7616952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-7616952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L1-C0-S1</a:t>
            </a:r>
          </a:p>
        </p:txBody>
      </p:sp>
      <p:sp>
        <p:nvSpPr>
          <p:cNvPr id="463" name="Rectangle 462"/>
          <p:cNvSpPr/>
          <p:nvPr/>
        </p:nvSpPr>
        <p:spPr>
          <a:xfrm>
            <a:off x="3099816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-6409944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-6409944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L1-C0-S2</a:t>
            </a:r>
          </a:p>
        </p:txBody>
      </p:sp>
      <p:sp>
        <p:nvSpPr>
          <p:cNvPr id="466" name="Rectangle 465"/>
          <p:cNvSpPr/>
          <p:nvPr/>
        </p:nvSpPr>
        <p:spPr>
          <a:xfrm>
            <a:off x="4306824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-5202936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-5202936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L1-C0-S3</a:t>
            </a:r>
          </a:p>
        </p:txBody>
      </p:sp>
      <p:sp>
        <p:nvSpPr>
          <p:cNvPr id="469" name="Rectangle 468"/>
          <p:cNvSpPr/>
          <p:nvPr/>
        </p:nvSpPr>
        <p:spPr>
          <a:xfrm>
            <a:off x="5513832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A77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-3995928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-3995928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L1-C0-S4</a:t>
            </a:r>
          </a:p>
        </p:txBody>
      </p:sp>
      <p:sp>
        <p:nvSpPr>
          <p:cNvPr id="472" name="Rectangle 471"/>
          <p:cNvSpPr/>
          <p:nvPr/>
        </p:nvSpPr>
        <p:spPr>
          <a:xfrm>
            <a:off x="6720840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32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TextBox 472"/>
          <p:cNvSpPr txBox="1"/>
          <p:nvPr/>
        </p:nvSpPr>
        <p:spPr>
          <a:xfrm>
            <a:off x="-2788920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-2788920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L1-C0-S5</a:t>
            </a:r>
          </a:p>
        </p:txBody>
      </p:sp>
      <p:sp>
        <p:nvSpPr>
          <p:cNvPr id="475" name="Rectangle 474"/>
          <p:cNvSpPr/>
          <p:nvPr/>
        </p:nvSpPr>
        <p:spPr>
          <a:xfrm>
            <a:off x="7927848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C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-1581912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-1581912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L1-C0-S6</a:t>
            </a:r>
          </a:p>
        </p:txBody>
      </p:sp>
      <p:sp>
        <p:nvSpPr>
          <p:cNvPr id="478" name="Rectangle 477"/>
          <p:cNvSpPr/>
          <p:nvPr/>
        </p:nvSpPr>
        <p:spPr>
          <a:xfrm>
            <a:off x="9134856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667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-374904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-374904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L1-C0-S7</a:t>
            </a:r>
          </a:p>
        </p:txBody>
      </p:sp>
      <p:sp>
        <p:nvSpPr>
          <p:cNvPr id="481" name="Rectangle 480"/>
          <p:cNvSpPr/>
          <p:nvPr/>
        </p:nvSpPr>
        <p:spPr>
          <a:xfrm>
            <a:off x="5166360" y="8878824"/>
            <a:ext cx="393192" cy="12161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-4709160" y="8961120"/>
            <a:ext cx="201168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60">
                <a:solidFill>
                  <a:srgbClr val="202020"/>
                </a:solidFill>
                <a:latin typeface="DejaVu Sans"/>
              </a:rPr>
              <a:t>...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-4709160" y="937260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Nodes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-4709160" y="953262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1-6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-4709160" y="969264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omitted</a:t>
            </a:r>
          </a:p>
        </p:txBody>
      </p:sp>
      <p:sp>
        <p:nvSpPr>
          <p:cNvPr id="486" name="Rectangle 485"/>
          <p:cNvSpPr/>
          <p:nvPr/>
        </p:nvSpPr>
        <p:spPr>
          <a:xfrm>
            <a:off x="13578840" y="4590288"/>
            <a:ext cx="5577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TextBox 486"/>
          <p:cNvSpPr txBox="1"/>
          <p:nvPr/>
        </p:nvSpPr>
        <p:spPr>
          <a:xfrm>
            <a:off x="6309360" y="4636008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202020"/>
                </a:solidFill>
                <a:latin typeface="DejaVu Sans"/>
              </a:rPr>
              <a:t>Cabinet 1: 64 NPUs</a:t>
            </a:r>
          </a:p>
        </p:txBody>
      </p:sp>
      <p:sp>
        <p:nvSpPr>
          <p:cNvPr id="488" name="Rectangle 487"/>
          <p:cNvSpPr/>
          <p:nvPr/>
        </p:nvSpPr>
        <p:spPr>
          <a:xfrm>
            <a:off x="11567160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2057400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2057400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L1-C1-S0</a:t>
            </a:r>
          </a:p>
        </p:txBody>
      </p:sp>
      <p:sp>
        <p:nvSpPr>
          <p:cNvPr id="491" name="Rectangle 490"/>
          <p:cNvSpPr/>
          <p:nvPr/>
        </p:nvSpPr>
        <p:spPr>
          <a:xfrm>
            <a:off x="12774168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3264408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3264408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L1-C1-S1</a:t>
            </a:r>
          </a:p>
        </p:txBody>
      </p:sp>
      <p:sp>
        <p:nvSpPr>
          <p:cNvPr id="494" name="Rectangle 493"/>
          <p:cNvSpPr/>
          <p:nvPr/>
        </p:nvSpPr>
        <p:spPr>
          <a:xfrm>
            <a:off x="13981176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4471416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4471416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L1-C1-S2</a:t>
            </a:r>
          </a:p>
        </p:txBody>
      </p:sp>
      <p:sp>
        <p:nvSpPr>
          <p:cNvPr id="497" name="Rectangle 496"/>
          <p:cNvSpPr/>
          <p:nvPr/>
        </p:nvSpPr>
        <p:spPr>
          <a:xfrm>
            <a:off x="15188184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5678424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5678424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L1-C1-S3</a:t>
            </a:r>
          </a:p>
        </p:txBody>
      </p:sp>
      <p:sp>
        <p:nvSpPr>
          <p:cNvPr id="500" name="Rectangle 499"/>
          <p:cNvSpPr/>
          <p:nvPr/>
        </p:nvSpPr>
        <p:spPr>
          <a:xfrm>
            <a:off x="16395192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A77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6885432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885432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L1-C1-S4</a:t>
            </a:r>
          </a:p>
        </p:txBody>
      </p:sp>
      <p:sp>
        <p:nvSpPr>
          <p:cNvPr id="503" name="Rectangle 502"/>
          <p:cNvSpPr/>
          <p:nvPr/>
        </p:nvSpPr>
        <p:spPr>
          <a:xfrm>
            <a:off x="17602200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32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8092440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8092440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L1-C1-S5</a:t>
            </a:r>
          </a:p>
        </p:txBody>
      </p:sp>
      <p:sp>
        <p:nvSpPr>
          <p:cNvPr id="506" name="Rectangle 505"/>
          <p:cNvSpPr/>
          <p:nvPr/>
        </p:nvSpPr>
        <p:spPr>
          <a:xfrm>
            <a:off x="18809208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C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9299448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9299448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L1-C1-S6</a:t>
            </a:r>
          </a:p>
        </p:txBody>
      </p:sp>
      <p:sp>
        <p:nvSpPr>
          <p:cNvPr id="509" name="Rectangle 508"/>
          <p:cNvSpPr/>
          <p:nvPr/>
        </p:nvSpPr>
        <p:spPr>
          <a:xfrm>
            <a:off x="20016216" y="530352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667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TextBox 509"/>
          <p:cNvSpPr txBox="1"/>
          <p:nvPr/>
        </p:nvSpPr>
        <p:spPr>
          <a:xfrm>
            <a:off x="10506456" y="54132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10506456" y="559612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L1-C1-S7</a:t>
            </a:r>
          </a:p>
        </p:txBody>
      </p:sp>
      <p:sp>
        <p:nvSpPr>
          <p:cNvPr id="512" name="Rectangle 511"/>
          <p:cNvSpPr/>
          <p:nvPr/>
        </p:nvSpPr>
        <p:spPr>
          <a:xfrm>
            <a:off x="16047720" y="8878824"/>
            <a:ext cx="393192" cy="12161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TextBox 512"/>
          <p:cNvSpPr txBox="1"/>
          <p:nvPr/>
        </p:nvSpPr>
        <p:spPr>
          <a:xfrm>
            <a:off x="6172200" y="8961120"/>
            <a:ext cx="201168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60">
                <a:solidFill>
                  <a:srgbClr val="202020"/>
                </a:solidFill>
                <a:latin typeface="DejaVu Sans"/>
              </a:rPr>
              <a:t>...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6172200" y="937260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Nodes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6172200" y="953262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9-14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6172200" y="9692640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omitted</a:t>
            </a:r>
          </a:p>
        </p:txBody>
      </p:sp>
      <p:sp>
        <p:nvSpPr>
          <p:cNvPr id="517" name="Rectangle 516"/>
          <p:cNvSpPr/>
          <p:nvPr/>
        </p:nvSpPr>
        <p:spPr>
          <a:xfrm>
            <a:off x="2665476" y="821131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TextBox 517"/>
          <p:cNvSpPr txBox="1"/>
          <p:nvPr/>
        </p:nvSpPr>
        <p:spPr>
          <a:xfrm>
            <a:off x="-7109460" y="824788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0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-7109460" y="839647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r0</a:t>
            </a:r>
          </a:p>
        </p:txBody>
      </p:sp>
      <p:sp>
        <p:nvSpPr>
          <p:cNvPr id="520" name="Rectangle 519"/>
          <p:cNvSpPr/>
          <p:nvPr/>
        </p:nvSpPr>
        <p:spPr>
          <a:xfrm>
            <a:off x="3667672" y="8626435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TextBox 520"/>
          <p:cNvSpPr txBox="1"/>
          <p:nvPr/>
        </p:nvSpPr>
        <p:spPr>
          <a:xfrm>
            <a:off x="-6107263" y="866301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1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-6107263" y="881160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r1</a:t>
            </a:r>
          </a:p>
        </p:txBody>
      </p:sp>
      <p:sp>
        <p:nvSpPr>
          <p:cNvPr id="523" name="Rectangle 522"/>
          <p:cNvSpPr/>
          <p:nvPr/>
        </p:nvSpPr>
        <p:spPr>
          <a:xfrm>
            <a:off x="4082796" y="962863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TextBox 523"/>
          <p:cNvSpPr txBox="1"/>
          <p:nvPr/>
        </p:nvSpPr>
        <p:spPr>
          <a:xfrm>
            <a:off x="-5692140" y="966520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2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-5692140" y="981379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r2</a:t>
            </a:r>
          </a:p>
        </p:txBody>
      </p:sp>
      <p:sp>
        <p:nvSpPr>
          <p:cNvPr id="526" name="Rectangle 525"/>
          <p:cNvSpPr/>
          <p:nvPr/>
        </p:nvSpPr>
        <p:spPr>
          <a:xfrm>
            <a:off x="3667672" y="10630828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TextBox 526"/>
          <p:cNvSpPr txBox="1"/>
          <p:nvPr/>
        </p:nvSpPr>
        <p:spPr>
          <a:xfrm>
            <a:off x="-6107263" y="1066740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3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-6107263" y="1081599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r3</a:t>
            </a:r>
          </a:p>
        </p:txBody>
      </p:sp>
      <p:sp>
        <p:nvSpPr>
          <p:cNvPr id="529" name="Rectangle 528"/>
          <p:cNvSpPr/>
          <p:nvPr/>
        </p:nvSpPr>
        <p:spPr>
          <a:xfrm>
            <a:off x="2665476" y="1104595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TextBox 529"/>
          <p:cNvSpPr txBox="1"/>
          <p:nvPr/>
        </p:nvSpPr>
        <p:spPr>
          <a:xfrm>
            <a:off x="-7109460" y="1108252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4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-7109460" y="1123111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r4</a:t>
            </a:r>
          </a:p>
        </p:txBody>
      </p:sp>
      <p:sp>
        <p:nvSpPr>
          <p:cNvPr id="532" name="Rectangle 531"/>
          <p:cNvSpPr/>
          <p:nvPr/>
        </p:nvSpPr>
        <p:spPr>
          <a:xfrm>
            <a:off x="1663279" y="10630828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TextBox 532"/>
          <p:cNvSpPr txBox="1"/>
          <p:nvPr/>
        </p:nvSpPr>
        <p:spPr>
          <a:xfrm>
            <a:off x="-8111656" y="1066740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5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-8111656" y="1081599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r5</a:t>
            </a:r>
          </a:p>
        </p:txBody>
      </p:sp>
      <p:sp>
        <p:nvSpPr>
          <p:cNvPr id="535" name="Rectangle 534"/>
          <p:cNvSpPr/>
          <p:nvPr/>
        </p:nvSpPr>
        <p:spPr>
          <a:xfrm>
            <a:off x="1248156" y="962863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TextBox 535"/>
          <p:cNvSpPr txBox="1"/>
          <p:nvPr/>
        </p:nvSpPr>
        <p:spPr>
          <a:xfrm>
            <a:off x="-8526780" y="966520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6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-8526780" y="981379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r6</a:t>
            </a:r>
          </a:p>
        </p:txBody>
      </p:sp>
      <p:sp>
        <p:nvSpPr>
          <p:cNvPr id="538" name="Rectangle 537"/>
          <p:cNvSpPr/>
          <p:nvPr/>
        </p:nvSpPr>
        <p:spPr>
          <a:xfrm>
            <a:off x="1663279" y="8626435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-8111656" y="866301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7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-8111656" y="881160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r7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-7109460" y="11567160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Node 0: K8 FullMesh, 28 direct links</a:t>
            </a:r>
          </a:p>
        </p:txBody>
      </p:sp>
      <p:sp>
        <p:nvSpPr>
          <p:cNvPr id="542" name="Rectangle 541"/>
          <p:cNvSpPr/>
          <p:nvPr/>
        </p:nvSpPr>
        <p:spPr>
          <a:xfrm>
            <a:off x="7557516" y="821131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-2217420" y="824788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0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-2217420" y="839647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r56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559712" y="8626435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-1215223" y="866301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1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-1215223" y="881160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r57</a:t>
            </a:r>
          </a:p>
        </p:txBody>
      </p:sp>
      <p:sp>
        <p:nvSpPr>
          <p:cNvPr id="548" name="Rectangle 547"/>
          <p:cNvSpPr/>
          <p:nvPr/>
        </p:nvSpPr>
        <p:spPr>
          <a:xfrm>
            <a:off x="8974836" y="962863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-800100" y="966520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2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-800100" y="981379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r58</a:t>
            </a:r>
          </a:p>
        </p:txBody>
      </p:sp>
      <p:sp>
        <p:nvSpPr>
          <p:cNvPr id="551" name="Rectangle 550"/>
          <p:cNvSpPr/>
          <p:nvPr/>
        </p:nvSpPr>
        <p:spPr>
          <a:xfrm>
            <a:off x="8559712" y="10630828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-1215223" y="1066740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3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-1215223" y="1081599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r59</a:t>
            </a:r>
          </a:p>
        </p:txBody>
      </p:sp>
      <p:sp>
        <p:nvSpPr>
          <p:cNvPr id="554" name="Rectangle 553"/>
          <p:cNvSpPr/>
          <p:nvPr/>
        </p:nvSpPr>
        <p:spPr>
          <a:xfrm>
            <a:off x="7557516" y="1104595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-2217420" y="1108252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4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-2217420" y="1123111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r60</a:t>
            </a:r>
          </a:p>
        </p:txBody>
      </p:sp>
      <p:sp>
        <p:nvSpPr>
          <p:cNvPr id="557" name="Rectangle 556"/>
          <p:cNvSpPr/>
          <p:nvPr/>
        </p:nvSpPr>
        <p:spPr>
          <a:xfrm>
            <a:off x="6555319" y="10630828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-3219616" y="1066740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5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-3219616" y="1081599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r61</a:t>
            </a:r>
          </a:p>
        </p:txBody>
      </p:sp>
      <p:sp>
        <p:nvSpPr>
          <p:cNvPr id="560" name="Rectangle 559"/>
          <p:cNvSpPr/>
          <p:nvPr/>
        </p:nvSpPr>
        <p:spPr>
          <a:xfrm>
            <a:off x="6140196" y="962863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TextBox 560"/>
          <p:cNvSpPr txBox="1"/>
          <p:nvPr/>
        </p:nvSpPr>
        <p:spPr>
          <a:xfrm>
            <a:off x="-3634740" y="966520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6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-3634740" y="981379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r62</a:t>
            </a:r>
          </a:p>
        </p:txBody>
      </p:sp>
      <p:sp>
        <p:nvSpPr>
          <p:cNvPr id="563" name="Rectangle 562"/>
          <p:cNvSpPr/>
          <p:nvPr/>
        </p:nvSpPr>
        <p:spPr>
          <a:xfrm>
            <a:off x="6555319" y="8626435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TextBox 563"/>
          <p:cNvSpPr txBox="1"/>
          <p:nvPr/>
        </p:nvSpPr>
        <p:spPr>
          <a:xfrm>
            <a:off x="-3219616" y="866301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7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-3219616" y="881160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r63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-2217420" y="11567160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Node 7: K8 FullMesh, 28 direct links</a:t>
            </a:r>
          </a:p>
        </p:txBody>
      </p:sp>
      <p:sp>
        <p:nvSpPr>
          <p:cNvPr id="567" name="Rectangle 566"/>
          <p:cNvSpPr/>
          <p:nvPr/>
        </p:nvSpPr>
        <p:spPr>
          <a:xfrm>
            <a:off x="13546836" y="821131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extBox 567"/>
          <p:cNvSpPr txBox="1"/>
          <p:nvPr/>
        </p:nvSpPr>
        <p:spPr>
          <a:xfrm>
            <a:off x="3771900" y="824788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0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3771900" y="839647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r64</a:t>
            </a:r>
          </a:p>
        </p:txBody>
      </p:sp>
      <p:sp>
        <p:nvSpPr>
          <p:cNvPr id="570" name="Rectangle 569"/>
          <p:cNvSpPr/>
          <p:nvPr/>
        </p:nvSpPr>
        <p:spPr>
          <a:xfrm>
            <a:off x="14549032" y="8626435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>
            <a:off x="4774096" y="866301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1</a:t>
            </a:r>
          </a:p>
        </p:txBody>
      </p:sp>
      <p:sp>
        <p:nvSpPr>
          <p:cNvPr id="572" name="TextBox 571"/>
          <p:cNvSpPr txBox="1"/>
          <p:nvPr/>
        </p:nvSpPr>
        <p:spPr>
          <a:xfrm>
            <a:off x="4774096" y="881160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r65</a:t>
            </a:r>
          </a:p>
        </p:txBody>
      </p:sp>
      <p:sp>
        <p:nvSpPr>
          <p:cNvPr id="573" name="Rectangle 572"/>
          <p:cNvSpPr/>
          <p:nvPr/>
        </p:nvSpPr>
        <p:spPr>
          <a:xfrm>
            <a:off x="14964155" y="962863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5189220" y="966520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2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5189220" y="981379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r66</a:t>
            </a:r>
          </a:p>
        </p:txBody>
      </p:sp>
      <p:sp>
        <p:nvSpPr>
          <p:cNvPr id="576" name="Rectangle 575"/>
          <p:cNvSpPr/>
          <p:nvPr/>
        </p:nvSpPr>
        <p:spPr>
          <a:xfrm>
            <a:off x="14549032" y="10630828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4774096" y="1066740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3</a:t>
            </a:r>
          </a:p>
        </p:txBody>
      </p:sp>
      <p:sp>
        <p:nvSpPr>
          <p:cNvPr id="578" name="TextBox 577"/>
          <p:cNvSpPr txBox="1"/>
          <p:nvPr/>
        </p:nvSpPr>
        <p:spPr>
          <a:xfrm>
            <a:off x="4774096" y="1081599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r67</a:t>
            </a:r>
          </a:p>
        </p:txBody>
      </p:sp>
      <p:sp>
        <p:nvSpPr>
          <p:cNvPr id="579" name="Rectangle 578"/>
          <p:cNvSpPr/>
          <p:nvPr/>
        </p:nvSpPr>
        <p:spPr>
          <a:xfrm>
            <a:off x="13546836" y="1104595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71900" y="1108252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4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3771900" y="1123111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r68</a:t>
            </a:r>
          </a:p>
        </p:txBody>
      </p:sp>
      <p:sp>
        <p:nvSpPr>
          <p:cNvPr id="582" name="Rectangle 581"/>
          <p:cNvSpPr/>
          <p:nvPr/>
        </p:nvSpPr>
        <p:spPr>
          <a:xfrm>
            <a:off x="12544639" y="10630828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2769703" y="1066740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5</a:t>
            </a:r>
          </a:p>
        </p:txBody>
      </p:sp>
      <p:sp>
        <p:nvSpPr>
          <p:cNvPr id="584" name="TextBox 583"/>
          <p:cNvSpPr txBox="1"/>
          <p:nvPr/>
        </p:nvSpPr>
        <p:spPr>
          <a:xfrm>
            <a:off x="2769703" y="1081599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r69</a:t>
            </a:r>
          </a:p>
        </p:txBody>
      </p:sp>
      <p:sp>
        <p:nvSpPr>
          <p:cNvPr id="585" name="Rectangle 584"/>
          <p:cNvSpPr/>
          <p:nvPr/>
        </p:nvSpPr>
        <p:spPr>
          <a:xfrm>
            <a:off x="12129516" y="962863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2354580" y="966520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6</a:t>
            </a:r>
          </a:p>
        </p:txBody>
      </p:sp>
      <p:sp>
        <p:nvSpPr>
          <p:cNvPr id="587" name="TextBox 586"/>
          <p:cNvSpPr txBox="1"/>
          <p:nvPr/>
        </p:nvSpPr>
        <p:spPr>
          <a:xfrm>
            <a:off x="2354580" y="981379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r70</a:t>
            </a:r>
          </a:p>
        </p:txBody>
      </p:sp>
      <p:sp>
        <p:nvSpPr>
          <p:cNvPr id="588" name="Rectangle 587"/>
          <p:cNvSpPr/>
          <p:nvPr/>
        </p:nvSpPr>
        <p:spPr>
          <a:xfrm>
            <a:off x="12544639" y="8626435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2769703" y="866301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7</a:t>
            </a:r>
          </a:p>
        </p:txBody>
      </p:sp>
      <p:sp>
        <p:nvSpPr>
          <p:cNvPr id="590" name="TextBox 589"/>
          <p:cNvSpPr txBox="1"/>
          <p:nvPr/>
        </p:nvSpPr>
        <p:spPr>
          <a:xfrm>
            <a:off x="2769703" y="881160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r71</a:t>
            </a:r>
          </a:p>
        </p:txBody>
      </p:sp>
      <p:sp>
        <p:nvSpPr>
          <p:cNvPr id="591" name="TextBox 590"/>
          <p:cNvSpPr txBox="1"/>
          <p:nvPr/>
        </p:nvSpPr>
        <p:spPr>
          <a:xfrm>
            <a:off x="3771900" y="11567160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Node 8: K8 FullMesh, 28 direct links</a:t>
            </a:r>
          </a:p>
        </p:txBody>
      </p:sp>
      <p:sp>
        <p:nvSpPr>
          <p:cNvPr id="592" name="Rectangle 591"/>
          <p:cNvSpPr/>
          <p:nvPr/>
        </p:nvSpPr>
        <p:spPr>
          <a:xfrm>
            <a:off x="18438876" y="821131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8663940" y="824788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0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8663940" y="839647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r120</a:t>
            </a:r>
          </a:p>
        </p:txBody>
      </p:sp>
      <p:sp>
        <p:nvSpPr>
          <p:cNvPr id="595" name="Rectangle 594"/>
          <p:cNvSpPr/>
          <p:nvPr/>
        </p:nvSpPr>
        <p:spPr>
          <a:xfrm>
            <a:off x="19441072" y="8626435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TextBox 595"/>
          <p:cNvSpPr txBox="1"/>
          <p:nvPr/>
        </p:nvSpPr>
        <p:spPr>
          <a:xfrm>
            <a:off x="9666136" y="866301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1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9666136" y="881160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r121</a:t>
            </a:r>
          </a:p>
        </p:txBody>
      </p:sp>
      <p:sp>
        <p:nvSpPr>
          <p:cNvPr id="598" name="Rectangle 597"/>
          <p:cNvSpPr/>
          <p:nvPr/>
        </p:nvSpPr>
        <p:spPr>
          <a:xfrm>
            <a:off x="19856196" y="962863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10081260" y="966520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2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10081260" y="981379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r122</a:t>
            </a:r>
          </a:p>
        </p:txBody>
      </p:sp>
      <p:sp>
        <p:nvSpPr>
          <p:cNvPr id="601" name="Rectangle 600"/>
          <p:cNvSpPr/>
          <p:nvPr/>
        </p:nvSpPr>
        <p:spPr>
          <a:xfrm>
            <a:off x="19441072" y="10630828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9666136" y="1066740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3</a:t>
            </a:r>
          </a:p>
        </p:txBody>
      </p:sp>
      <p:sp>
        <p:nvSpPr>
          <p:cNvPr id="603" name="TextBox 602"/>
          <p:cNvSpPr txBox="1"/>
          <p:nvPr/>
        </p:nvSpPr>
        <p:spPr>
          <a:xfrm>
            <a:off x="9666136" y="1081599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r123</a:t>
            </a:r>
          </a:p>
        </p:txBody>
      </p:sp>
      <p:sp>
        <p:nvSpPr>
          <p:cNvPr id="604" name="Rectangle 603"/>
          <p:cNvSpPr/>
          <p:nvPr/>
        </p:nvSpPr>
        <p:spPr>
          <a:xfrm>
            <a:off x="18438876" y="1104595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8663940" y="1108252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4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8663940" y="1123111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r124</a:t>
            </a:r>
          </a:p>
        </p:txBody>
      </p:sp>
      <p:sp>
        <p:nvSpPr>
          <p:cNvPr id="607" name="Rectangle 606"/>
          <p:cNvSpPr/>
          <p:nvPr/>
        </p:nvSpPr>
        <p:spPr>
          <a:xfrm>
            <a:off x="17436679" y="10630828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7661743" y="1066740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5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7661743" y="10815994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r125</a:t>
            </a:r>
          </a:p>
        </p:txBody>
      </p:sp>
      <p:sp>
        <p:nvSpPr>
          <p:cNvPr id="610" name="Rectangle 609"/>
          <p:cNvSpPr/>
          <p:nvPr/>
        </p:nvSpPr>
        <p:spPr>
          <a:xfrm>
            <a:off x="17021556" y="9628632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7246620" y="966520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6</a:t>
            </a:r>
          </a:p>
        </p:txBody>
      </p:sp>
      <p:sp>
        <p:nvSpPr>
          <p:cNvPr id="612" name="TextBox 611"/>
          <p:cNvSpPr txBox="1"/>
          <p:nvPr/>
        </p:nvSpPr>
        <p:spPr>
          <a:xfrm>
            <a:off x="7246620" y="9813798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r126</a:t>
            </a:r>
          </a:p>
        </p:txBody>
      </p:sp>
      <p:sp>
        <p:nvSpPr>
          <p:cNvPr id="613" name="Rectangle 612"/>
          <p:cNvSpPr/>
          <p:nvPr/>
        </p:nvSpPr>
        <p:spPr>
          <a:xfrm>
            <a:off x="17436679" y="8626435"/>
            <a:ext cx="566928" cy="402336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7661743" y="866301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NPU 7</a:t>
            </a:r>
          </a:p>
        </p:txBody>
      </p:sp>
      <p:sp>
        <p:nvSpPr>
          <p:cNvPr id="615" name="TextBox 614"/>
          <p:cNvSpPr txBox="1"/>
          <p:nvPr/>
        </p:nvSpPr>
        <p:spPr>
          <a:xfrm>
            <a:off x="7661743" y="8811601"/>
            <a:ext cx="20116800" cy="1783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36">
                <a:solidFill>
                  <a:srgbClr val="202020"/>
                </a:solidFill>
                <a:latin typeface="DejaVu Sans"/>
              </a:rPr>
              <a:t>r127</a:t>
            </a:r>
          </a:p>
        </p:txBody>
      </p:sp>
      <p:sp>
        <p:nvSpPr>
          <p:cNvPr id="616" name="TextBox 615"/>
          <p:cNvSpPr txBox="1"/>
          <p:nvPr/>
        </p:nvSpPr>
        <p:spPr>
          <a:xfrm>
            <a:off x="8663940" y="11567160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Node 15: K8 FullMesh, 28 direct links</a:t>
            </a:r>
          </a:p>
        </p:txBody>
      </p:sp>
      <p:sp>
        <p:nvSpPr>
          <p:cNvPr id="617" name="Rectangle 616"/>
          <p:cNvSpPr/>
          <p:nvPr/>
        </p:nvSpPr>
        <p:spPr>
          <a:xfrm>
            <a:off x="10241280" y="3520440"/>
            <a:ext cx="1463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914400" y="3566160"/>
            <a:ext cx="2011680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92">
                <a:solidFill>
                  <a:srgbClr val="202020"/>
                </a:solidFill>
                <a:latin typeface="DejaVu Sans"/>
              </a:rPr>
              <a:t>Clos</a:t>
            </a:r>
          </a:p>
        </p:txBody>
      </p:sp>
      <p:sp>
        <p:nvSpPr>
          <p:cNvPr id="619" name="Rectangle 618"/>
          <p:cNvSpPr/>
          <p:nvPr/>
        </p:nvSpPr>
        <p:spPr>
          <a:xfrm>
            <a:off x="4754880" y="6766560"/>
            <a:ext cx="1463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-4572000" y="6812280"/>
            <a:ext cx="2011680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92">
                <a:solidFill>
                  <a:srgbClr val="202020"/>
                </a:solidFill>
                <a:latin typeface="DejaVu Sans"/>
              </a:rPr>
              <a:t>Clos</a:t>
            </a:r>
          </a:p>
        </p:txBody>
      </p:sp>
      <p:sp>
        <p:nvSpPr>
          <p:cNvPr id="621" name="Rectangle 620"/>
          <p:cNvSpPr/>
          <p:nvPr/>
        </p:nvSpPr>
        <p:spPr>
          <a:xfrm>
            <a:off x="15636240" y="6766560"/>
            <a:ext cx="1463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6309360" y="6812280"/>
            <a:ext cx="2011680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92">
                <a:solidFill>
                  <a:srgbClr val="202020"/>
                </a:solidFill>
                <a:latin typeface="DejaVu Sans"/>
              </a:rPr>
              <a:t>Clos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548640" y="12344400"/>
            <a:ext cx="2139696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12">
                <a:solidFill>
                  <a:srgbClr val="202020"/>
                </a:solidFill>
                <a:latin typeface="DejaVu Sans"/>
              </a:rPr>
              <a:t>Gray lines: NPU-NPU links. Colored lines: Clos links. All links are bidirectional; crossings are not junctions.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1396960" cy="576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24">
                <a:solidFill>
                  <a:srgbClr val="202020"/>
                </a:solidFill>
                <a:latin typeface="DejaVu Sans"/>
              </a:rPr>
              <a:t>Node 0: 8 NPUs with a complete 1D FullMesh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2139696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72">
                <a:solidFill>
                  <a:srgbClr val="202020"/>
                </a:solidFill>
                <a:latin typeface="DejaVu Sans"/>
              </a:rPr>
              <a:t>Every NPU directly connects to the other 7 NPUs. 8 x 7 / 2 = 28 bidirectional edges.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0" y="2606040"/>
            <a:ext cx="2974260" cy="1231979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972800" y="2606040"/>
            <a:ext cx="4206240" cy="420624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0" y="2606040"/>
            <a:ext cx="2974260" cy="718050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972800" y="2606040"/>
            <a:ext cx="0" cy="841248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998539" y="2606040"/>
            <a:ext cx="2974261" cy="718050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766560" y="2606040"/>
            <a:ext cx="4206240" cy="420624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998539" y="2606040"/>
            <a:ext cx="2974261" cy="1231979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947060" y="3838019"/>
            <a:ext cx="1231980" cy="2974261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947060" y="3838019"/>
            <a:ext cx="0" cy="5948521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972800" y="3838019"/>
            <a:ext cx="2974260" cy="7180501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998539" y="3838019"/>
            <a:ext cx="5948521" cy="5948521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766560" y="3838019"/>
            <a:ext cx="7180500" cy="2974261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998539" y="3838019"/>
            <a:ext cx="5948521" cy="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947060" y="6812280"/>
            <a:ext cx="1231980" cy="297426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972800" y="6812280"/>
            <a:ext cx="4206240" cy="420624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998539" y="6812280"/>
            <a:ext cx="7180501" cy="297426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766560" y="6812280"/>
            <a:ext cx="8412480" cy="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7998539" y="3838019"/>
            <a:ext cx="7180501" cy="2974261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972800" y="9786540"/>
            <a:ext cx="2974260" cy="123198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998539" y="9786540"/>
            <a:ext cx="5948521" cy="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766560" y="6812280"/>
            <a:ext cx="7180500" cy="297426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7998539" y="3838019"/>
            <a:ext cx="5948521" cy="5948521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7998539" y="9786540"/>
            <a:ext cx="2974261" cy="123198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6766560" y="6812280"/>
            <a:ext cx="4206240" cy="420624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7998539" y="3838019"/>
            <a:ext cx="2974261" cy="7180501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6766560" y="6812280"/>
            <a:ext cx="1231979" cy="2974260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998539" y="3838019"/>
            <a:ext cx="0" cy="5948521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766560" y="3838019"/>
            <a:ext cx="1231979" cy="2974261"/>
          </a:xfrm>
          <a:prstGeom prst="line">
            <a:avLst/>
          </a:prstGeom>
          <a:ln w="27432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149840" y="2185416"/>
            <a:ext cx="1645920" cy="8412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222199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NPU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53060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r0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124100" y="3417395"/>
            <a:ext cx="1645920" cy="8412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8660" y="3453971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NPU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8660" y="3762581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r1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356080" y="6391656"/>
            <a:ext cx="1645920" cy="8412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642823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NPU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673684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r2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124100" y="9365916"/>
            <a:ext cx="1645920" cy="8412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88660" y="940249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NPU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8660" y="971110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r3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49840" y="10597896"/>
            <a:ext cx="1645920" cy="8412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1063447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NPU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1094308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r4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5579" y="9365916"/>
            <a:ext cx="1645920" cy="8412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-2059860" y="940249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NPU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-2059860" y="971110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r5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6391656"/>
            <a:ext cx="1645920" cy="8412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-3291840" y="642823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NPU 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-3291840" y="673684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r6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5579" y="3417395"/>
            <a:ext cx="1645920" cy="841248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-2059860" y="3453971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NPU 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-2059860" y="3762581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r7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11567160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Each NPU ALSO has 8 separate uplinks to L1-C0-S0 through L1-C0-S7.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12070080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Direct FullMesh links and switch uplinks are two separate sets of connections.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1396960" cy="521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36">
                <a:solidFill>
                  <a:srgbClr val="202020"/>
                </a:solidFill>
                <a:latin typeface="DejaVu Sans"/>
              </a:rPr>
              <a:t>Cabinet 0: each of 64 NPUs connects to all 8 L1 switches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213969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8">
                <a:solidFill>
                  <a:srgbClr val="202020"/>
                </a:solidFill>
                <a:latin typeface="DejaVu Sans"/>
              </a:rPr>
              <a:t>Node 0 and Node 7 are expanded. Nodes 1-6 have identical uplinks and local FullMesh wiring.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6720840"/>
            <a:ext cx="8778240" cy="5074920"/>
          </a:xfrm>
          <a:prstGeom prst="rect">
            <a:avLst/>
          </a:prstGeom>
          <a:solidFill>
            <a:srgbClr val="FFFFFF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70080" y="6720840"/>
            <a:ext cx="8778240" cy="5074920"/>
          </a:xfrm>
          <a:prstGeom prst="rect">
            <a:avLst/>
          </a:prstGeom>
          <a:solidFill>
            <a:srgbClr val="FFFFFF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14400" y="3017520"/>
            <a:ext cx="4572000" cy="4343400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8992" y="3017520"/>
            <a:ext cx="5732893" cy="4892434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43584" y="3017520"/>
            <a:ext cx="6117336" cy="6217920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08176" y="3017520"/>
            <a:ext cx="5403709" cy="7543405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72768" y="3017520"/>
            <a:ext cx="3913632" cy="8092440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37360" y="3017520"/>
            <a:ext cx="2423554" cy="7543405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01952" y="3017520"/>
            <a:ext cx="1709928" cy="6217920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66543" y="3017520"/>
            <a:ext cx="2094371" cy="4892434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" y="3017520"/>
            <a:ext cx="15544800" cy="4343400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78992" y="3017520"/>
            <a:ext cx="16705693" cy="4892434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43584" y="3017520"/>
            <a:ext cx="17090136" cy="6217920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08176" y="3017520"/>
            <a:ext cx="16376509" cy="7543405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72768" y="3017520"/>
            <a:ext cx="14886432" cy="8092440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37360" y="3017520"/>
            <a:ext cx="13396354" cy="7543405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01952" y="3017520"/>
            <a:ext cx="12682728" cy="6217920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66543" y="3017520"/>
            <a:ext cx="13067171" cy="4892434"/>
          </a:xfrm>
          <a:prstGeom prst="line">
            <a:avLst/>
          </a:prstGeom>
          <a:ln w="15544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547872" y="3017520"/>
            <a:ext cx="1938528" cy="4343400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12463" y="3017520"/>
            <a:ext cx="3099422" cy="4892434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877056" y="3017520"/>
            <a:ext cx="3483864" cy="6217920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041648" y="3017520"/>
            <a:ext cx="2770237" cy="7543405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06240" y="3017520"/>
            <a:ext cx="1280160" cy="8092440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160914" y="3017520"/>
            <a:ext cx="209918" cy="7543405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611880" y="3017520"/>
            <a:ext cx="923544" cy="6217920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4160914" y="3017520"/>
            <a:ext cx="539102" cy="4892434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547872" y="3017520"/>
            <a:ext cx="12911328" cy="4343400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12463" y="3017520"/>
            <a:ext cx="14072222" cy="4892434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77056" y="3017520"/>
            <a:ext cx="14456664" cy="6217920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041648" y="3017520"/>
            <a:ext cx="13743037" cy="7543405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206240" y="3017520"/>
            <a:ext cx="12252960" cy="8092440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370832" y="3017520"/>
            <a:ext cx="10762882" cy="7543405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535424" y="3017520"/>
            <a:ext cx="10049256" cy="6217920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00016" y="3017520"/>
            <a:ext cx="10433698" cy="4892434"/>
          </a:xfrm>
          <a:prstGeom prst="line">
            <a:avLst/>
          </a:prstGeom>
          <a:ln w="15544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5486400" y="3017520"/>
            <a:ext cx="694944" cy="4343400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345936" y="3017520"/>
            <a:ext cx="465949" cy="4892434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510528" y="3017520"/>
            <a:ext cx="850392" cy="6217920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675120" y="3017520"/>
            <a:ext cx="136765" cy="7543405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5486400" y="3017520"/>
            <a:ext cx="1353312" cy="8092440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4160914" y="3017520"/>
            <a:ext cx="2843390" cy="7543405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611880" y="3017520"/>
            <a:ext cx="3557016" cy="6217920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4160914" y="3017520"/>
            <a:ext cx="3172574" cy="4892434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181344" y="3017520"/>
            <a:ext cx="10277856" cy="4343400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45936" y="3017520"/>
            <a:ext cx="11438749" cy="4892434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510528" y="3017520"/>
            <a:ext cx="11823192" cy="6217920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675120" y="3017520"/>
            <a:ext cx="11109565" cy="7543405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839712" y="3017520"/>
            <a:ext cx="9619488" cy="8092440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004304" y="3017520"/>
            <a:ext cx="8129410" cy="7543405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168896" y="3017520"/>
            <a:ext cx="7415784" cy="6217920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33488" y="3017520"/>
            <a:ext cx="7800226" cy="4892434"/>
          </a:xfrm>
          <a:prstGeom prst="line">
            <a:avLst/>
          </a:prstGeom>
          <a:ln w="15544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5486400" y="3017520"/>
            <a:ext cx="3328416" cy="4343400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6811885" y="3017520"/>
            <a:ext cx="2167523" cy="4892434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7360920" y="3017520"/>
            <a:ext cx="1783080" cy="6217920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6811885" y="3017520"/>
            <a:ext cx="2496707" cy="7543405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5486400" y="3017520"/>
            <a:ext cx="3986784" cy="8092440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4160914" y="3017520"/>
            <a:ext cx="5476862" cy="7543405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3611880" y="3017520"/>
            <a:ext cx="6190488" cy="6217920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4160914" y="3017520"/>
            <a:ext cx="5806046" cy="4892434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814816" y="3017520"/>
            <a:ext cx="7644384" cy="4343400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979408" y="3017520"/>
            <a:ext cx="8805277" cy="4892434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144000" y="3017520"/>
            <a:ext cx="9189720" cy="6217920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308592" y="3017520"/>
            <a:ext cx="8476093" cy="7543405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473184" y="3017520"/>
            <a:ext cx="6986016" cy="8092440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637776" y="3017520"/>
            <a:ext cx="5495938" cy="7543405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802368" y="3017520"/>
            <a:ext cx="4782312" cy="6217920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966960" y="3017520"/>
            <a:ext cx="5166754" cy="4892434"/>
          </a:xfrm>
          <a:prstGeom prst="line">
            <a:avLst/>
          </a:prstGeom>
          <a:ln w="15544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5486400" y="3017520"/>
            <a:ext cx="5961888" cy="4343400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6811885" y="3017520"/>
            <a:ext cx="4800995" cy="4892434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7360920" y="3017520"/>
            <a:ext cx="4416552" cy="6217920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6811885" y="3017520"/>
            <a:ext cx="5130179" cy="7543405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5486400" y="3017520"/>
            <a:ext cx="6620256" cy="8092440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4160914" y="3017520"/>
            <a:ext cx="8110334" cy="7543405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3611880" y="3017520"/>
            <a:ext cx="8823960" cy="6217920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4160914" y="3017520"/>
            <a:ext cx="8439518" cy="4892434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448288" y="3017520"/>
            <a:ext cx="5010912" cy="4343400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612880" y="3017520"/>
            <a:ext cx="6171805" cy="4892434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777472" y="3017520"/>
            <a:ext cx="6556248" cy="6217920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942064" y="3017520"/>
            <a:ext cx="5842621" cy="7543405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2106656" y="3017520"/>
            <a:ext cx="4352544" cy="8092440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2271248" y="3017520"/>
            <a:ext cx="2862466" cy="7543405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2435840" y="3017520"/>
            <a:ext cx="2148840" cy="6217920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2600432" y="3017520"/>
            <a:ext cx="2533282" cy="4892434"/>
          </a:xfrm>
          <a:prstGeom prst="line">
            <a:avLst/>
          </a:prstGeom>
          <a:ln w="15544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5486400" y="3017520"/>
            <a:ext cx="8595360" cy="4343400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6811885" y="3017520"/>
            <a:ext cx="7434467" cy="4892434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7360920" y="3017520"/>
            <a:ext cx="7050024" cy="6217920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6811885" y="3017520"/>
            <a:ext cx="7763651" cy="7543405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5486400" y="3017520"/>
            <a:ext cx="9253728" cy="8092440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4160914" y="3017520"/>
            <a:ext cx="10743806" cy="7543405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3611880" y="3017520"/>
            <a:ext cx="11457432" cy="6217920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4160914" y="3017520"/>
            <a:ext cx="11072990" cy="4892434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4081760" y="3017520"/>
            <a:ext cx="2377440" cy="4343400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4246352" y="3017520"/>
            <a:ext cx="3538333" cy="4892434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4410944" y="3017520"/>
            <a:ext cx="3922776" cy="6217920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4575536" y="3017520"/>
            <a:ext cx="3209149" cy="7543405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4740128" y="3017520"/>
            <a:ext cx="1719072" cy="8092440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4904720" y="3017520"/>
            <a:ext cx="228994" cy="7543405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4584680" y="3017520"/>
            <a:ext cx="484632" cy="6217920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15133714" y="3017520"/>
            <a:ext cx="100190" cy="4892434"/>
          </a:xfrm>
          <a:prstGeom prst="line">
            <a:avLst/>
          </a:prstGeom>
          <a:ln w="15544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5486400" y="3017520"/>
            <a:ext cx="11228832" cy="4343400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6811885" y="3017520"/>
            <a:ext cx="10067939" cy="4892434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7360920" y="3017520"/>
            <a:ext cx="9683496" cy="6217920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6811885" y="3017520"/>
            <a:ext cx="10397123" cy="7543405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5486400" y="3017520"/>
            <a:ext cx="11887200" cy="8092440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4160914" y="3017520"/>
            <a:ext cx="13377278" cy="7543405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3611880" y="3017520"/>
            <a:ext cx="14090904" cy="6217920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4160914" y="3017520"/>
            <a:ext cx="13706462" cy="4892434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16459200" y="3017520"/>
            <a:ext cx="256032" cy="4343400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6879824" y="3017520"/>
            <a:ext cx="904861" cy="4892434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7044416" y="3017520"/>
            <a:ext cx="1289304" cy="6217920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7209008" y="3017520"/>
            <a:ext cx="575677" cy="7543405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16459200" y="3017520"/>
            <a:ext cx="914400" cy="8092440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15133714" y="3017520"/>
            <a:ext cx="2404478" cy="7543405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14584680" y="3017520"/>
            <a:ext cx="3118104" cy="6217920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15133714" y="3017520"/>
            <a:ext cx="2733662" cy="4892434"/>
          </a:xfrm>
          <a:prstGeom prst="line">
            <a:avLst/>
          </a:prstGeom>
          <a:ln w="15544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5486400" y="3017520"/>
            <a:ext cx="13862304" cy="4343400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6811885" y="3017520"/>
            <a:ext cx="12701411" cy="4892434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7360920" y="3017520"/>
            <a:ext cx="12316968" cy="6217920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6811885" y="3017520"/>
            <a:ext cx="13030595" cy="7543405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5486400" y="3017520"/>
            <a:ext cx="14520672" cy="8092440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4160914" y="3017520"/>
            <a:ext cx="16010750" cy="7543405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3611880" y="3017520"/>
            <a:ext cx="16724376" cy="6217920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4160914" y="3017520"/>
            <a:ext cx="16339934" cy="4892434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6459200" y="3017520"/>
            <a:ext cx="2889504" cy="4343400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7784685" y="3017520"/>
            <a:ext cx="1728611" cy="4892434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8333720" y="3017520"/>
            <a:ext cx="1344168" cy="6217920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7784685" y="3017520"/>
            <a:ext cx="2057795" cy="7543405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6459200" y="3017520"/>
            <a:ext cx="3547872" cy="8092440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5133714" y="3017520"/>
            <a:ext cx="5037950" cy="7543405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4584680" y="3017520"/>
            <a:ext cx="5751576" cy="6217920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5133714" y="3017520"/>
            <a:ext cx="5367134" cy="4892434"/>
          </a:xfrm>
          <a:prstGeom prst="line">
            <a:avLst/>
          </a:prstGeom>
          <a:ln w="15544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5486400" y="7360920"/>
            <a:ext cx="1325485" cy="549034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486400" y="7360920"/>
            <a:ext cx="1874520" cy="187452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5486400" y="7360920"/>
            <a:ext cx="1325485" cy="320000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5486400" y="7360920"/>
            <a:ext cx="0" cy="374904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4160914" y="7360920"/>
            <a:ext cx="1325486" cy="320000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3611880" y="7360920"/>
            <a:ext cx="1874520" cy="187452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4160914" y="7360920"/>
            <a:ext cx="1325486" cy="549034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6811885" y="7909954"/>
            <a:ext cx="549035" cy="1325486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6811885" y="7909954"/>
            <a:ext cx="0" cy="2650971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5486400" y="7909954"/>
            <a:ext cx="1325485" cy="3200006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4160914" y="7909954"/>
            <a:ext cx="2650971" cy="2650971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3611880" y="7909954"/>
            <a:ext cx="3200005" cy="1325486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>
            <a:off x="4160914" y="7909954"/>
            <a:ext cx="2650971" cy="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>
            <a:off x="6811885" y="9235440"/>
            <a:ext cx="549035" cy="132548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5486400" y="9235440"/>
            <a:ext cx="1874520" cy="187452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4160914" y="9235440"/>
            <a:ext cx="3200006" cy="132548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>
            <a:off x="3611880" y="9235440"/>
            <a:ext cx="3749040" cy="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 flipV="1">
            <a:off x="4160914" y="7909954"/>
            <a:ext cx="3200006" cy="1325486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>
            <a:off x="5486400" y="10560925"/>
            <a:ext cx="1325485" cy="54903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4160914" y="10560925"/>
            <a:ext cx="2650971" cy="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 flipV="1">
            <a:off x="3611880" y="9235440"/>
            <a:ext cx="3200005" cy="132548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 flipV="1">
            <a:off x="4160914" y="7909954"/>
            <a:ext cx="2650971" cy="2650971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 flipV="1">
            <a:off x="4160914" y="10560925"/>
            <a:ext cx="1325486" cy="54903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 flipV="1">
            <a:off x="3611880" y="9235440"/>
            <a:ext cx="1874520" cy="187452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 flipV="1">
            <a:off x="4160914" y="7909954"/>
            <a:ext cx="1325486" cy="3200006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 flipV="1">
            <a:off x="3611880" y="9235440"/>
            <a:ext cx="549034" cy="132548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160914" y="7909954"/>
            <a:ext cx="0" cy="2650971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3611880" y="7909954"/>
            <a:ext cx="549034" cy="1325486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6459200" y="7360920"/>
            <a:ext cx="1325485" cy="549034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6459200" y="7360920"/>
            <a:ext cx="1874520" cy="187452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6459200" y="7360920"/>
            <a:ext cx="1325485" cy="320000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6459200" y="7360920"/>
            <a:ext cx="0" cy="374904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>
            <a:off x="15133714" y="7360920"/>
            <a:ext cx="1325486" cy="320000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H="1">
            <a:off x="14584680" y="7360920"/>
            <a:ext cx="1874520" cy="187452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H="1">
            <a:off x="15133714" y="7360920"/>
            <a:ext cx="1325486" cy="549034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7784685" y="7909954"/>
            <a:ext cx="549035" cy="1325486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7784685" y="7909954"/>
            <a:ext cx="0" cy="2650971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16459200" y="7909954"/>
            <a:ext cx="1325485" cy="3200006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15133714" y="7909954"/>
            <a:ext cx="2650971" cy="2650971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14584680" y="7909954"/>
            <a:ext cx="3200005" cy="1325486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15133714" y="7909954"/>
            <a:ext cx="2650971" cy="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17784685" y="9235440"/>
            <a:ext cx="549035" cy="132548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>
            <a:off x="16459200" y="9235440"/>
            <a:ext cx="1874520" cy="187452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15133714" y="9235440"/>
            <a:ext cx="3200006" cy="132548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14584680" y="9235440"/>
            <a:ext cx="3749040" cy="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 flipV="1">
            <a:off x="15133714" y="7909954"/>
            <a:ext cx="3200006" cy="1325486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16459200" y="10560925"/>
            <a:ext cx="1325485" cy="54903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15133714" y="10560925"/>
            <a:ext cx="2650971" cy="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 flipV="1">
            <a:off x="14584680" y="9235440"/>
            <a:ext cx="3200005" cy="132548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 flipV="1">
            <a:off x="15133714" y="7909954"/>
            <a:ext cx="2650971" cy="2650971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 flipV="1">
            <a:off x="15133714" y="10560925"/>
            <a:ext cx="1325486" cy="54903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 flipV="1">
            <a:off x="14584680" y="9235440"/>
            <a:ext cx="1874520" cy="1874520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 flipV="1">
            <a:off x="15133714" y="7909954"/>
            <a:ext cx="1325486" cy="3200006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 flipV="1">
            <a:off x="14584680" y="9235440"/>
            <a:ext cx="549034" cy="1325485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5133714" y="7909954"/>
            <a:ext cx="0" cy="2650971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4584680" y="7909954"/>
            <a:ext cx="549034" cy="1325486"/>
          </a:xfrm>
          <a:prstGeom prst="line">
            <a:avLst/>
          </a:prstGeom>
          <a:ln w="18288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 189"/>
          <p:cNvSpPr/>
          <p:nvPr/>
        </p:nvSpPr>
        <p:spPr>
          <a:xfrm>
            <a:off x="640080" y="2148840"/>
            <a:ext cx="210312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-8366760" y="225856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-8366760" y="252145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L1-C0-S0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3273552" y="2148840"/>
            <a:ext cx="210312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-5733288" y="225856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-5733288" y="252145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L1-C0-S1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907024" y="2148840"/>
            <a:ext cx="210312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-3099816" y="225856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-3099816" y="252145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L1-C0-S2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540496" y="2148840"/>
            <a:ext cx="210312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-466344" y="225856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-466344" y="252145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L1-C0-S3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1173968" y="2148840"/>
            <a:ext cx="210312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A77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2167128" y="225856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167128" y="252145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L1-C0-S4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3807440" y="2148840"/>
            <a:ext cx="210312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32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800600" y="225856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800600" y="252145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L1-C0-S5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6440912" y="2148840"/>
            <a:ext cx="210312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C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434072" y="225856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434072" y="252145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L1-C0-S6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9074384" y="2148840"/>
            <a:ext cx="210312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667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067544" y="225856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0067544" y="2521458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L1-C0-S7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5029200" y="7095744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-4572000" y="713232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0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-4572000" y="733806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r0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354685" y="7644778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-3246514" y="7681354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1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-3246514" y="7887094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r1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903720" y="8970264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-2697480" y="900684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2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-2697480" y="921258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r2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354685" y="10295749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-3246514" y="10332325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3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-3246514" y="10538065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r3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5029200" y="10844784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-4572000" y="1088136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4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-4572000" y="1108710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r4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703714" y="10295749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-5897485" y="10332325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5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-5897485" y="10538065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r5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3154680" y="8970264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-6446520" y="900684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-6446520" y="921258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r6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703714" y="7644778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-5897485" y="7681354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7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-5897485" y="7887094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r7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-4572000" y="11338560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202020"/>
                </a:solidFill>
                <a:latin typeface="DejaVu Sans"/>
              </a:rPr>
              <a:t>Node 0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6002000" y="7095744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400800" y="713232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6400800" y="733806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r56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7327485" y="7644778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26285" y="7681354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1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726285" y="7887094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r57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7876520" y="8970264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8275320" y="900684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2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275320" y="921258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r58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7327485" y="10295749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7726285" y="10332325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3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7726285" y="10538065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r59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6002000" y="10844784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6400800" y="1088136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4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6400800" y="1108710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r60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4676514" y="10295749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5075314" y="10332325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5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5075314" y="10538065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r61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4127480" y="8970264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4526280" y="900684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6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526280" y="9212580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r62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14676514" y="7644778"/>
            <a:ext cx="914400" cy="530352"/>
          </a:xfrm>
          <a:prstGeom prst="rect">
            <a:avLst/>
          </a:prstGeom>
          <a:solidFill>
            <a:srgbClr val="E7EFFB"/>
          </a:solidFill>
          <a:ln w="13716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5075314" y="7681354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NPU 7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5075314" y="7887094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r63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6400800" y="11338560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202020"/>
                </a:solidFill>
                <a:latin typeface="DejaVu Sans"/>
              </a:rPr>
              <a:t>Node 7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0241280" y="4434840"/>
            <a:ext cx="1463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914400" y="4480560"/>
            <a:ext cx="2011680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92">
                <a:solidFill>
                  <a:srgbClr val="202020"/>
                </a:solidFill>
                <a:latin typeface="DejaVu Sans"/>
              </a:rPr>
              <a:t>Clos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14400" y="12252960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Per cabinet: 64 x 8 = 512 NPU-L1 links. Each L1 has 64 NPU-facing links and 4 L2-facing links.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1396960" cy="521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36">
                <a:solidFill>
                  <a:srgbClr val="202020"/>
                </a:solidFill>
                <a:latin typeface="DejaVu Sans"/>
              </a:rPr>
              <a:t>Upper Clos: all 16 L1 switches connect to all 4 L2 switches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2139696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  <a:latin typeface="DejaVu Sans"/>
              </a:rPr>
              <a:t>Each cabinet has 8 L1 switches. One link per L1-L2 pair gives 16 x 4 = 64 links.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0"/>
            <a:ext cx="9966960" cy="2743200"/>
          </a:xfrm>
          <a:prstGeom prst="rect">
            <a:avLst/>
          </a:prstGeom>
          <a:solidFill>
            <a:srgbClr val="FFFFFF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38560" y="7315200"/>
            <a:ext cx="9966960" cy="2743200"/>
          </a:xfrm>
          <a:prstGeom prst="rect">
            <a:avLst/>
          </a:prstGeom>
          <a:solidFill>
            <a:srgbClr val="FFFFFF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868680" y="3108960"/>
            <a:ext cx="4617720" cy="521208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106424" y="3108960"/>
            <a:ext cx="7397496" cy="521208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344168" y="3108960"/>
            <a:ext cx="10177272" cy="521208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581912" y="3108960"/>
            <a:ext cx="12957048" cy="521208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075688" y="3108960"/>
            <a:ext cx="3502152" cy="521208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313432" y="3108960"/>
            <a:ext cx="6281928" cy="521208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551176" y="3108960"/>
            <a:ext cx="9061704" cy="521208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788920" y="3108960"/>
            <a:ext cx="11841480" cy="521208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282696" y="3108960"/>
            <a:ext cx="2386584" cy="521208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520440" y="3108960"/>
            <a:ext cx="5166360" cy="521208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758184" y="3108960"/>
            <a:ext cx="7946136" cy="521208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995928" y="3108960"/>
            <a:ext cx="10725912" cy="521208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489704" y="3108960"/>
            <a:ext cx="1271016" cy="521208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727448" y="3108960"/>
            <a:ext cx="4050792" cy="521208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965192" y="3108960"/>
            <a:ext cx="6830568" cy="521208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202936" y="3108960"/>
            <a:ext cx="9610344" cy="521208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696712" y="3108960"/>
            <a:ext cx="155448" cy="5212080"/>
          </a:xfrm>
          <a:prstGeom prst="line">
            <a:avLst/>
          </a:prstGeom>
          <a:ln w="18288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934456" y="3108960"/>
            <a:ext cx="2935224" cy="5212080"/>
          </a:xfrm>
          <a:prstGeom prst="line">
            <a:avLst/>
          </a:prstGeom>
          <a:ln w="18288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172200" y="3108960"/>
            <a:ext cx="5715000" cy="5212080"/>
          </a:xfrm>
          <a:prstGeom prst="line">
            <a:avLst/>
          </a:prstGeom>
          <a:ln w="18288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409944" y="3108960"/>
            <a:ext cx="8494776" cy="5212080"/>
          </a:xfrm>
          <a:prstGeom prst="line">
            <a:avLst/>
          </a:prstGeom>
          <a:ln w="18288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943600" y="3108960"/>
            <a:ext cx="960120" cy="5212080"/>
          </a:xfrm>
          <a:prstGeom prst="line">
            <a:avLst/>
          </a:prstGeom>
          <a:ln w="18288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41464" y="3108960"/>
            <a:ext cx="1819656" cy="5212080"/>
          </a:xfrm>
          <a:prstGeom prst="line">
            <a:avLst/>
          </a:prstGeom>
          <a:ln w="18288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379208" y="3108960"/>
            <a:ext cx="4599432" cy="5212080"/>
          </a:xfrm>
          <a:prstGeom prst="line">
            <a:avLst/>
          </a:prstGeom>
          <a:ln w="18288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616952" y="3108960"/>
            <a:ext cx="7379207" cy="5212080"/>
          </a:xfrm>
          <a:prstGeom prst="line">
            <a:avLst/>
          </a:prstGeom>
          <a:ln w="18288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6035040" y="3108960"/>
            <a:ext cx="2075687" cy="5212080"/>
          </a:xfrm>
          <a:prstGeom prst="line">
            <a:avLst/>
          </a:prstGeom>
          <a:ln w="18288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348472" y="3108960"/>
            <a:ext cx="704088" cy="5212080"/>
          </a:xfrm>
          <a:prstGeom prst="line">
            <a:avLst/>
          </a:prstGeom>
          <a:ln w="18288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86216" y="3108960"/>
            <a:ext cx="3483864" cy="5212080"/>
          </a:xfrm>
          <a:prstGeom prst="line">
            <a:avLst/>
          </a:prstGeom>
          <a:ln w="18288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823960" y="3108960"/>
            <a:ext cx="6263640" cy="5212080"/>
          </a:xfrm>
          <a:prstGeom prst="line">
            <a:avLst/>
          </a:prstGeom>
          <a:ln w="18288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6126480" y="3108960"/>
            <a:ext cx="3191256" cy="5212080"/>
          </a:xfrm>
          <a:prstGeom prst="line">
            <a:avLst/>
          </a:prstGeom>
          <a:ln w="18288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9144000" y="3108960"/>
            <a:ext cx="411480" cy="5212080"/>
          </a:xfrm>
          <a:prstGeom prst="line">
            <a:avLst/>
          </a:prstGeom>
          <a:ln w="18288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793224" y="3108960"/>
            <a:ext cx="2368296" cy="5212080"/>
          </a:xfrm>
          <a:prstGeom prst="line">
            <a:avLst/>
          </a:prstGeom>
          <a:ln w="18288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030968" y="3108960"/>
            <a:ext cx="5148072" cy="5212080"/>
          </a:xfrm>
          <a:prstGeom prst="line">
            <a:avLst/>
          </a:prstGeom>
          <a:ln w="18288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6446520" y="3108960"/>
            <a:ext cx="5212080" cy="521208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9464040" y="3108960"/>
            <a:ext cx="2432304" cy="521208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2134088" y="3108960"/>
            <a:ext cx="347472" cy="521208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2371832" y="3108960"/>
            <a:ext cx="3127248" cy="521208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6537960" y="3108960"/>
            <a:ext cx="6327648" cy="521208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9555480" y="3108960"/>
            <a:ext cx="3547872" cy="521208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12573000" y="3108960"/>
            <a:ext cx="768096" cy="521208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3578840" y="3108960"/>
            <a:ext cx="2011680" cy="521208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6629400" y="3108960"/>
            <a:ext cx="7443216" cy="521208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9646920" y="3108960"/>
            <a:ext cx="4663440" cy="521208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12664440" y="3108960"/>
            <a:ext cx="1883664" cy="521208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4785848" y="3108960"/>
            <a:ext cx="896111" cy="521208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6720840" y="3108960"/>
            <a:ext cx="8558784" cy="521208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9738360" y="3108960"/>
            <a:ext cx="5779007" cy="521208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12755880" y="3108960"/>
            <a:ext cx="2999232" cy="521208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15773400" y="3108960"/>
            <a:ext cx="219455" cy="521208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812280" y="3108960"/>
            <a:ext cx="9674352" cy="5212080"/>
          </a:xfrm>
          <a:prstGeom prst="line">
            <a:avLst/>
          </a:prstGeom>
          <a:ln w="18288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9829800" y="3108960"/>
            <a:ext cx="6894576" cy="5212080"/>
          </a:xfrm>
          <a:prstGeom prst="line">
            <a:avLst/>
          </a:prstGeom>
          <a:ln w="18288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12847320" y="3108960"/>
            <a:ext cx="4114800" cy="5212080"/>
          </a:xfrm>
          <a:prstGeom prst="line">
            <a:avLst/>
          </a:prstGeom>
          <a:ln w="18288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15864840" y="3108960"/>
            <a:ext cx="1335024" cy="5212080"/>
          </a:xfrm>
          <a:prstGeom prst="line">
            <a:avLst/>
          </a:prstGeom>
          <a:ln w="18288">
            <a:solidFill>
              <a:srgbClr val="A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6903720" y="3108960"/>
            <a:ext cx="10789920" cy="5212080"/>
          </a:xfrm>
          <a:prstGeom prst="line">
            <a:avLst/>
          </a:prstGeom>
          <a:ln w="18288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9921240" y="3108960"/>
            <a:ext cx="8010144" cy="5212080"/>
          </a:xfrm>
          <a:prstGeom prst="line">
            <a:avLst/>
          </a:prstGeom>
          <a:ln w="18288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12938760" y="3108960"/>
            <a:ext cx="5230368" cy="5212080"/>
          </a:xfrm>
          <a:prstGeom prst="line">
            <a:avLst/>
          </a:prstGeom>
          <a:ln w="18288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15956280" y="3108960"/>
            <a:ext cx="2450592" cy="5212080"/>
          </a:xfrm>
          <a:prstGeom prst="line">
            <a:avLst/>
          </a:prstGeom>
          <a:ln w="18288">
            <a:solidFill>
              <a:srgbClr val="329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6995160" y="3108960"/>
            <a:ext cx="11905488" cy="5212080"/>
          </a:xfrm>
          <a:prstGeom prst="line">
            <a:avLst/>
          </a:prstGeom>
          <a:ln w="18288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0012680" y="3108960"/>
            <a:ext cx="9125712" cy="5212080"/>
          </a:xfrm>
          <a:prstGeom prst="line">
            <a:avLst/>
          </a:prstGeom>
          <a:ln w="18288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3030200" y="3108960"/>
            <a:ext cx="6345936" cy="5212080"/>
          </a:xfrm>
          <a:prstGeom prst="line">
            <a:avLst/>
          </a:prstGeom>
          <a:ln w="18288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6047720" y="3108960"/>
            <a:ext cx="3566160" cy="5212080"/>
          </a:xfrm>
          <a:prstGeom prst="line">
            <a:avLst/>
          </a:prstGeom>
          <a:ln w="18288">
            <a:solidFill>
              <a:srgbClr val="CF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7086600" y="3108960"/>
            <a:ext cx="13021056" cy="5212080"/>
          </a:xfrm>
          <a:prstGeom prst="line">
            <a:avLst/>
          </a:prstGeom>
          <a:ln w="18288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0104120" y="3108960"/>
            <a:ext cx="10241280" cy="5212080"/>
          </a:xfrm>
          <a:prstGeom prst="line">
            <a:avLst/>
          </a:prstGeom>
          <a:ln w="18288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3121640" y="3108960"/>
            <a:ext cx="7461504" cy="5212080"/>
          </a:xfrm>
          <a:prstGeom prst="line">
            <a:avLst/>
          </a:prstGeom>
          <a:ln w="18288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6139159" y="3108960"/>
            <a:ext cx="4681729" cy="5212080"/>
          </a:xfrm>
          <a:prstGeom prst="line">
            <a:avLst/>
          </a:prstGeom>
          <a:ln w="18288">
            <a:solidFill>
              <a:srgbClr val="667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5212080" y="2194560"/>
            <a:ext cx="2377440" cy="914400"/>
          </a:xfrm>
          <a:prstGeom prst="rect">
            <a:avLst/>
          </a:prstGeom>
          <a:solidFill>
            <a:srgbClr val="B5DC86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-3657600" y="2304288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-3657600" y="2601468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L2-P0-S0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0" y="2194560"/>
            <a:ext cx="2377440" cy="914400"/>
          </a:xfrm>
          <a:prstGeom prst="rect">
            <a:avLst/>
          </a:prstGeom>
          <a:solidFill>
            <a:srgbClr val="B5DC86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-640080" y="2304288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-640080" y="2601468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L2-P0-S1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247120" y="2194560"/>
            <a:ext cx="2377440" cy="914400"/>
          </a:xfrm>
          <a:prstGeom prst="rect">
            <a:avLst/>
          </a:prstGeom>
          <a:solidFill>
            <a:srgbClr val="B5DC86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77440" y="2304288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77440" y="2601468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L2-P0-S2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264640" y="2194560"/>
            <a:ext cx="2377440" cy="914400"/>
          </a:xfrm>
          <a:prstGeom prst="rect">
            <a:avLst/>
          </a:prstGeom>
          <a:solidFill>
            <a:srgbClr val="B5DC86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0" y="2304288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94960" y="2601468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L2-P0-S3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-8823960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-8823960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92807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-7616952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-7616952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99816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-6409944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-6409944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06824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-5202936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202936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13832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A77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-3995928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-3995928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20840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32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-2788920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-2788920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927848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C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-1581912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-1581912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34856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667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-374904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-374904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L1-C0-S7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-4572000" y="9464040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Cabinet 0: 8 L1 switches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475720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965960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965960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2682728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172968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172968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3889736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379976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379976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5096744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586984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586984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6303751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A77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793992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793992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7510760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329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001000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01000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8717768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C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208008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208008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L1-C1-S6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9924776" y="8321040"/>
            <a:ext cx="1097280" cy="868680"/>
          </a:xfrm>
          <a:prstGeom prst="rect">
            <a:avLst/>
          </a:prstGeom>
          <a:solidFill>
            <a:srgbClr val="B5DC86"/>
          </a:solidFill>
          <a:ln w="18288">
            <a:solidFill>
              <a:srgbClr val="667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415016" y="843076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UB Switch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415016" y="8613648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L1-C1-S7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9464040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Cabinet 1: 8 L1 switches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241280" y="4983480"/>
            <a:ext cx="1463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14400" y="5029200"/>
            <a:ext cx="2011680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92">
                <a:solidFill>
                  <a:srgbClr val="202020"/>
                </a:solidFill>
                <a:latin typeface="DejaVu Sans"/>
              </a:rPr>
              <a:t>Clos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10881360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No direct L1-L1 or L2-L2 links are defined.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14400" y="11384280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Cross-cabinet path: NPU - local L1 - any L2 - remote L1 - NPU.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14400" y="11887200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Each L2 has 16 populated L1-facing links. Link bandwidths have not been assigned.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